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total effort</c:v>
                </c:pt>
              </c:strCache>
            </c:strRef>
          </c:tx>
          <c:spPr>
            <a:solidFill>
              <a:srgbClr val="2D63DA"/>
            </a:solidFill>
          </c:spPr>
          <c:cat>
            <c:strRef>
              <c:f>Sheet1!$A$2:$A$3</c:f>
              <c:strCache>
                <c:ptCount val="2"/>
                <c:pt idx="0">
                  <c:v>Copy and rewire</c:v>
                </c:pt>
                <c:pt idx="1">
                  <c:v>Shared workflow
+ replaceable logic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62</c:v>
                </c:pt>
                <c:pt idx="1">
                  <c:v>15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8368"/>
            <a:ext cx="512064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2D63DA"/>
                </a:solidFill>
                <a:latin typeface="Arial"/>
              </a:defRPr>
            </a:pPr>
            <a:r>
              <a:t>FROM RESEARCH IDEAS TO RELIABLE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78992"/>
            <a:ext cx="6537960" cy="1371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0" i="0">
                <a:solidFill>
                  <a:srgbClr val="2D63DA"/>
                </a:solidFill>
                <a:latin typeface="Arial"/>
              </a:defRPr>
            </a:pPr>
            <a:r>
              <a:t>Designing Quant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3400" b="0" i="0">
                <a:solidFill>
                  <a:srgbClr val="2D63DA"/>
                </a:solidFill>
                <a:latin typeface="Arial"/>
              </a:defRPr>
            </a:pPr>
            <a:r>
              <a:t>Systems for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2532888"/>
            <a:ext cx="5577840" cy="7498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6F757C"/>
                </a:solidFill>
                <a:latin typeface="Arial"/>
              </a:defRPr>
            </a:pPr>
            <a:r>
              <a:t>Flexible business workflows. Clear, dependable business concepts. Faster, risk-controlled experimentation.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26679" y="1298448"/>
            <a:ext cx="1005841" cy="987552"/>
          </a:xfrm>
          <a:prstGeom prst="line">
            <a:avLst/>
          </a:prstGeom>
          <a:ln w="15240">
            <a:solidFill>
              <a:srgbClr val="AAD9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732520" y="2286000"/>
            <a:ext cx="1005840" cy="0"/>
          </a:xfrm>
          <a:prstGeom prst="line">
            <a:avLst/>
          </a:prstGeom>
          <a:ln w="15240">
            <a:solidFill>
              <a:srgbClr val="AAD9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9738360" y="1298448"/>
            <a:ext cx="1005840" cy="987552"/>
          </a:xfrm>
          <a:prstGeom prst="line">
            <a:avLst/>
          </a:prstGeom>
          <a:ln w="15240">
            <a:solidFill>
              <a:srgbClr val="AAD9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732520" y="2286000"/>
            <a:ext cx="0" cy="1371600"/>
          </a:xfrm>
          <a:prstGeom prst="line">
            <a:avLst/>
          </a:prstGeom>
          <a:ln w="15240">
            <a:solidFill>
              <a:srgbClr val="AAD9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738360" y="2286000"/>
            <a:ext cx="0" cy="1371600"/>
          </a:xfrm>
          <a:prstGeom prst="line">
            <a:avLst/>
          </a:prstGeom>
          <a:ln w="15240">
            <a:solidFill>
              <a:srgbClr val="AAD9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732520" y="3657600"/>
            <a:ext cx="1005840" cy="0"/>
          </a:xfrm>
          <a:prstGeom prst="line">
            <a:avLst/>
          </a:prstGeom>
          <a:ln w="15240">
            <a:solidFill>
              <a:srgbClr val="AAD9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738360" y="3154680"/>
            <a:ext cx="1005840" cy="502920"/>
          </a:xfrm>
          <a:prstGeom prst="line">
            <a:avLst/>
          </a:prstGeom>
          <a:ln w="15240">
            <a:solidFill>
              <a:srgbClr val="AAD9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653527" y="1225295"/>
            <a:ext cx="146304" cy="146304"/>
          </a:xfrm>
          <a:prstGeom prst="ellipse">
            <a:avLst/>
          </a:prstGeom>
          <a:solidFill>
            <a:srgbClr val="6FB7EC"/>
          </a:solidFill>
          <a:ln w="13970">
            <a:solidFill>
              <a:srgbClr val="122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59368" y="2212848"/>
            <a:ext cx="146304" cy="146304"/>
          </a:xfrm>
          <a:prstGeom prst="ellipse">
            <a:avLst/>
          </a:prstGeom>
          <a:solidFill>
            <a:srgbClr val="6FB7EC"/>
          </a:solidFill>
          <a:ln w="13970">
            <a:solidFill>
              <a:srgbClr val="122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65208" y="2212848"/>
            <a:ext cx="146304" cy="146304"/>
          </a:xfrm>
          <a:prstGeom prst="ellipse">
            <a:avLst/>
          </a:prstGeom>
          <a:solidFill>
            <a:srgbClr val="6FB7EC"/>
          </a:solidFill>
          <a:ln w="13970">
            <a:solidFill>
              <a:srgbClr val="122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671048" y="1225295"/>
            <a:ext cx="146304" cy="146304"/>
          </a:xfrm>
          <a:prstGeom prst="ellipse">
            <a:avLst/>
          </a:prstGeom>
          <a:solidFill>
            <a:srgbClr val="6FB7EC"/>
          </a:solidFill>
          <a:ln w="13970">
            <a:solidFill>
              <a:srgbClr val="122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59368" y="3584448"/>
            <a:ext cx="146304" cy="146304"/>
          </a:xfrm>
          <a:prstGeom prst="ellipse">
            <a:avLst/>
          </a:prstGeom>
          <a:solidFill>
            <a:srgbClr val="6FB7EC"/>
          </a:solidFill>
          <a:ln w="13970">
            <a:solidFill>
              <a:srgbClr val="122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65208" y="3584448"/>
            <a:ext cx="146304" cy="146304"/>
          </a:xfrm>
          <a:prstGeom prst="ellipse">
            <a:avLst/>
          </a:prstGeom>
          <a:solidFill>
            <a:srgbClr val="6FB7EC"/>
          </a:solidFill>
          <a:ln w="13970">
            <a:solidFill>
              <a:srgbClr val="122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71048" y="3081528"/>
            <a:ext cx="146304" cy="146304"/>
          </a:xfrm>
          <a:prstGeom prst="ellipse">
            <a:avLst/>
          </a:prstGeom>
          <a:solidFill>
            <a:srgbClr val="6FB7EC"/>
          </a:solidFill>
          <a:ln w="13970">
            <a:solidFill>
              <a:srgbClr val="122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4297680"/>
            <a:ext cx="566928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0" i="0">
                <a:solidFill>
                  <a:srgbClr val="252A30"/>
                </a:solidFill>
                <a:latin typeface="Arial"/>
              </a:defRPr>
            </a:pPr>
            <a:r>
              <a:t>In trading, we cannot know which ideas will work next. The ability to try, learn and adapt is part of our competitive edge.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" y="6537960"/>
            <a:ext cx="530352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9" b="1" i="0">
                <a:solidFill>
                  <a:srgbClr val="6F757C"/>
                </a:solidFill>
                <a:latin typeface="Arial"/>
              </a:defRPr>
            </a:pPr>
            <a:r>
              <a:t>RESEARCH AGILITY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84280" y="6537960"/>
            <a:ext cx="41148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6F757C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164592"/>
            <a:ext cx="905256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122D5B"/>
                </a:solidFill>
                <a:latin typeface="Arial"/>
              </a:defRPr>
            </a:pPr>
            <a:r>
              <a:t>01 / RESEARCH AGILITY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27080" y="164592"/>
            <a:ext cx="86868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6F757C"/>
                </a:solidFill>
                <a:latin typeface="Arial"/>
              </a:defRPr>
            </a:pPr>
            <a:r>
              <a:t>2 /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512064"/>
            <a:ext cx="11201400" cy="6217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50" b="0" i="0">
                <a:solidFill>
                  <a:srgbClr val="2D63DA"/>
                </a:solidFill>
                <a:latin typeface="Arial"/>
              </a:defRPr>
            </a:pPr>
            <a:r>
              <a:t>Research agility is a competitive capability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" y="1243584"/>
            <a:ext cx="11475720" cy="16459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2624328" y="2386584"/>
            <a:ext cx="621792" cy="0"/>
          </a:xfrm>
          <a:prstGeom prst="line">
            <a:avLst/>
          </a:prstGeom>
          <a:ln w="20320">
            <a:solidFill>
              <a:srgbClr val="447EE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58968" y="2386584"/>
            <a:ext cx="621792" cy="0"/>
          </a:xfrm>
          <a:prstGeom prst="line">
            <a:avLst/>
          </a:prstGeom>
          <a:ln w="20320">
            <a:solidFill>
              <a:srgbClr val="447EE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293608" y="2386584"/>
            <a:ext cx="621792" cy="0"/>
          </a:xfrm>
          <a:prstGeom prst="line">
            <a:avLst/>
          </a:prstGeom>
          <a:ln w="20320">
            <a:solidFill>
              <a:srgbClr val="447EE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11480" y="1856232"/>
            <a:ext cx="2212848" cy="1097280"/>
          </a:xfrm>
          <a:prstGeom prst="rect">
            <a:avLst/>
          </a:prstGeom>
          <a:solidFill>
            <a:srgbClr val="EFF6FC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l">
              <a:spcBef>
                <a:spcPts val="0"/>
              </a:spcBef>
              <a:spcAft>
                <a:spcPts val="500"/>
              </a:spcAft>
              <a:defRPr sz="1400" b="1">
                <a:solidFill>
                  <a:srgbClr val="122D5B"/>
                </a:solidFill>
                <a:latin typeface="Arial"/>
              </a:defRPr>
            </a:pPr>
            <a:r>
              <a:rPr sz="1350" b="1">
                <a:solidFill>
                  <a:srgbClr val="091F4E"/>
                </a:solidFill>
                <a:latin typeface="Arial"/>
              </a:rPr>
              <a:t>Research hypothesis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233045"/>
                </a:solidFill>
                <a:latin typeface="Arial"/>
              </a:rPr>
              <a:t>Predictor, filter, rule or new market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856232"/>
            <a:ext cx="2212848" cy="1097280"/>
          </a:xfrm>
          <a:prstGeom prst="rect">
            <a:avLst/>
          </a:prstGeom>
          <a:solidFill>
            <a:srgbClr val="EFF6FC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l">
              <a:spcBef>
                <a:spcPts val="0"/>
              </a:spcBef>
              <a:spcAft>
                <a:spcPts val="500"/>
              </a:spcAft>
              <a:defRPr sz="1400" b="1">
                <a:solidFill>
                  <a:srgbClr val="122D5B"/>
                </a:solidFill>
                <a:latin typeface="Arial"/>
              </a:defRPr>
            </a:pPr>
            <a:r>
              <a:rPr sz="1350" b="1">
                <a:solidFill>
                  <a:srgbClr val="091F4E"/>
                </a:solidFill>
                <a:latin typeface="Arial"/>
              </a:rPr>
              <a:t>Implement &amp; simulate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233045"/>
                </a:solidFill>
                <a:latin typeface="Arial"/>
              </a:rPr>
              <a:t>Reproduce intended event behaviour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856232"/>
            <a:ext cx="2212848" cy="1097280"/>
          </a:xfrm>
          <a:prstGeom prst="rect">
            <a:avLst/>
          </a:prstGeom>
          <a:solidFill>
            <a:srgbClr val="EFF6FC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l">
              <a:spcBef>
                <a:spcPts val="0"/>
              </a:spcBef>
              <a:spcAft>
                <a:spcPts val="500"/>
              </a:spcAft>
              <a:defRPr sz="1400" b="1">
                <a:solidFill>
                  <a:srgbClr val="122D5B"/>
                </a:solidFill>
                <a:latin typeface="Arial"/>
              </a:defRPr>
            </a:pPr>
            <a:r>
              <a:rPr sz="1350" b="1">
                <a:solidFill>
                  <a:srgbClr val="091F4E"/>
                </a:solidFill>
                <a:latin typeface="Arial"/>
              </a:rPr>
              <a:t>Evaluate the evidence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233045"/>
                </a:solidFill>
                <a:latin typeface="Arial"/>
              </a:rPr>
              <a:t>OOS, costs, stability and capacity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15400" y="1856232"/>
            <a:ext cx="2212848" cy="1097280"/>
          </a:xfrm>
          <a:prstGeom prst="rect">
            <a:avLst/>
          </a:prstGeom>
          <a:solidFill>
            <a:srgbClr val="EFF6FC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l">
              <a:spcBef>
                <a:spcPts val="0"/>
              </a:spcBef>
              <a:spcAft>
                <a:spcPts val="500"/>
              </a:spcAft>
              <a:defRPr sz="1400" b="1">
                <a:solidFill>
                  <a:srgbClr val="122D5B"/>
                </a:solidFill>
                <a:latin typeface="Arial"/>
              </a:defRPr>
            </a:pPr>
            <a:r>
              <a:rPr sz="1350" b="1">
                <a:solidFill>
                  <a:srgbClr val="091F4E"/>
                </a:solidFill>
                <a:latin typeface="Arial"/>
              </a:rPr>
              <a:t>Learn &amp; decide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233045"/>
                </a:solidFill>
                <a:latin typeface="Arial"/>
              </a:rPr>
              <a:t>Discard, refine or validate further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273552"/>
            <a:ext cx="5440680" cy="1536192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r">
              <a:spcBef>
                <a:spcPts val="0"/>
              </a:spcBef>
              <a:spcAft>
                <a:spcPts val="8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50" b="1">
                <a:solidFill>
                  <a:srgbClr val="1857CA"/>
                </a:solidFill>
                <a:latin typeface="Arial"/>
              </a:rPr>
              <a:t>RESEARCH VALUE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091F4E"/>
                </a:solidFill>
                <a:latin typeface="Arial"/>
              </a:rPr>
              <a:t>When the idea disappoints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110" b="0">
                <a:solidFill>
                  <a:srgbClr val="233045"/>
                </a:solidFill>
                <a:latin typeface="Arial"/>
              </a:rPr>
              <a:t>We want to learn quickly and move on without rebuilding a large part of the system.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53328" y="3273552"/>
            <a:ext cx="5715000" cy="1536192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r">
              <a:spcBef>
                <a:spcPts val="0"/>
              </a:spcBef>
              <a:spcAft>
                <a:spcPts val="8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50" b="1">
                <a:solidFill>
                  <a:srgbClr val="1857CA"/>
                </a:solidFill>
                <a:latin typeface="Arial"/>
              </a:rPr>
              <a:t>TRADING VALUE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091F4E"/>
                </a:solidFill>
                <a:latin typeface="Arial"/>
              </a:rPr>
              <a:t>When the idea looks promising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110" b="0">
                <a:solidFill>
                  <a:srgbClr val="233045"/>
                </a:solidFill>
                <a:latin typeface="Arial"/>
              </a:rPr>
              <a:t>We want a credible path to further validation and controlled production.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5056632"/>
            <a:ext cx="11356848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defRPr sz="1400" b="1">
                <a:solidFill>
                  <a:srgbClr val="122D5B"/>
                </a:solidFill>
                <a:latin typeface="Arial"/>
              </a:defRPr>
            </a:pPr>
            <a:r>
              <a:t>The goal is a shorter idea-to-reliable-production cycle—not a shorter validation standard.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" y="6537960"/>
            <a:ext cx="530352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9" b="1" i="0">
                <a:solidFill>
                  <a:srgbClr val="6F757C"/>
                </a:solidFill>
                <a:latin typeface="Arial"/>
              </a:defRPr>
            </a:pPr>
            <a:r>
              <a:t>RESEARCH AGILITY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84280" y="6537960"/>
            <a:ext cx="41148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6F757C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164592"/>
            <a:ext cx="905256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122D5B"/>
                </a:solidFill>
                <a:latin typeface="Arial"/>
              </a:defRPr>
            </a:pPr>
            <a:r>
              <a:t>01 / RESEARCH AGILITY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27080" y="164592"/>
            <a:ext cx="86868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6F757C"/>
                </a:solidFill>
                <a:latin typeface="Arial"/>
              </a:defRPr>
            </a:pPr>
            <a:r>
              <a:t>3 /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512064"/>
            <a:ext cx="11201400" cy="6217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50" b="0" i="0">
                <a:solidFill>
                  <a:srgbClr val="2D63DA"/>
                </a:solidFill>
                <a:latin typeface="Arial"/>
              </a:defRPr>
            </a:pPr>
            <a:r>
              <a:t>Why can a small change take longer than the first version?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" y="1243584"/>
            <a:ext cx="11475720" cy="16459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5440680" cy="1965960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r">
              <a:spcBef>
                <a:spcPts val="0"/>
              </a:spcBef>
              <a:spcAft>
                <a:spcPts val="8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50" b="1">
                <a:solidFill>
                  <a:srgbClr val="1857CA"/>
                </a:solidFill>
                <a:latin typeface="Arial"/>
              </a:rPr>
              <a:t>ILLUSTRATIVE · LIMITED SCOPE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091F4E"/>
                </a:solidFill>
                <a:latin typeface="Arial"/>
              </a:rPr>
              <a:t>2 days First implementation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110" b="0">
                <a:solidFill>
                  <a:srgbClr val="233045"/>
                </a:solidFill>
                <a:latin typeface="Arial"/>
              </a:rPr>
              <a:t>One venue, one model, clearly known inputs, and a relatively small graph.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9632" y="1828800"/>
            <a:ext cx="5532120" cy="1965960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r">
              <a:spcBef>
                <a:spcPts val="0"/>
              </a:spcBef>
              <a:spcAft>
                <a:spcPts val="8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50" b="1">
                <a:solidFill>
                  <a:srgbClr val="1857CA"/>
                </a:solidFill>
                <a:latin typeface="Arial"/>
              </a:rPr>
              <a:t>ILLUSTRATIVE · ESTABLISHED SYSTEM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091F4E"/>
                </a:solidFill>
                <a:latin typeface="Arial"/>
              </a:rPr>
              <a:t>2 weeks Six months later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110" b="0">
                <a:solidFill>
                  <a:srgbClr val="233045"/>
                </a:solidFill>
                <a:latin typeface="Arial"/>
              </a:rPr>
              <a:t>A small variation may involve event meanings, several nodes, older assumptions and regression tests.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42232"/>
            <a:ext cx="11274552" cy="713232"/>
          </a:xfrm>
          <a:prstGeom prst="rect">
            <a:avLst/>
          </a:prstGeom>
          <a:solidFill>
            <a:srgbClr val="FBFCFD"/>
          </a:solidFill>
          <a:ln w="10160">
            <a:solidFill>
              <a:srgbClr val="DC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defRPr sz="1500" b="1">
                <a:solidFill>
                  <a:srgbClr val="122D5B"/>
                </a:solidFill>
                <a:latin typeface="Arial"/>
              </a:defRPr>
            </a:pPr>
            <a:r>
              <a:t>The difficulty is often not the new formula; it is the surrounding integration and verification.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" y="6537960"/>
            <a:ext cx="530352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9" b="1" i="0">
                <a:solidFill>
                  <a:srgbClr val="6F757C"/>
                </a:solidFill>
                <a:latin typeface="Arial"/>
              </a:defRPr>
            </a:pPr>
            <a:r>
              <a:t>RESEARCH AGILITY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537960"/>
            <a:ext cx="41148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6F757C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164592"/>
            <a:ext cx="905256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122D5B"/>
                </a:solidFill>
                <a:latin typeface="Arial"/>
              </a:defRPr>
            </a:pPr>
            <a:r>
              <a:t>01 / RESEARCH AGILITY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27080" y="164592"/>
            <a:ext cx="86868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6F757C"/>
                </a:solidFill>
                <a:latin typeface="Arial"/>
              </a:defRPr>
            </a:pPr>
            <a:r>
              <a:t>4 /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512064"/>
            <a:ext cx="11201400" cy="6217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50" b="0" i="0">
                <a:solidFill>
                  <a:srgbClr val="2D63DA"/>
                </a:solidFill>
                <a:latin typeface="Arial"/>
              </a:defRPr>
            </a:pPr>
            <a:r>
              <a:t>The hidden cost is not only engineering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" y="1243584"/>
            <a:ext cx="11475720" cy="16459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64792"/>
            <a:ext cx="5486400" cy="1828800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r">
              <a:spcBef>
                <a:spcPts val="0"/>
              </a:spcBef>
              <a:spcAft>
                <a:spcPts val="8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50" b="1">
                <a:solidFill>
                  <a:srgbClr val="1857CA"/>
                </a:solidFill>
                <a:latin typeface="Arial"/>
              </a:rPr>
              <a:t>WE CAN MEASURE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091F4E"/>
                </a:solidFill>
                <a:latin typeface="Arial"/>
              </a:rPr>
              <a:t>Visible cost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110" b="0">
                <a:solidFill>
                  <a:srgbClr val="233045"/>
                </a:solidFill>
                <a:latin typeface="Arial"/>
              </a:rPr>
              <a:t>Extra implementation, debugging, review and regression work for each change.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6208" y="1764792"/>
            <a:ext cx="5486400" cy="1828800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r">
              <a:spcBef>
                <a:spcPts val="0"/>
              </a:spcBef>
              <a:spcAft>
                <a:spcPts val="8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50" b="1">
                <a:solidFill>
                  <a:srgbClr val="1857CA"/>
                </a:solidFill>
                <a:latin typeface="Arial"/>
              </a:rPr>
              <a:t>WE OFTEN DO NOT MEASURE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091F4E"/>
                </a:solidFill>
                <a:latin typeface="Arial"/>
              </a:rPr>
              <a:t>Less visible cost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110" b="0">
                <a:solidFill>
                  <a:srgbClr val="233045"/>
                </a:solidFill>
                <a:latin typeface="Arial"/>
              </a:rPr>
              <a:t>Researchers avoid experiments that look expensive or disruptive to the existing graph.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3886200"/>
            <a:ext cx="274320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2D63DA"/>
                </a:solidFill>
                <a:latin typeface="Arial"/>
              </a:defRPr>
            </a:pPr>
            <a:r>
              <a:t>Example: a researcher wants to try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206240"/>
            <a:ext cx="11265408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defRPr sz="1600" b="1">
                <a:solidFill>
                  <a:srgbClr val="122D5B"/>
                </a:solidFill>
                <a:latin typeface="Arial"/>
              </a:defRPr>
            </a:pPr>
            <a:r>
              <a:t>Architecture affects how many research questions are practical to ask.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" y="6537960"/>
            <a:ext cx="530352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9" b="1" i="0">
                <a:solidFill>
                  <a:srgbClr val="6F757C"/>
                </a:solidFill>
                <a:latin typeface="Arial"/>
              </a:defRPr>
            </a:pPr>
            <a:r>
              <a:t>RESEARCH AGILITY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537960"/>
            <a:ext cx="41148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6F757C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914400"/>
            <a:ext cx="2011680" cy="10058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000" b="1" i="0">
                <a:solidFill>
                  <a:srgbClr val="DAE7F6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1051560"/>
            <a:ext cx="8778240" cy="10972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100" b="0" i="0">
                <a:solidFill>
                  <a:srgbClr val="2D63DA"/>
                </a:solidFill>
                <a:latin typeface="Arial"/>
              </a:defRPr>
            </a:pPr>
            <a:r>
              <a:t>Designing for Change: Components and Business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42032" y="2286000"/>
            <a:ext cx="804672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6F757C"/>
                </a:solidFill>
                <a:latin typeface="Arial"/>
              </a:defRPr>
            </a:pPr>
            <a:r>
              <a:t>Designing for change  •  research agility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2542032" y="3090672"/>
            <a:ext cx="7772400" cy="25603"/>
          </a:xfrm>
          <a:prstGeom prst="rect">
            <a:avLst/>
          </a:prstGeom>
          <a:solidFill>
            <a:srgbClr val="2D6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6F757C"/>
                </a:solidFill>
                <a:latin typeface="Arial"/>
              </a:defRPr>
            </a:pPr>
            <a:r>
              <a:t>02 / DESIGNING FOR CHANGE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10528"/>
            <a:ext cx="4114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F757C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164592"/>
            <a:ext cx="905256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122D5B"/>
                </a:solidFill>
                <a:latin typeface="Arial"/>
              </a:defRPr>
            </a:pPr>
            <a:r>
              <a:t>02 / DESIGNING FOR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27080" y="164592"/>
            <a:ext cx="86868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6F757C"/>
                </a:solidFill>
                <a:latin typeface="Arial"/>
              </a:defRPr>
            </a:pPr>
            <a:r>
              <a:t>6 /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512064"/>
            <a:ext cx="11201400" cy="11155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0" i="0">
                <a:solidFill>
                  <a:srgbClr val="2D63DA"/>
                </a:solidFill>
                <a:latin typeface="Arial"/>
              </a:defRPr>
            </a:pPr>
            <a:r>
              <a:t>A graph can look modular while its nodes remain tightly coupled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" y="1737360"/>
            <a:ext cx="11475720" cy="16459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249424"/>
            <a:ext cx="5522976" cy="1920240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r">
              <a:spcBef>
                <a:spcPts val="0"/>
              </a:spcBef>
              <a:spcAft>
                <a:spcPts val="8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50" b="1">
                <a:solidFill>
                  <a:srgbClr val="1857CA"/>
                </a:solidFill>
                <a:latin typeface="Arial"/>
              </a:rPr>
              <a:t>VISIBLE EVENT FLOW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091F4E"/>
                </a:solidFill>
                <a:latin typeface="Arial"/>
              </a:rPr>
              <a:t>Separate boxes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110" b="0">
                <a:solidFill>
                  <a:srgbClr val="233045"/>
                </a:solidFill>
                <a:latin typeface="Arial"/>
              </a:rPr>
              <a:t>Feed → Features → Model → Signal. The diagram is clear, but that alone does not establish independent components.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9632" y="2249424"/>
            <a:ext cx="5522976" cy="1920240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r">
              <a:spcBef>
                <a:spcPts val="0"/>
              </a:spcBef>
              <a:spcAft>
                <a:spcPts val="8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50" b="1">
                <a:solidFill>
                  <a:srgbClr val="1857CA"/>
                </a:solidFill>
                <a:latin typeface="Arial"/>
              </a:rPr>
              <a:t>HIDDEN DEPENDENCIES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091F4E"/>
                </a:solidFill>
                <a:latin typeface="Arial"/>
              </a:rPr>
              <a:t>Changes spread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110" b="0">
                <a:solidFill>
                  <a:srgbClr val="233045"/>
                </a:solidFill>
                <a:latin typeface="Arial"/>
              </a:rPr>
              <a:t>The feature node knows Venue A’s field layout; the model assumes a specific update sequence; another node reads private model state.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535424"/>
            <a:ext cx="11265408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defRPr sz="1450" b="1">
                <a:solidFill>
                  <a:srgbClr val="122D5B"/>
                </a:solidFill>
                <a:latin typeface="Arial"/>
              </a:defRPr>
            </a:pPr>
            <a:r>
              <a:t>Several boxes may still need to change together when one design decision changes.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" y="6537960"/>
            <a:ext cx="530352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9" b="1" i="0">
                <a:solidFill>
                  <a:srgbClr val="6F757C"/>
                </a:solidFill>
                <a:latin typeface="Arial"/>
              </a:defRPr>
            </a:pPr>
            <a:r>
              <a:t>DESIGNING FOR 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537960"/>
            <a:ext cx="41148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6F757C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164592"/>
            <a:ext cx="905256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122D5B"/>
                </a:solidFill>
                <a:latin typeface="Arial"/>
              </a:defRPr>
            </a:pPr>
            <a:r>
              <a:t>02 / DESIGNING FOR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27080" y="164592"/>
            <a:ext cx="86868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6F757C"/>
                </a:solidFill>
                <a:latin typeface="Arial"/>
              </a:defRPr>
            </a:pPr>
            <a:r>
              <a:t>7 /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512064"/>
            <a:ext cx="11201400" cy="11155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0" i="0">
                <a:solidFill>
                  <a:srgbClr val="2D63DA"/>
                </a:solidFill>
                <a:latin typeface="Arial"/>
              </a:defRPr>
            </a:pPr>
            <a:r>
              <a:t>Information hiding: keep volatile decisions behind stable interfaces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" y="1737360"/>
            <a:ext cx="11475720" cy="16459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249424"/>
            <a:ext cx="5522976" cy="1920240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r">
              <a:spcBef>
                <a:spcPts val="0"/>
              </a:spcBef>
              <a:spcAft>
                <a:spcPts val="8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50" b="1">
                <a:solidFill>
                  <a:srgbClr val="1857CA"/>
                </a:solidFill>
                <a:latin typeface="Arial"/>
              </a:rPr>
              <a:t>IMPLEMENTATION DETAILS SPREAD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091F4E"/>
                </a:solidFill>
                <a:latin typeface="Arial"/>
              </a:rPr>
              <a:t>Less useful boundary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110" b="0">
                <a:solidFill>
                  <a:srgbClr val="233045"/>
                </a:solidFill>
                <a:latin typeface="Arial"/>
              </a:rPr>
              <a:t>Several downstream nodes depend directly on the venue-specific quote layout.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9632" y="2249424"/>
            <a:ext cx="5522976" cy="1920240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r">
              <a:spcBef>
                <a:spcPts val="0"/>
              </a:spcBef>
              <a:spcAft>
                <a:spcPts val="8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50" b="1">
                <a:solidFill>
                  <a:srgbClr val="1857CA"/>
                </a:solidFill>
                <a:latin typeface="Arial"/>
              </a:rPr>
              <a:t>VENUE DETAIL REMAINS LOCAL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091F4E"/>
                </a:solidFill>
                <a:latin typeface="Arial"/>
              </a:rPr>
              <a:t>More useful boundary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110" b="0">
                <a:solidFill>
                  <a:srgbClr val="233045"/>
                </a:solidFill>
                <a:latin typeface="Arial"/>
              </a:rPr>
              <a:t>An adapter understands the venue; downstream components consume a well-defined market event.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462272"/>
            <a:ext cx="11265408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64008" bIns="73152"/>
          <a:lstStyle/>
          <a:p>
            <a:pPr algn="r">
              <a:spcBef>
                <a:spcPts val="0"/>
              </a:spcBef>
              <a:spcAft>
                <a:spcPts val="700"/>
              </a:spcAft>
              <a:defRPr sz="1450" b="1">
                <a:solidFill>
                  <a:srgbClr val="122D5B"/>
                </a:solidFill>
                <a:latin typeface="Arial"/>
              </a:defRPr>
            </a:pPr>
            <a:r>
              <a:rPr sz="780" b="1">
                <a:solidFill>
                  <a:srgbClr val="1857CA"/>
                </a:solidFill>
                <a:latin typeface="Arial"/>
              </a:rPr>
              <a:t>DESIGN PRINCIPLE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91F4E"/>
                </a:solidFill>
                <a:latin typeface="Arial"/>
              </a:rPr>
              <a:t>A change to the implementation should not require unrelated components to change their understanding of the business event.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" y="6537960"/>
            <a:ext cx="530352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9" b="1" i="0">
                <a:solidFill>
                  <a:srgbClr val="6F757C"/>
                </a:solidFill>
                <a:latin typeface="Arial"/>
              </a:defRPr>
            </a:pPr>
            <a:r>
              <a:t>DESIGNING FOR 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537960"/>
            <a:ext cx="41148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6F757C"/>
                </a:solidFill>
                <a:latin typeface="Arial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164592"/>
            <a:ext cx="905256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122D5B"/>
                </a:solidFill>
                <a:latin typeface="Arial"/>
              </a:defRPr>
            </a:pPr>
            <a:r>
              <a:t>02 / DESIGNING FOR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27080" y="164592"/>
            <a:ext cx="86868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6F757C"/>
                </a:solidFill>
                <a:latin typeface="Arial"/>
              </a:defRPr>
            </a:pPr>
            <a:r>
              <a:t>8 /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512064"/>
            <a:ext cx="11201400" cy="11155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0" i="0">
                <a:solidFill>
                  <a:srgbClr val="2D63DA"/>
                </a:solidFill>
                <a:latin typeface="Arial"/>
              </a:defRPr>
            </a:pPr>
            <a:r>
              <a:t>Before: one FX graph with dependencies spread across its nodes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" y="1737360"/>
            <a:ext cx="11475720" cy="16459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2029968"/>
            <a:ext cx="384048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2D63DA"/>
                </a:solidFill>
                <a:latin typeface="Arial"/>
              </a:defRPr>
            </a:pPr>
            <a:r>
              <a:t>ILLUSTRATIVE · COUPLED IMPLEMENTATION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3072384"/>
            <a:ext cx="438912" cy="0"/>
          </a:xfrm>
          <a:prstGeom prst="line">
            <a:avLst/>
          </a:prstGeom>
          <a:ln w="20320">
            <a:solidFill>
              <a:srgbClr val="447EE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07992" y="3072384"/>
            <a:ext cx="448056" cy="0"/>
          </a:xfrm>
          <a:prstGeom prst="line">
            <a:avLst/>
          </a:prstGeom>
          <a:ln w="20320">
            <a:solidFill>
              <a:srgbClr val="447EE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739128" y="3072384"/>
            <a:ext cx="448056" cy="0"/>
          </a:xfrm>
          <a:prstGeom prst="line">
            <a:avLst/>
          </a:prstGeom>
          <a:ln w="20320">
            <a:solidFill>
              <a:srgbClr val="447EE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970264" y="3072384"/>
            <a:ext cx="448056" cy="0"/>
          </a:xfrm>
          <a:prstGeom prst="line">
            <a:avLst/>
          </a:prstGeom>
          <a:ln w="20320">
            <a:solidFill>
              <a:srgbClr val="447EE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02920" y="2532888"/>
            <a:ext cx="1783080" cy="1078992"/>
          </a:xfrm>
          <a:prstGeom prst="rect">
            <a:avLst/>
          </a:prstGeom>
          <a:solidFill>
            <a:srgbClr val="EFF6FC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l">
              <a:spcBef>
                <a:spcPts val="0"/>
              </a:spcBef>
              <a:spcAft>
                <a:spcPts val="500"/>
              </a:spcAft>
              <a:defRPr sz="1300" b="1">
                <a:solidFill>
                  <a:srgbClr val="122D5B"/>
                </a:solidFill>
                <a:latin typeface="Arial"/>
              </a:defRPr>
            </a:pPr>
            <a:r>
              <a:rPr sz="1350" b="1">
                <a:solidFill>
                  <a:srgbClr val="091F4E"/>
                </a:solidFill>
                <a:latin typeface="Arial"/>
              </a:rPr>
              <a:t>Venue A feed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233045"/>
                </a:solidFill>
                <a:latin typeface="Arial"/>
              </a:rPr>
              <a:t>Raw quote layout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24912" y="2532888"/>
            <a:ext cx="1783080" cy="1078992"/>
          </a:xfrm>
          <a:prstGeom prst="rect">
            <a:avLst/>
          </a:prstGeom>
          <a:solidFill>
            <a:srgbClr val="EFF6FC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l">
              <a:spcBef>
                <a:spcPts val="0"/>
              </a:spcBef>
              <a:spcAft>
                <a:spcPts val="500"/>
              </a:spcAft>
              <a:defRPr sz="1300" b="1">
                <a:solidFill>
                  <a:srgbClr val="122D5B"/>
                </a:solidFill>
                <a:latin typeface="Arial"/>
              </a:defRPr>
            </a:pPr>
            <a:r>
              <a:rPr sz="1350" b="1">
                <a:solidFill>
                  <a:srgbClr val="091F4E"/>
                </a:solidFill>
                <a:latin typeface="Arial"/>
              </a:rPr>
              <a:t>Features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233045"/>
                </a:solidFill>
                <a:latin typeface="Arial"/>
              </a:rPr>
              <a:t>Depend on Venue A fields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2532888"/>
            <a:ext cx="1783080" cy="1078992"/>
          </a:xfrm>
          <a:prstGeom prst="rect">
            <a:avLst/>
          </a:prstGeom>
          <a:solidFill>
            <a:srgbClr val="EFF6FC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l">
              <a:spcBef>
                <a:spcPts val="0"/>
              </a:spcBef>
              <a:spcAft>
                <a:spcPts val="500"/>
              </a:spcAft>
              <a:defRPr sz="1300" b="1">
                <a:solidFill>
                  <a:srgbClr val="122D5B"/>
                </a:solidFill>
                <a:latin typeface="Arial"/>
              </a:defRPr>
            </a:pPr>
            <a:r>
              <a:rPr sz="1350" b="1">
                <a:solidFill>
                  <a:srgbClr val="091F4E"/>
                </a:solidFill>
                <a:latin typeface="Arial"/>
              </a:rPr>
              <a:t>Model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233045"/>
                </a:solidFill>
                <a:latin typeface="Arial"/>
              </a:rPr>
              <a:t>Assumes event sequence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87184" y="2532888"/>
            <a:ext cx="1783080" cy="1078992"/>
          </a:xfrm>
          <a:prstGeom prst="rect">
            <a:avLst/>
          </a:prstGeom>
          <a:solidFill>
            <a:srgbClr val="EFF6FC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l">
              <a:spcBef>
                <a:spcPts val="0"/>
              </a:spcBef>
              <a:spcAft>
                <a:spcPts val="500"/>
              </a:spcAft>
              <a:defRPr sz="1300" b="1">
                <a:solidFill>
                  <a:srgbClr val="122D5B"/>
                </a:solidFill>
                <a:latin typeface="Arial"/>
              </a:defRPr>
            </a:pPr>
            <a:r>
              <a:rPr sz="1350" b="1">
                <a:solidFill>
                  <a:srgbClr val="091F4E"/>
                </a:solidFill>
                <a:latin typeface="Arial"/>
              </a:rPr>
              <a:t>Composition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233045"/>
                </a:solidFill>
                <a:latin typeface="Arial"/>
              </a:rPr>
              <a:t>Reads model state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18320" y="2532888"/>
            <a:ext cx="1783080" cy="1078992"/>
          </a:xfrm>
          <a:prstGeom prst="rect">
            <a:avLst/>
          </a:prstGeom>
          <a:solidFill>
            <a:srgbClr val="EFF6FC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l">
              <a:spcBef>
                <a:spcPts val="0"/>
              </a:spcBef>
              <a:spcAft>
                <a:spcPts val="500"/>
              </a:spcAft>
              <a:defRPr sz="1300" b="1">
                <a:solidFill>
                  <a:srgbClr val="122D5B"/>
                </a:solidFill>
                <a:latin typeface="Arial"/>
              </a:defRPr>
            </a:pPr>
            <a:r>
              <a:rPr sz="1350" b="1">
                <a:solidFill>
                  <a:srgbClr val="091F4E"/>
                </a:solidFill>
                <a:latin typeface="Arial"/>
              </a:rPr>
              <a:t>Decision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233045"/>
                </a:solidFill>
                <a:latin typeface="Arial"/>
              </a:rPr>
              <a:t>Special handling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041648"/>
            <a:ext cx="5440680" cy="1481328"/>
          </a:xfrm>
          <a:prstGeom prst="rect">
            <a:avLst/>
          </a:prstGeom>
          <a:solidFill>
            <a:srgbClr val="FDF7F6"/>
          </a:solidFill>
          <a:ln w="10160">
            <a:solidFill>
              <a:srgbClr val="F1C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r">
              <a:spcBef>
                <a:spcPts val="0"/>
              </a:spcBef>
              <a:spcAft>
                <a:spcPts val="800"/>
              </a:spcAft>
              <a:defRPr sz="950" b="1">
                <a:solidFill>
                  <a:srgbClr val="D9261C"/>
                </a:solidFill>
                <a:latin typeface="Arial"/>
              </a:defRPr>
            </a:pPr>
            <a:r>
              <a:rPr sz="750" b="1">
                <a:solidFill>
                  <a:srgbClr val="1857CA"/>
                </a:solidFill>
                <a:latin typeface="Arial"/>
              </a:rPr>
              <a:t>NEXT REQUEST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091F4E"/>
                </a:solidFill>
                <a:latin typeface="Arial"/>
              </a:rPr>
              <a:t>Add Venue B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110" b="0">
                <a:solidFill>
                  <a:srgbClr val="233045"/>
                </a:solidFill>
                <a:latin typeface="Arial"/>
              </a:rPr>
              <a:t>Field mapping and time assumptions may need to change across several downstream nodes.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4041648"/>
            <a:ext cx="5440680" cy="1481328"/>
          </a:xfrm>
          <a:prstGeom prst="rect">
            <a:avLst/>
          </a:prstGeom>
          <a:solidFill>
            <a:srgbClr val="FDF7F6"/>
          </a:solidFill>
          <a:ln w="10160">
            <a:solidFill>
              <a:srgbClr val="F1C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r">
              <a:spcBef>
                <a:spcPts val="0"/>
              </a:spcBef>
              <a:spcAft>
                <a:spcPts val="800"/>
              </a:spcAft>
              <a:defRPr sz="950" b="1">
                <a:solidFill>
                  <a:srgbClr val="D9261C"/>
                </a:solidFill>
                <a:latin typeface="Arial"/>
              </a:defRPr>
            </a:pPr>
            <a:r>
              <a:rPr sz="750" b="1">
                <a:solidFill>
                  <a:srgbClr val="1857CA"/>
                </a:solidFill>
                <a:latin typeface="Arial"/>
              </a:rPr>
              <a:t>ANOTHER REQUEST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091F4E"/>
                </a:solidFill>
                <a:latin typeface="Arial"/>
              </a:rPr>
              <a:t>Replace the model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110" b="0">
                <a:solidFill>
                  <a:srgbClr val="233045"/>
                </a:solidFill>
                <a:latin typeface="Arial"/>
              </a:rPr>
              <a:t>Changes to private state or prediction interpretation may require edits outside the model itself.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5733288"/>
            <a:ext cx="1097280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1" i="0">
                <a:solidFill>
                  <a:srgbClr val="122D5B"/>
                </a:solidFill>
                <a:latin typeface="Arial"/>
              </a:defRPr>
            </a:pPr>
            <a:r>
              <a:t>The next two slides show how to keep these variations within more dependable boundaries.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" y="6537960"/>
            <a:ext cx="530352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9" b="1" i="0">
                <a:solidFill>
                  <a:srgbClr val="6F757C"/>
                </a:solidFill>
                <a:latin typeface="Arial"/>
              </a:defRPr>
            </a:pPr>
            <a:r>
              <a:t>DESIGNING FOR CHANGE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84280" y="6537960"/>
            <a:ext cx="41148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6F757C"/>
                </a:solidFill>
                <a:latin typeface="Arial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164592"/>
            <a:ext cx="905256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122D5B"/>
                </a:solidFill>
                <a:latin typeface="Arial"/>
              </a:defRPr>
            </a:pPr>
            <a:r>
              <a:t>02 / DESIGNING FOR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27080" y="164592"/>
            <a:ext cx="86868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6F757C"/>
                </a:solidFill>
                <a:latin typeface="Arial"/>
              </a:defRPr>
            </a:pPr>
            <a:r>
              <a:t>9 /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512064"/>
            <a:ext cx="11201400" cy="11155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0" i="0">
                <a:solidFill>
                  <a:srgbClr val="2D63DA"/>
                </a:solidFill>
                <a:latin typeface="Arial"/>
              </a:defRPr>
            </a:pPr>
            <a:r>
              <a:t>After: a new ECN can be handled at the data-source boundary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" y="1737360"/>
            <a:ext cx="11475720" cy="16459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93392"/>
            <a:ext cx="274320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2D63DA"/>
                </a:solidFill>
                <a:latin typeface="Arial"/>
              </a:defRPr>
            </a:pPr>
            <a:r>
              <a:t>ADAPTER BOUNDARY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2944368"/>
            <a:ext cx="502920" cy="0"/>
          </a:xfrm>
          <a:prstGeom prst="line">
            <a:avLst/>
          </a:prstGeom>
          <a:ln w="20320">
            <a:solidFill>
              <a:srgbClr val="447EE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617720" y="2944368"/>
            <a:ext cx="502920" cy="0"/>
          </a:xfrm>
          <a:prstGeom prst="line">
            <a:avLst/>
          </a:prstGeom>
          <a:ln w="20320">
            <a:solidFill>
              <a:srgbClr val="447EE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949440" y="2944368"/>
            <a:ext cx="502920" cy="0"/>
          </a:xfrm>
          <a:prstGeom prst="line">
            <a:avLst/>
          </a:prstGeom>
          <a:ln w="20320">
            <a:solidFill>
              <a:srgbClr val="447EE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57200" y="2441448"/>
            <a:ext cx="1828800" cy="1005840"/>
          </a:xfrm>
          <a:prstGeom prst="rect">
            <a:avLst/>
          </a:prstGeom>
          <a:solidFill>
            <a:srgbClr val="EFF6FC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l">
              <a:spcBef>
                <a:spcPts val="0"/>
              </a:spcBef>
              <a:spcAft>
                <a:spcPts val="500"/>
              </a:spcAft>
              <a:defRPr sz="1300" b="1">
                <a:solidFill>
                  <a:srgbClr val="122D5B"/>
                </a:solidFill>
                <a:latin typeface="Arial"/>
              </a:defRPr>
            </a:pPr>
            <a:r>
              <a:rPr sz="1300" b="1">
                <a:solidFill>
                  <a:srgbClr val="091F4E"/>
                </a:solidFill>
                <a:latin typeface="Arial"/>
              </a:rPr>
              <a:t>Venue 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233045"/>
                </a:solidFill>
                <a:latin typeface="Arial"/>
              </a:rPr>
              <a:t>Own format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20" y="2441448"/>
            <a:ext cx="1828800" cy="1005840"/>
          </a:xfrm>
          <a:prstGeom prst="rect">
            <a:avLst/>
          </a:prstGeom>
          <a:solidFill>
            <a:srgbClr val="EFF6FC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l">
              <a:spcBef>
                <a:spcPts val="0"/>
              </a:spcBef>
              <a:spcAft>
                <a:spcPts val="500"/>
              </a:spcAft>
              <a:defRPr sz="1300" b="1">
                <a:solidFill>
                  <a:srgbClr val="122D5B"/>
                </a:solidFill>
                <a:latin typeface="Arial"/>
              </a:defRPr>
            </a:pPr>
            <a:r>
              <a:rPr sz="1300" b="1">
                <a:solidFill>
                  <a:srgbClr val="091F4E"/>
                </a:solidFill>
                <a:latin typeface="Arial"/>
              </a:rPr>
              <a:t>Adapter 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233045"/>
                </a:solidFill>
                <a:latin typeface="Arial"/>
              </a:rPr>
              <a:t>Map and validate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2441448"/>
            <a:ext cx="1828800" cy="1005840"/>
          </a:xfrm>
          <a:prstGeom prst="rect">
            <a:avLst/>
          </a:prstGeom>
          <a:solidFill>
            <a:srgbClr val="EFF6FC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l">
              <a:spcBef>
                <a:spcPts val="0"/>
              </a:spcBef>
              <a:spcAft>
                <a:spcPts val="500"/>
              </a:spcAft>
              <a:defRPr sz="1300" b="1">
                <a:solidFill>
                  <a:srgbClr val="122D5B"/>
                </a:solidFill>
                <a:latin typeface="Arial"/>
              </a:defRPr>
            </a:pPr>
            <a:r>
              <a:rPr sz="1300" b="1">
                <a:solidFill>
                  <a:srgbClr val="091F4E"/>
                </a:solidFill>
                <a:latin typeface="Arial"/>
              </a:rPr>
              <a:t>Market-event contract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233045"/>
                </a:solidFill>
                <a:latin typeface="Arial"/>
              </a:rPr>
              <a:t>Time, identity, meaning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2441448"/>
            <a:ext cx="1828800" cy="1005840"/>
          </a:xfrm>
          <a:prstGeom prst="rect">
            <a:avLst/>
          </a:prstGeom>
          <a:solidFill>
            <a:srgbClr val="EFF6FC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l">
              <a:spcBef>
                <a:spcPts val="0"/>
              </a:spcBef>
              <a:spcAft>
                <a:spcPts val="500"/>
              </a:spcAft>
              <a:defRPr sz="1300" b="1">
                <a:solidFill>
                  <a:srgbClr val="122D5B"/>
                </a:solidFill>
                <a:latin typeface="Arial"/>
              </a:defRPr>
            </a:pPr>
            <a:r>
              <a:rPr sz="1300" b="1">
                <a:solidFill>
                  <a:srgbClr val="091F4E"/>
                </a:solidFill>
                <a:latin typeface="Arial"/>
              </a:rPr>
              <a:t>Feature graph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233045"/>
                </a:solidFill>
                <a:latin typeface="Arial"/>
              </a:rPr>
              <a:t>Venue-independent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813048"/>
            <a:ext cx="274320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2D63DA"/>
                </a:solidFill>
                <a:latin typeface="Arial"/>
              </a:defRPr>
            </a:pPr>
            <a:r>
              <a:t>ADDING VENUE B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86000" y="4727448"/>
            <a:ext cx="502920" cy="0"/>
          </a:xfrm>
          <a:prstGeom prst="line">
            <a:avLst/>
          </a:prstGeom>
          <a:ln w="20320">
            <a:solidFill>
              <a:srgbClr val="447EE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617720" y="4727448"/>
            <a:ext cx="502920" cy="0"/>
          </a:xfrm>
          <a:prstGeom prst="line">
            <a:avLst/>
          </a:prstGeom>
          <a:ln w="20320">
            <a:solidFill>
              <a:srgbClr val="447EE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949440" y="4727448"/>
            <a:ext cx="502920" cy="0"/>
          </a:xfrm>
          <a:prstGeom prst="line">
            <a:avLst/>
          </a:prstGeom>
          <a:ln w="20320">
            <a:solidFill>
              <a:srgbClr val="447EE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57200" y="4224528"/>
            <a:ext cx="1828800" cy="1005840"/>
          </a:xfrm>
          <a:prstGeom prst="rect">
            <a:avLst/>
          </a:prstGeom>
          <a:solidFill>
            <a:srgbClr val="F7F9FB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l">
              <a:spcBef>
                <a:spcPts val="0"/>
              </a:spcBef>
              <a:spcAft>
                <a:spcPts val="500"/>
              </a:spcAft>
              <a:defRPr sz="1300" b="1">
                <a:solidFill>
                  <a:srgbClr val="122D5B"/>
                </a:solidFill>
                <a:latin typeface="Arial"/>
              </a:defRPr>
            </a:pPr>
            <a:r>
              <a:rPr sz="1300" b="1">
                <a:solidFill>
                  <a:srgbClr val="091F4E"/>
                </a:solidFill>
                <a:latin typeface="Arial"/>
              </a:rPr>
              <a:t>Venue B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233045"/>
                </a:solidFill>
                <a:latin typeface="Arial"/>
              </a:rPr>
              <a:t>New format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88920" y="4224528"/>
            <a:ext cx="1828800" cy="1005840"/>
          </a:xfrm>
          <a:prstGeom prst="rect">
            <a:avLst/>
          </a:prstGeom>
          <a:solidFill>
            <a:srgbClr val="F7F9FB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l">
              <a:spcBef>
                <a:spcPts val="0"/>
              </a:spcBef>
              <a:spcAft>
                <a:spcPts val="500"/>
              </a:spcAft>
              <a:defRPr sz="1300" b="1">
                <a:solidFill>
                  <a:srgbClr val="122D5B"/>
                </a:solidFill>
                <a:latin typeface="Arial"/>
              </a:defRPr>
            </a:pPr>
            <a:r>
              <a:rPr sz="1300" b="1">
                <a:solidFill>
                  <a:srgbClr val="091F4E"/>
                </a:solidFill>
                <a:latin typeface="Arial"/>
              </a:rPr>
              <a:t>Adapter B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233045"/>
                </a:solidFill>
                <a:latin typeface="Arial"/>
              </a:rPr>
              <a:t>New implementation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20640" y="4224528"/>
            <a:ext cx="1828800" cy="1005840"/>
          </a:xfrm>
          <a:prstGeom prst="rect">
            <a:avLst/>
          </a:prstGeom>
          <a:solidFill>
            <a:srgbClr val="EFF6FC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l">
              <a:spcBef>
                <a:spcPts val="0"/>
              </a:spcBef>
              <a:spcAft>
                <a:spcPts val="500"/>
              </a:spcAft>
              <a:defRPr sz="1300" b="1">
                <a:solidFill>
                  <a:srgbClr val="122D5B"/>
                </a:solidFill>
                <a:latin typeface="Arial"/>
              </a:defRPr>
            </a:pPr>
            <a:r>
              <a:rPr sz="1300" b="1">
                <a:solidFill>
                  <a:srgbClr val="091F4E"/>
                </a:solidFill>
                <a:latin typeface="Arial"/>
              </a:rPr>
              <a:t>Same event meaning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233045"/>
                </a:solidFill>
                <a:latin typeface="Arial"/>
              </a:rPr>
              <a:t>If semantics are compatible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52360" y="4224528"/>
            <a:ext cx="1828800" cy="1005840"/>
          </a:xfrm>
          <a:prstGeom prst="rect">
            <a:avLst/>
          </a:prstGeom>
          <a:solidFill>
            <a:srgbClr val="EFF6FC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l">
              <a:spcBef>
                <a:spcPts val="0"/>
              </a:spcBef>
              <a:spcAft>
                <a:spcPts val="500"/>
              </a:spcAft>
              <a:defRPr sz="1300" b="1">
                <a:solidFill>
                  <a:srgbClr val="122D5B"/>
                </a:solidFill>
                <a:latin typeface="Arial"/>
              </a:defRPr>
            </a:pPr>
            <a:r>
              <a:rPr sz="1300" b="1">
                <a:solidFill>
                  <a:srgbClr val="091F4E"/>
                </a:solidFill>
                <a:latin typeface="Arial"/>
              </a:rPr>
              <a:t>Same feature graph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233045"/>
                </a:solidFill>
                <a:latin typeface="Arial"/>
              </a:rPr>
              <a:t>No unnecessary rewrite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46920" y="2441448"/>
            <a:ext cx="2011680" cy="2788920"/>
          </a:xfrm>
          <a:prstGeom prst="rect">
            <a:avLst/>
          </a:prstGeom>
          <a:solidFill>
            <a:srgbClr val="F6FAFD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defRPr sz="1280" b="1">
                <a:solidFill>
                  <a:srgbClr val="122D5B"/>
                </a:solidFill>
                <a:latin typeface="Arial"/>
              </a:defRPr>
            </a:pPr>
            <a:r>
              <a:t>Reuse depends on semantic compatibility—not merely having the same number of fields.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" y="6537960"/>
            <a:ext cx="530352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9" b="1" i="0">
                <a:solidFill>
                  <a:srgbClr val="6F757C"/>
                </a:solidFill>
                <a:latin typeface="Arial"/>
              </a:defRPr>
            </a:pPr>
            <a:r>
              <a:t>DESIGNING FOR CHANGE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84280" y="6537960"/>
            <a:ext cx="41148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6F757C"/>
                </a:solidFill>
                <a:latin typeface="Arial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164592"/>
            <a:ext cx="905256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122D5B"/>
                </a:solidFill>
                <a:latin typeface="Arial"/>
              </a:defRPr>
            </a:pPr>
            <a:r>
              <a:t>02 / DESIGNING FOR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27080" y="164592"/>
            <a:ext cx="86868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6F757C"/>
                </a:solidFill>
                <a:latin typeface="Arial"/>
              </a:defRPr>
            </a:pPr>
            <a:r>
              <a:t>10 /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512064"/>
            <a:ext cx="11201400" cy="11155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0" i="0">
                <a:solidFill>
                  <a:srgbClr val="2D63DA"/>
                </a:solidFill>
                <a:latin typeface="Arial"/>
              </a:defRPr>
            </a:pPr>
            <a:r>
              <a:t>After: model implementations can change behind a common prediction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" y="1737360"/>
            <a:ext cx="11475720" cy="16459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029968"/>
            <a:ext cx="164592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2D63DA"/>
                </a:solidFill>
                <a:latin typeface="Arial"/>
              </a:defRPr>
            </a:pPr>
            <a:r>
              <a:t>REPLACEABLE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11680" y="2990088"/>
            <a:ext cx="502920" cy="0"/>
          </a:xfrm>
          <a:prstGeom prst="line">
            <a:avLst/>
          </a:prstGeom>
          <a:ln w="20320">
            <a:solidFill>
              <a:srgbClr val="447EE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023360" y="2990088"/>
            <a:ext cx="548640" cy="0"/>
          </a:xfrm>
          <a:prstGeom prst="line">
            <a:avLst/>
          </a:prstGeom>
          <a:ln w="20320">
            <a:solidFill>
              <a:srgbClr val="447EE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80760" y="2990088"/>
            <a:ext cx="1234440" cy="0"/>
          </a:xfrm>
          <a:prstGeom prst="line">
            <a:avLst/>
          </a:prstGeom>
          <a:ln w="20320">
            <a:solidFill>
              <a:srgbClr val="447EE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823960" y="2990088"/>
            <a:ext cx="548640" cy="0"/>
          </a:xfrm>
          <a:prstGeom prst="line">
            <a:avLst/>
          </a:prstGeom>
          <a:ln w="20320">
            <a:solidFill>
              <a:srgbClr val="447EE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02920" y="2523744"/>
            <a:ext cx="1508760" cy="932688"/>
          </a:xfrm>
          <a:prstGeom prst="rect">
            <a:avLst/>
          </a:prstGeom>
          <a:solidFill>
            <a:srgbClr val="EFF6FC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300" b="1">
                <a:solidFill>
                  <a:srgbClr val="122D5B"/>
                </a:solidFill>
                <a:latin typeface="Arial"/>
              </a:defRPr>
            </a:pPr>
            <a:r>
              <a:t>Market events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14600" y="2523744"/>
            <a:ext cx="1508760" cy="932688"/>
          </a:xfrm>
          <a:prstGeom prst="rect">
            <a:avLst/>
          </a:prstGeom>
          <a:solidFill>
            <a:srgbClr val="EFF6FC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300" b="1">
                <a:solidFill>
                  <a:srgbClr val="122D5B"/>
                </a:solidFill>
                <a:latin typeface="Arial"/>
              </a:defRPr>
            </a:pPr>
            <a:r>
              <a:t>Features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2523744"/>
            <a:ext cx="1508760" cy="932688"/>
          </a:xfrm>
          <a:prstGeom prst="rect">
            <a:avLst/>
          </a:prstGeom>
          <a:solidFill>
            <a:srgbClr val="E1ECFC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l">
              <a:spcBef>
                <a:spcPts val="0"/>
              </a:spcBef>
              <a:spcAft>
                <a:spcPts val="500"/>
              </a:spcAft>
              <a:defRPr sz="1300" b="1">
                <a:solidFill>
                  <a:srgbClr val="122D5B"/>
                </a:solidFill>
                <a:latin typeface="Arial"/>
              </a:defRPr>
            </a:pPr>
            <a:r>
              <a:rPr sz="1300" b="1">
                <a:solidFill>
                  <a:srgbClr val="091F4E"/>
                </a:solidFill>
                <a:latin typeface="Arial"/>
              </a:rPr>
              <a:t>Model 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233045"/>
                </a:solidFill>
                <a:latin typeface="Arial"/>
              </a:rPr>
              <a:t>Candidate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2523744"/>
            <a:ext cx="1508760" cy="932688"/>
          </a:xfrm>
          <a:prstGeom prst="rect">
            <a:avLst/>
          </a:prstGeom>
          <a:solidFill>
            <a:srgbClr val="EFF6FC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300" b="1">
                <a:solidFill>
                  <a:srgbClr val="122D5B"/>
                </a:solidFill>
                <a:latin typeface="Arial"/>
              </a:defRPr>
            </a:pPr>
            <a:r>
              <a:t>Signal contract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72600" y="2523744"/>
            <a:ext cx="1508760" cy="932688"/>
          </a:xfrm>
          <a:prstGeom prst="rect">
            <a:avLst/>
          </a:prstGeom>
          <a:solidFill>
            <a:srgbClr val="EFF6FC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300" b="1">
                <a:solidFill>
                  <a:srgbClr val="122D5B"/>
                </a:solidFill>
                <a:latin typeface="Arial"/>
              </a:defRPr>
            </a:pPr>
            <a:r>
              <a:t>Decision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3813048"/>
            <a:ext cx="1508760" cy="932688"/>
          </a:xfrm>
          <a:prstGeom prst="rect">
            <a:avLst/>
          </a:prstGeom>
          <a:solidFill>
            <a:srgbClr val="E1ECFC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l">
              <a:spcBef>
                <a:spcPts val="0"/>
              </a:spcBef>
              <a:spcAft>
                <a:spcPts val="500"/>
              </a:spcAft>
              <a:defRPr sz="1300" b="1">
                <a:solidFill>
                  <a:srgbClr val="122D5B"/>
                </a:solidFill>
                <a:latin typeface="Arial"/>
              </a:defRPr>
            </a:pPr>
            <a:r>
              <a:rPr sz="1300" b="1">
                <a:solidFill>
                  <a:srgbClr val="091F4E"/>
                </a:solidFill>
                <a:latin typeface="Arial"/>
              </a:rPr>
              <a:t>Model B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233045"/>
                </a:solidFill>
                <a:latin typeface="Arial"/>
              </a:rPr>
              <a:t>Replacement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6080760" y="3154680"/>
            <a:ext cx="1188720" cy="1124712"/>
          </a:xfrm>
          <a:prstGeom prst="line">
            <a:avLst/>
          </a:prstGeom>
          <a:ln w="16510">
            <a:solidFill>
              <a:srgbClr val="447EE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02920" y="5065776"/>
            <a:ext cx="5440680" cy="1078992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r">
              <a:spcBef>
                <a:spcPts val="0"/>
              </a:spcBef>
              <a:spcAft>
                <a:spcPts val="5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20" b="1">
                <a:solidFill>
                  <a:srgbClr val="1857CA"/>
                </a:solidFill>
                <a:latin typeface="Arial"/>
              </a:rPr>
              <a:t>INSIDE THE BOUNDARY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91F4E"/>
                </a:solidFill>
                <a:latin typeface="Arial"/>
              </a:rPr>
              <a:t>What changes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050" b="0">
                <a:solidFill>
                  <a:srgbClr val="233045"/>
                </a:solidFill>
                <a:latin typeface="Arial"/>
              </a:rPr>
              <a:t>Estimation algorithm, parameters and private model state.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5065776"/>
            <a:ext cx="5440680" cy="1078992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r">
              <a:spcBef>
                <a:spcPts val="0"/>
              </a:spcBef>
              <a:spcAft>
                <a:spcPts val="5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20" b="1">
                <a:solidFill>
                  <a:srgbClr val="1857CA"/>
                </a:solidFill>
                <a:latin typeface="Arial"/>
              </a:rPr>
              <a:t>AT THE BOUNDARY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91F4E"/>
                </a:solidFill>
                <a:latin typeface="Arial"/>
              </a:rPr>
              <a:t>What stays dependable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050" b="0">
                <a:solidFill>
                  <a:srgbClr val="233045"/>
                </a:solidFill>
                <a:latin typeface="Arial"/>
              </a:rPr>
              <a:t>Inputs, output meaning, lifecycle and permitted external effects, where compatible.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" y="6537960"/>
            <a:ext cx="530352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9" b="1" i="0">
                <a:solidFill>
                  <a:srgbClr val="6F757C"/>
                </a:solidFill>
                <a:latin typeface="Arial"/>
              </a:defRPr>
            </a:pPr>
            <a:r>
              <a:t>DESIGNING FOR CHANGE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84280" y="6537960"/>
            <a:ext cx="41148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6F757C"/>
                </a:solidFill>
                <a:latin typeface="Arial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164592"/>
            <a:ext cx="905256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122D5B"/>
                </a:solidFill>
                <a:latin typeface="Arial"/>
              </a:defRPr>
            </a:pPr>
            <a:r>
              <a:t>02 / DESIGNING FOR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27080" y="164592"/>
            <a:ext cx="86868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6F757C"/>
                </a:solidFill>
                <a:latin typeface="Arial"/>
              </a:defRPr>
            </a:pPr>
            <a:r>
              <a:t>11 /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512064"/>
            <a:ext cx="11201400" cy="6217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50" b="0" i="0">
                <a:solidFill>
                  <a:srgbClr val="2D63DA"/>
                </a:solidFill>
                <a:latin typeface="Arial"/>
              </a:defRPr>
            </a:pPr>
            <a:r>
              <a:t>A stateful subgraph can still be independently replaceable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" y="1243584"/>
            <a:ext cx="11475720" cy="16459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73352"/>
            <a:ext cx="5486400" cy="1554480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r">
              <a:spcBef>
                <a:spcPts val="0"/>
              </a:spcBef>
              <a:spcAft>
                <a:spcPts val="8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50" b="1">
                <a:solidFill>
                  <a:srgbClr val="1857CA"/>
                </a:solidFill>
                <a:latin typeface="Arial"/>
              </a:rPr>
              <a:t>REPLACEABLE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091F4E"/>
                </a:solidFill>
                <a:latin typeface="Arial"/>
              </a:rPr>
              <a:t>Contained state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110" b="0">
                <a:solidFill>
                  <a:srgbClr val="233045"/>
                </a:solidFill>
                <a:latin typeface="Arial"/>
              </a:rPr>
              <a:t>The subgraph owns its buffers, rolling estimates and reset behaviour. Inputs and outputs cross defined boundaries.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6208" y="1673352"/>
            <a:ext cx="5486400" cy="1554480"/>
          </a:xfrm>
          <a:prstGeom prst="rect">
            <a:avLst/>
          </a:prstGeom>
          <a:solidFill>
            <a:srgbClr val="FDF7F6"/>
          </a:solidFill>
          <a:ln w="10160">
            <a:solidFill>
              <a:srgbClr val="F1C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r">
              <a:spcBef>
                <a:spcPts val="0"/>
              </a:spcBef>
              <a:spcAft>
                <a:spcPts val="800"/>
              </a:spcAft>
              <a:defRPr sz="950" b="1">
                <a:solidFill>
                  <a:srgbClr val="D9261C"/>
                </a:solidFill>
                <a:latin typeface="Arial"/>
              </a:defRPr>
            </a:pPr>
            <a:r>
              <a:rPr sz="750" b="1">
                <a:solidFill>
                  <a:srgbClr val="1857CA"/>
                </a:solidFill>
                <a:latin typeface="Arial"/>
              </a:rPr>
              <a:t>HARD TO REPLACE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091F4E"/>
                </a:solidFill>
                <a:latin typeface="Arial"/>
              </a:rPr>
              <a:t>Coupled state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110" b="0">
                <a:solidFill>
                  <a:srgbClr val="233045"/>
                </a:solidFill>
                <a:latin typeface="Arial"/>
              </a:rPr>
              <a:t>Another node reads or modifies the subgraph’s internal state; replacement changes an unrelated component’s assumptions.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3456432"/>
            <a:ext cx="384048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2D63DA"/>
                </a:solidFill>
                <a:latin typeface="Arial"/>
              </a:defRPr>
            </a:pPr>
            <a:r>
              <a:t>PRIVATE STATE THROUGH AN EVENT LIFECYCLE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05456" y="4261104"/>
            <a:ext cx="822960" cy="0"/>
          </a:xfrm>
          <a:prstGeom prst="line">
            <a:avLst/>
          </a:prstGeom>
          <a:ln w="19050">
            <a:solidFill>
              <a:srgbClr val="447EE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266944" y="4261104"/>
            <a:ext cx="822960" cy="0"/>
          </a:xfrm>
          <a:prstGeom prst="line">
            <a:avLst/>
          </a:prstGeom>
          <a:ln w="19050">
            <a:solidFill>
              <a:srgbClr val="447EE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028432" y="4261104"/>
            <a:ext cx="822960" cy="0"/>
          </a:xfrm>
          <a:prstGeom prst="line">
            <a:avLst/>
          </a:prstGeom>
          <a:ln w="19050">
            <a:solidFill>
              <a:srgbClr val="447EE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66928" y="3785616"/>
            <a:ext cx="1938528" cy="932688"/>
          </a:xfrm>
          <a:prstGeom prst="rect">
            <a:avLst/>
          </a:prstGeom>
          <a:solidFill>
            <a:srgbClr val="EFF6FC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l">
              <a:spcBef>
                <a:spcPts val="0"/>
              </a:spcBef>
              <a:spcAft>
                <a:spcPts val="500"/>
              </a:spcAft>
              <a:defRPr sz="1300" b="1">
                <a:solidFill>
                  <a:srgbClr val="122D5B"/>
                </a:solidFill>
                <a:latin typeface="Arial"/>
              </a:defRPr>
            </a:pPr>
            <a:r>
              <a:rPr sz="1300" b="1">
                <a:solidFill>
                  <a:srgbClr val="091F4E"/>
                </a:solidFill>
                <a:latin typeface="Arial"/>
              </a:rPr>
              <a:t>Init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233045"/>
                </a:solidFill>
                <a:latin typeface="Arial"/>
              </a:rPr>
              <a:t>Known starting state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28416" y="3785616"/>
            <a:ext cx="1938528" cy="932688"/>
          </a:xfrm>
          <a:prstGeom prst="rect">
            <a:avLst/>
          </a:prstGeom>
          <a:solidFill>
            <a:srgbClr val="EFF6FC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l">
              <a:spcBef>
                <a:spcPts val="0"/>
              </a:spcBef>
              <a:spcAft>
                <a:spcPts val="500"/>
              </a:spcAft>
              <a:defRPr sz="1300" b="1">
                <a:solidFill>
                  <a:srgbClr val="122D5B"/>
                </a:solidFill>
                <a:latin typeface="Arial"/>
              </a:defRPr>
            </a:pPr>
            <a:r>
              <a:rPr sz="1300" b="1">
                <a:solidFill>
                  <a:srgbClr val="091F4E"/>
                </a:solidFill>
                <a:latin typeface="Arial"/>
              </a:rPr>
              <a:t>Quote events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233045"/>
                </a:solidFill>
                <a:latin typeface="Arial"/>
              </a:rPr>
              <a:t>Update private state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9904" y="3785616"/>
            <a:ext cx="1938528" cy="932688"/>
          </a:xfrm>
          <a:prstGeom prst="rect">
            <a:avLst/>
          </a:prstGeom>
          <a:solidFill>
            <a:srgbClr val="EFF6FC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l">
              <a:spcBef>
                <a:spcPts val="0"/>
              </a:spcBef>
              <a:spcAft>
                <a:spcPts val="500"/>
              </a:spcAft>
              <a:defRPr sz="1300" b="1">
                <a:solidFill>
                  <a:srgbClr val="122D5B"/>
                </a:solidFill>
                <a:latin typeface="Arial"/>
              </a:defRPr>
            </a:pPr>
            <a:r>
              <a:rPr sz="1300" b="1">
                <a:solidFill>
                  <a:srgbClr val="091F4E"/>
                </a:solidFill>
                <a:latin typeface="Arial"/>
              </a:rPr>
              <a:t>Signal events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233045"/>
                </a:solidFill>
                <a:latin typeface="Arial"/>
              </a:rPr>
              <a:t>Defined outputs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51392" y="3785616"/>
            <a:ext cx="1938528" cy="932688"/>
          </a:xfrm>
          <a:prstGeom prst="rect">
            <a:avLst/>
          </a:prstGeom>
          <a:solidFill>
            <a:srgbClr val="EFF6FC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l">
              <a:spcBef>
                <a:spcPts val="0"/>
              </a:spcBef>
              <a:spcAft>
                <a:spcPts val="500"/>
              </a:spcAft>
              <a:defRPr sz="1300" b="1">
                <a:solidFill>
                  <a:srgbClr val="122D5B"/>
                </a:solidFill>
                <a:latin typeface="Arial"/>
              </a:defRPr>
            </a:pPr>
            <a:r>
              <a:rPr sz="1300" b="1">
                <a:solidFill>
                  <a:srgbClr val="091F4E"/>
                </a:solidFill>
                <a:latin typeface="Arial"/>
              </a:rPr>
              <a:t>Reset / restore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233045"/>
                </a:solidFill>
                <a:latin typeface="Arial"/>
              </a:rPr>
              <a:t>Defined lifecycle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029200"/>
            <a:ext cx="1097280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1" i="0">
                <a:solidFill>
                  <a:srgbClr val="122D5B"/>
                </a:solidFill>
                <a:latin typeface="Arial"/>
              </a:defRPr>
            </a:pPr>
            <a:r>
              <a:t>Stateful variation can be local when other subgraphs do not depend on hidden internal state.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" y="6537960"/>
            <a:ext cx="530352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9" b="1" i="0">
                <a:solidFill>
                  <a:srgbClr val="6F757C"/>
                </a:solidFill>
                <a:latin typeface="Arial"/>
              </a:defRPr>
            </a:pPr>
            <a:r>
              <a:t>DESIGNING FOR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537960"/>
            <a:ext cx="41148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6F757C"/>
                </a:solidFill>
                <a:latin typeface="Arial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164592"/>
            <a:ext cx="905256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122D5B"/>
                </a:solidFill>
                <a:latin typeface="Arial"/>
              </a:defRPr>
            </a:pPr>
            <a:r>
              <a:t>02 / DESIGNING FOR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27080" y="164592"/>
            <a:ext cx="86868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6F757C"/>
                </a:solidFill>
                <a:latin typeface="Arial"/>
              </a:defRPr>
            </a:pPr>
            <a:r>
              <a:t>12 /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512064"/>
            <a:ext cx="11201400" cy="6217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50" b="0" i="0">
                <a:solidFill>
                  <a:srgbClr val="2D63DA"/>
                </a:solidFill>
                <a:latin typeface="Arial"/>
              </a:defRPr>
            </a:pPr>
            <a:r>
              <a:t>A replaceable boundary needs clear behavioural commitments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" y="1243584"/>
            <a:ext cx="11475720" cy="16459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764792"/>
          <a:ext cx="1097280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229600"/>
              </a:tblGrid>
              <a:tr h="6781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Contract dimension</a:t>
                      </a:r>
                    </a:p>
                  </a:txBody>
                  <a:tcPr marL="91440" marR="91440" marT="64008" marB="64008">
                    <a:solidFill>
                      <a:srgbClr val="2D63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An example for an alpha subgraph</a:t>
                      </a:r>
                    </a:p>
                  </a:txBody>
                  <a:tcPr marL="91440" marR="91440" marT="64008" marB="64008">
                    <a:solidFill>
                      <a:srgbClr val="2D63DA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122D5B"/>
                          </a:solidFill>
                          <a:latin typeface="Arial"/>
                        </a:defRPr>
                      </a:pPr>
                      <a:r>
                        <a:t>Inputs</a:t>
                      </a:r>
                    </a:p>
                  </a:txBody>
                  <a:tcPr marL="91440" marR="91440" marT="64008" marB="64008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252A30"/>
                          </a:solidFill>
                          <a:latin typeface="Arial"/>
                        </a:defRPr>
                      </a:pPr>
                      <a:r>
                        <a:t>Eligible feature events; instrument, time, validity and units defined</a:t>
                      </a:r>
                    </a:p>
                  </a:txBody>
                  <a:tcPr marL="91440" marR="91440" marT="64008" marB="64008">
                    <a:solidFill>
                      <a:srgbClr val="F7F9FB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122D5B"/>
                          </a:solidFill>
                          <a:latin typeface="Arial"/>
                        </a:defRPr>
                      </a:pPr>
                      <a:r>
                        <a:t>Outputs</a:t>
                      </a:r>
                    </a:p>
                  </a:txBody>
                  <a:tcPr marL="91440" marR="91440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252A30"/>
                          </a:solidFill>
                          <a:latin typeface="Arial"/>
                        </a:defRPr>
                      </a:pPr>
                      <a:r>
                        <a:t>Alpha estimate with a defined horizon and quality meaning</a:t>
                      </a:r>
                    </a:p>
                  </a:txBody>
                  <a:tcPr marL="91440" marR="91440" marT="64008" marB="64008"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122D5B"/>
                          </a:solidFill>
                          <a:latin typeface="Arial"/>
                        </a:defRPr>
                      </a:pPr>
                      <a:r>
                        <a:t>State lifecycle</a:t>
                      </a:r>
                    </a:p>
                  </a:txBody>
                  <a:tcPr marL="91440" marR="91440" marT="64008" marB="64008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252A30"/>
                          </a:solidFill>
                          <a:latin typeface="Arial"/>
                        </a:defRPr>
                      </a:pPr>
                      <a:r>
                        <a:t>Initialise, reset and restore with repeatable event behaviour</a:t>
                      </a:r>
                    </a:p>
                  </a:txBody>
                  <a:tcPr marL="91440" marR="91440" marT="64008" marB="64008">
                    <a:solidFill>
                      <a:srgbClr val="F7F9FB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122D5B"/>
                          </a:solidFill>
                          <a:latin typeface="Arial"/>
                        </a:defRPr>
                      </a:pPr>
                      <a:r>
                        <a:t>Effects</a:t>
                      </a:r>
                    </a:p>
                  </a:txBody>
                  <a:tcPr marL="91440" marR="91440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252A30"/>
                          </a:solidFill>
                          <a:latin typeface="Arial"/>
                        </a:defRPr>
                      </a:pPr>
                      <a:r>
                        <a:t>Private internal state; no unannounced writes to other subgraphs</a:t>
                      </a:r>
                    </a:p>
                  </a:txBody>
                  <a:tcPr marL="91440" marR="91440" marT="64008" marB="64008"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122D5B"/>
                          </a:solidFill>
                          <a:latin typeface="Arial"/>
                        </a:defRPr>
                      </a:pPr>
                      <a:r>
                        <a:t>Allowed variation</a:t>
                      </a:r>
                    </a:p>
                  </a:txBody>
                  <a:tcPr marL="91440" marR="91440" marT="64008" marB="64008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252A30"/>
                          </a:solidFill>
                          <a:latin typeface="Arial"/>
                        </a:defRPr>
                      </a:pPr>
                      <a:r>
                        <a:t>Weights, gating, composition, model logic and internal states</a:t>
                      </a:r>
                    </a:p>
                  </a:txBody>
                  <a:tcPr marL="91440" marR="91440" marT="64008" marB="64008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2648" y="6016752"/>
            <a:ext cx="10927080" cy="47548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1" i="0">
                <a:solidFill>
                  <a:srgbClr val="122D5B"/>
                </a:solidFill>
                <a:latin typeface="Arial"/>
              </a:defRPr>
            </a:pPr>
            <a:r>
              <a:t>The implementation may be different; the agreed business meaning at the boundary remains dependable.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" y="6537960"/>
            <a:ext cx="530352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9" b="1" i="0">
                <a:solidFill>
                  <a:srgbClr val="6F757C"/>
                </a:solidFill>
                <a:latin typeface="Arial"/>
              </a:defRPr>
            </a:pPr>
            <a:r>
              <a:t>DESIGNING FOR CHANGE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537960"/>
            <a:ext cx="41148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6F757C"/>
                </a:solidFill>
                <a:latin typeface="Arial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164592"/>
            <a:ext cx="905256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122D5B"/>
                </a:solidFill>
                <a:latin typeface="Arial"/>
              </a:defRPr>
            </a:pPr>
            <a:r>
              <a:t>02 / DESIGNING FOR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27080" y="164592"/>
            <a:ext cx="86868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6F757C"/>
                </a:solidFill>
                <a:latin typeface="Arial"/>
              </a:defRPr>
            </a:pPr>
            <a:r>
              <a:t>13 /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512064"/>
            <a:ext cx="11201400" cy="11155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0" i="0">
                <a:solidFill>
                  <a:srgbClr val="2D63DA"/>
                </a:solidFill>
                <a:latin typeface="Arial"/>
              </a:defRPr>
            </a:pPr>
            <a:r>
              <a:t>The boundary should evolve when research reveals a genuine new requirement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" y="1737360"/>
            <a:ext cx="11475720" cy="16459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249424"/>
            <a:ext cx="5522976" cy="1920240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bIns="73152"/>
          <a:lstStyle/>
          <a:p>
            <a:pPr algn="r">
              <a:spcBef>
                <a:spcPts val="0"/>
              </a:spcBef>
              <a:spcAft>
                <a:spcPts val="9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50" b="1">
                <a:solidFill>
                  <a:srgbClr val="1857CA"/>
                </a:solidFill>
                <a:latin typeface="Arial"/>
              </a:rPr>
              <a:t>EVIDENCE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70" b="1">
                <a:solidFill>
                  <a:srgbClr val="091F4E"/>
                </a:solidFill>
                <a:latin typeface="Arial"/>
              </a:rPr>
              <a:t>What we learned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100" b="0">
                <a:solidFill>
                  <a:srgbClr val="233045"/>
                </a:solidFill>
                <a:latin typeface="Arial"/>
              </a:rPr>
              <a:t>V1 and V2 shared a feature graph and a prediction contract. V3 has a materially different input workflow.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9632" y="2249424"/>
            <a:ext cx="5522976" cy="1920240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bIns="73152"/>
          <a:lstStyle/>
          <a:p>
            <a:pPr algn="r">
              <a:spcBef>
                <a:spcPts val="0"/>
              </a:spcBef>
              <a:spcAft>
                <a:spcPts val="9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50" b="1">
                <a:solidFill>
                  <a:srgbClr val="1857CA"/>
                </a:solidFill>
                <a:latin typeface="Arial"/>
              </a:rPr>
              <a:t>DESIGN UPDATE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70" b="1">
                <a:solidFill>
                  <a:srgbClr val="091F4E"/>
                </a:solidFill>
                <a:latin typeface="Arial"/>
              </a:rPr>
              <a:t>Reasonable response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100" b="0">
                <a:solidFill>
                  <a:srgbClr val="233045"/>
                </a:solidFill>
                <a:latin typeface="Arial"/>
              </a:rPr>
              <a:t>Reconsider which part of the graph is shared, and where the new variation should live.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535424"/>
            <a:ext cx="11265408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defRPr sz="1450" b="1">
                <a:solidFill>
                  <a:srgbClr val="122D5B"/>
                </a:solidFill>
                <a:latin typeface="Arial"/>
              </a:defRPr>
            </a:pPr>
            <a:r>
              <a:t>The design is there to help us change the business logic—not to force new research ideas through an unsuitable interface.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" y="6537960"/>
            <a:ext cx="530352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9" b="1" i="0">
                <a:solidFill>
                  <a:srgbClr val="6F757C"/>
                </a:solidFill>
                <a:latin typeface="Arial"/>
              </a:defRPr>
            </a:pPr>
            <a:r>
              <a:t>DESIGNING FOR 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537960"/>
            <a:ext cx="41148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6F757C"/>
                </a:solidFill>
                <a:latin typeface="Arial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164592"/>
            <a:ext cx="905256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122D5B"/>
                </a:solidFill>
                <a:latin typeface="Arial"/>
              </a:defRPr>
            </a:pPr>
            <a:r>
              <a:t>02 / DESIGNING FOR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27080" y="164592"/>
            <a:ext cx="86868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6F757C"/>
                </a:solidFill>
                <a:latin typeface="Arial"/>
              </a:defRPr>
            </a:pPr>
            <a:r>
              <a:t>14 /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512064"/>
            <a:ext cx="11201400" cy="6217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50" b="0" i="0">
                <a:solidFill>
                  <a:srgbClr val="2D63DA"/>
                </a:solidFill>
                <a:latin typeface="Arial"/>
              </a:defRPr>
            </a:pPr>
            <a:r>
              <a:t>The same principle applies to business workflows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" y="1243584"/>
            <a:ext cx="11475720" cy="16459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55648"/>
            <a:ext cx="5522976" cy="1920240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r">
              <a:spcBef>
                <a:spcPts val="0"/>
              </a:spcBef>
              <a:spcAft>
                <a:spcPts val="8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50" b="1">
                <a:solidFill>
                  <a:srgbClr val="1857CA"/>
                </a:solidFill>
                <a:latin typeface="Arial"/>
              </a:rPr>
              <a:t>SYSTEM ARCHITECTURE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091F4E"/>
                </a:solidFill>
                <a:latin typeface="Arial"/>
              </a:rPr>
              <a:t>Technical change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110" b="0">
                <a:solidFill>
                  <a:srgbClr val="233045"/>
                </a:solidFill>
                <a:latin typeface="Arial"/>
              </a:rPr>
              <a:t>Replace a market-data adapter or predictor implementation behind an agreed contract.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9632" y="1755648"/>
            <a:ext cx="5522976" cy="1920240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r">
              <a:spcBef>
                <a:spcPts val="0"/>
              </a:spcBef>
              <a:spcAft>
                <a:spcPts val="8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50" b="1">
                <a:solidFill>
                  <a:srgbClr val="1857CA"/>
                </a:solidFill>
                <a:latin typeface="Arial"/>
              </a:rPr>
              <a:t>WORKFLOW ARCHITECTURE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091F4E"/>
                </a:solidFill>
                <a:latin typeface="Arial"/>
              </a:rPr>
              <a:t>Business change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110" b="0">
                <a:solidFill>
                  <a:srgbClr val="233045"/>
                </a:solidFill>
                <a:latin typeface="Arial"/>
              </a:rPr>
              <a:t>Replace a way of combining alpha, handling liquidity or making a trading decision while keeping business operations meaningful.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041648"/>
            <a:ext cx="11265408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defRPr sz="1450" b="1">
                <a:solidFill>
                  <a:srgbClr val="122D5B"/>
                </a:solidFill>
                <a:latin typeface="Arial"/>
              </a:defRPr>
            </a:pPr>
            <a:r>
              <a:t>Our next question: can we make business workflows adaptable without making their meaning ambiguous?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" y="6537960"/>
            <a:ext cx="530352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9" b="1" i="0">
                <a:solidFill>
                  <a:srgbClr val="6F757C"/>
                </a:solidFill>
                <a:latin typeface="Arial"/>
              </a:defRPr>
            </a:pPr>
            <a:r>
              <a:t>DESIGNING FOR 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537960"/>
            <a:ext cx="41148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6F757C"/>
                </a:solidFill>
                <a:latin typeface="Arial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164592"/>
            <a:ext cx="905256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122D5B"/>
                </a:solidFill>
                <a:latin typeface="Arial"/>
              </a:defRPr>
            </a:pPr>
            <a:r>
              <a:t>02 / DESIGNING FOR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27080" y="164592"/>
            <a:ext cx="86868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6F757C"/>
                </a:solidFill>
                <a:latin typeface="Arial"/>
              </a:defRPr>
            </a:pPr>
            <a:r>
              <a:t>15 /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512064"/>
            <a:ext cx="11201400" cy="6217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50" b="0" i="0">
                <a:solidFill>
                  <a:srgbClr val="2D63DA"/>
                </a:solidFill>
                <a:latin typeface="Arial"/>
              </a:defRPr>
            </a:pPr>
            <a:r>
              <a:t>A business workflow is a composition of operations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" y="1243584"/>
            <a:ext cx="11475720" cy="16459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17904"/>
            <a:ext cx="31089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2D63DA"/>
                </a:solidFill>
                <a:latin typeface="Arial"/>
              </a:defRPr>
            </a:pPr>
            <a:r>
              <a:t>ILLUSTRATIVE BUSINESS FLOW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12848" y="2706624"/>
            <a:ext cx="502920" cy="0"/>
          </a:xfrm>
          <a:prstGeom prst="line">
            <a:avLst/>
          </a:prstGeom>
          <a:ln w="20320">
            <a:solidFill>
              <a:srgbClr val="447EE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498848" y="2706624"/>
            <a:ext cx="502920" cy="0"/>
          </a:xfrm>
          <a:prstGeom prst="line">
            <a:avLst/>
          </a:prstGeom>
          <a:ln w="20320">
            <a:solidFill>
              <a:srgbClr val="447EE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784848" y="2706624"/>
            <a:ext cx="502920" cy="0"/>
          </a:xfrm>
          <a:prstGeom prst="line">
            <a:avLst/>
          </a:prstGeom>
          <a:ln w="20320">
            <a:solidFill>
              <a:srgbClr val="447EE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070848" y="2706624"/>
            <a:ext cx="502920" cy="0"/>
          </a:xfrm>
          <a:prstGeom prst="line">
            <a:avLst/>
          </a:prstGeom>
          <a:ln w="20320">
            <a:solidFill>
              <a:srgbClr val="447EE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29768" y="2194560"/>
            <a:ext cx="1783080" cy="1024128"/>
          </a:xfrm>
          <a:prstGeom prst="rect">
            <a:avLst/>
          </a:prstGeom>
          <a:solidFill>
            <a:srgbClr val="EFF6FC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l">
              <a:spcBef>
                <a:spcPts val="0"/>
              </a:spcBef>
              <a:spcAft>
                <a:spcPts val="500"/>
              </a:spcAft>
              <a:defRPr sz="1300" b="1">
                <a:solidFill>
                  <a:srgbClr val="122D5B"/>
                </a:solidFill>
                <a:latin typeface="Arial"/>
              </a:defRPr>
            </a:pPr>
            <a:r>
              <a:rPr sz="1300" b="1">
                <a:solidFill>
                  <a:srgbClr val="091F4E"/>
                </a:solidFill>
                <a:latin typeface="Arial"/>
              </a:rPr>
              <a:t>Produce estimates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233045"/>
                </a:solidFill>
                <a:latin typeface="Arial"/>
              </a:rPr>
              <a:t>Forecast and horizon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15768" y="2194560"/>
            <a:ext cx="1783080" cy="1024128"/>
          </a:xfrm>
          <a:prstGeom prst="rect">
            <a:avLst/>
          </a:prstGeom>
          <a:solidFill>
            <a:srgbClr val="EFF6FC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l">
              <a:spcBef>
                <a:spcPts val="0"/>
              </a:spcBef>
              <a:spcAft>
                <a:spcPts val="500"/>
              </a:spcAft>
              <a:defRPr sz="1300" b="1">
                <a:solidFill>
                  <a:srgbClr val="122D5B"/>
                </a:solidFill>
                <a:latin typeface="Arial"/>
              </a:defRPr>
            </a:pPr>
            <a:r>
              <a:rPr sz="1300" b="1">
                <a:solidFill>
                  <a:srgbClr val="091F4E"/>
                </a:solidFill>
                <a:latin typeface="Arial"/>
              </a:rPr>
              <a:t>Compose alpha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233045"/>
                </a:solidFill>
                <a:latin typeface="Arial"/>
              </a:rPr>
              <a:t>Combine estimates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1768" y="2194560"/>
            <a:ext cx="1783080" cy="1024128"/>
          </a:xfrm>
          <a:prstGeom prst="rect">
            <a:avLst/>
          </a:prstGeom>
          <a:solidFill>
            <a:srgbClr val="EFF6FC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l">
              <a:spcBef>
                <a:spcPts val="0"/>
              </a:spcBef>
              <a:spcAft>
                <a:spcPts val="500"/>
              </a:spcAft>
              <a:defRPr sz="1300" b="1">
                <a:solidFill>
                  <a:srgbClr val="122D5B"/>
                </a:solidFill>
                <a:latin typeface="Arial"/>
              </a:defRPr>
            </a:pPr>
            <a:r>
              <a:rPr sz="1300" b="1">
                <a:solidFill>
                  <a:srgbClr val="091F4E"/>
                </a:solidFill>
                <a:latin typeface="Arial"/>
              </a:rPr>
              <a:t>Propose action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233045"/>
                </a:solidFill>
                <a:latin typeface="Arial"/>
              </a:rPr>
              <a:t>Intended change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87768" y="2194560"/>
            <a:ext cx="1783080" cy="1024128"/>
          </a:xfrm>
          <a:prstGeom prst="rect">
            <a:avLst/>
          </a:prstGeom>
          <a:solidFill>
            <a:srgbClr val="EFF6FC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l">
              <a:spcBef>
                <a:spcPts val="0"/>
              </a:spcBef>
              <a:spcAft>
                <a:spcPts val="500"/>
              </a:spcAft>
              <a:defRPr sz="1300" b="1">
                <a:solidFill>
                  <a:srgbClr val="122D5B"/>
                </a:solidFill>
                <a:latin typeface="Arial"/>
              </a:defRPr>
            </a:pPr>
            <a:r>
              <a:rPr sz="1300" b="1">
                <a:solidFill>
                  <a:srgbClr val="091F4E"/>
                </a:solidFill>
                <a:latin typeface="Arial"/>
              </a:rPr>
              <a:t>Assess risk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233045"/>
                </a:solidFill>
                <a:latin typeface="Arial"/>
              </a:rPr>
              <a:t>Permitted action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73768" y="2194560"/>
            <a:ext cx="1783080" cy="1024128"/>
          </a:xfrm>
          <a:prstGeom prst="rect">
            <a:avLst/>
          </a:prstGeom>
          <a:solidFill>
            <a:srgbClr val="EFF6FC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l">
              <a:spcBef>
                <a:spcPts val="0"/>
              </a:spcBef>
              <a:spcAft>
                <a:spcPts val="500"/>
              </a:spcAft>
              <a:defRPr sz="1300" b="1">
                <a:solidFill>
                  <a:srgbClr val="122D5B"/>
                </a:solidFill>
                <a:latin typeface="Arial"/>
              </a:defRPr>
            </a:pPr>
            <a:r>
              <a:rPr sz="1300" b="1">
                <a:solidFill>
                  <a:srgbClr val="091F4E"/>
                </a:solidFill>
                <a:latin typeface="Arial"/>
              </a:rPr>
              <a:t>Send order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233045"/>
                </a:solidFill>
                <a:latin typeface="Arial"/>
              </a:rPr>
              <a:t>External effect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685032"/>
            <a:ext cx="5486400" cy="1298448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r">
              <a:spcBef>
                <a:spcPts val="0"/>
              </a:spcBef>
              <a:spcAft>
                <a:spcPts val="8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20" b="1">
                <a:solidFill>
                  <a:srgbClr val="1857CA"/>
                </a:solidFill>
                <a:latin typeface="Arial"/>
              </a:rPr>
              <a:t>BUSINESS CAPABILITY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91F4E"/>
                </a:solidFill>
                <a:latin typeface="Arial"/>
              </a:rPr>
              <a:t>Operation meaning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050" b="0">
                <a:solidFill>
                  <a:srgbClr val="233045"/>
                </a:solidFill>
                <a:latin typeface="Arial"/>
              </a:rPr>
              <a:t>What it accepts, promises to produce and is permitted to change.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6208" y="3685032"/>
            <a:ext cx="5486400" cy="1298448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r">
              <a:spcBef>
                <a:spcPts val="0"/>
              </a:spcBef>
              <a:spcAft>
                <a:spcPts val="8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20" b="1">
                <a:solidFill>
                  <a:srgbClr val="1857CA"/>
                </a:solidFill>
                <a:latin typeface="Arial"/>
              </a:rPr>
              <a:t>RESEARCH DECISION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91F4E"/>
                </a:solidFill>
                <a:latin typeface="Arial"/>
              </a:rPr>
              <a:t>Workflow variation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050" b="0">
                <a:solidFill>
                  <a:srgbClr val="233045"/>
                </a:solidFill>
                <a:latin typeface="Arial"/>
              </a:rPr>
              <a:t>Which operations are used, in what circumstances, and how their results are connected.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239512"/>
            <a:ext cx="1097280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1" i="0">
                <a:solidFill>
                  <a:srgbClr val="122D5B"/>
                </a:solidFill>
                <a:latin typeface="Arial"/>
              </a:defRPr>
            </a:pPr>
            <a:r>
              <a:t>The workflow can evolve while the meaning of its constituent operations remains dependable.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" y="6537960"/>
            <a:ext cx="530352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9" b="1" i="0">
                <a:solidFill>
                  <a:srgbClr val="6F757C"/>
                </a:solidFill>
                <a:latin typeface="Arial"/>
              </a:defRPr>
            </a:pPr>
            <a:r>
              <a:t>DESIGNING FOR CHANGE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84280" y="6537960"/>
            <a:ext cx="41148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6F757C"/>
                </a:solidFill>
                <a:latin typeface="Arial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164592"/>
            <a:ext cx="905256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122D5B"/>
                </a:solidFill>
                <a:latin typeface="Arial"/>
              </a:defRPr>
            </a:pPr>
            <a:r>
              <a:t>02 / DESIGNING FOR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27080" y="164592"/>
            <a:ext cx="86868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6F757C"/>
                </a:solidFill>
                <a:latin typeface="Arial"/>
              </a:defRPr>
            </a:pPr>
            <a:r>
              <a:t>16 /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512064"/>
            <a:ext cx="11201400" cy="11155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0" i="0">
                <a:solidFill>
                  <a:srgbClr val="2D63DA"/>
                </a:solidFill>
                <a:latin typeface="Arial"/>
              </a:defRPr>
            </a:pPr>
            <a:r>
              <a:t>Experiment with alpha composition without rebuilding the whole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" y="1737360"/>
            <a:ext cx="11475720" cy="16459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56816"/>
            <a:ext cx="640080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2D63DA"/>
                </a:solidFill>
                <a:latin typeface="Arial"/>
              </a:defRPr>
            </a:pPr>
            <a:r>
              <a:t>SAME AVAILABLE ESTIMATES · DIFFERENT COMPOSITION 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04288"/>
            <a:ext cx="365760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6F757C"/>
                </a:solidFill>
                <a:latin typeface="Arial"/>
              </a:defRPr>
            </a:pPr>
            <a:r>
              <a:t>SHARED WHERE SEMANTICS AGREE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688336"/>
            <a:ext cx="3246120" cy="1417320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Bef>
                <a:spcPts val="0"/>
              </a:spcBef>
              <a:spcAft>
                <a:spcPts val="6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1600" b="1">
                <a:solidFill>
                  <a:srgbClr val="091F4E"/>
                </a:solidFill>
                <a:latin typeface="Arial"/>
              </a:rPr>
              <a:t>Input meanings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80" b="0">
                <a:solidFill>
                  <a:srgbClr val="233045"/>
                </a:solidFill>
                <a:latin typeface="Arial"/>
              </a:rPr>
              <a:t>Clock, instrument, validity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2688336"/>
            <a:ext cx="3246120" cy="1417320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Bef>
                <a:spcPts val="0"/>
              </a:spcBef>
              <a:spcAft>
                <a:spcPts val="6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1600" b="1">
                <a:solidFill>
                  <a:srgbClr val="091F4E"/>
                </a:solidFill>
                <a:latin typeface="Arial"/>
              </a:rPr>
              <a:t>Variant workflow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80" b="0">
                <a:solidFill>
                  <a:srgbClr val="233045"/>
                </a:solidFill>
                <a:latin typeface="Arial"/>
              </a:rPr>
              <a:t>Different composition logic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18120" y="2688336"/>
            <a:ext cx="3246120" cy="1417320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73152"/>
          <a:lstStyle/>
          <a:p>
            <a:pPr algn="l">
              <a:spcBef>
                <a:spcPts val="0"/>
              </a:spcBef>
              <a:spcAft>
                <a:spcPts val="6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1600" b="1">
                <a:solidFill>
                  <a:srgbClr val="091F4E"/>
                </a:solidFill>
                <a:latin typeface="Arial"/>
              </a:rPr>
              <a:t>Shared downstream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80" b="0">
                <a:solidFill>
                  <a:srgbClr val="233045"/>
                </a:solidFill>
                <a:latin typeface="Arial"/>
              </a:rPr>
              <a:t>Alpha with defined horizon; Consistent decisions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49039" y="3401568"/>
            <a:ext cx="411481" cy="0"/>
          </a:xfrm>
          <a:prstGeom prst="line">
            <a:avLst/>
          </a:prstGeom>
          <a:ln w="20320">
            <a:solidFill>
              <a:srgbClr val="447EE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406640" y="3401568"/>
            <a:ext cx="411480" cy="0"/>
          </a:xfrm>
          <a:prstGeom prst="line">
            <a:avLst/>
          </a:prstGeom>
          <a:ln w="20320">
            <a:solidFill>
              <a:srgbClr val="447EE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60520" y="4334256"/>
            <a:ext cx="411480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2D63DA"/>
                </a:solidFill>
                <a:latin typeface="Arial"/>
              </a:defRPr>
            </a:pPr>
            <a:r>
              <a:t>Example swappable composition rules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4681728"/>
            <a:ext cx="1600200" cy="713232"/>
          </a:xfrm>
          <a:prstGeom prst="rect">
            <a:avLst/>
          </a:prstGeom>
          <a:solidFill>
            <a:srgbClr val="E5EFFD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22D5B"/>
                </a:solidFill>
                <a:latin typeface="Arial"/>
              </a:defRPr>
            </a:pPr>
            <a:r>
              <a:rPr sz="1120" b="1">
                <a:solidFill>
                  <a:srgbClr val="091F4E"/>
                </a:solidFill>
                <a:latin typeface="Arial"/>
              </a:rPr>
              <a:t>Fixed weights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4681728"/>
            <a:ext cx="1600200" cy="713232"/>
          </a:xfrm>
          <a:prstGeom prst="rect">
            <a:avLst/>
          </a:prstGeom>
          <a:solidFill>
            <a:srgbClr val="E5EFFD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22D5B"/>
                </a:solidFill>
                <a:latin typeface="Arial"/>
              </a:defRPr>
            </a:pPr>
            <a:r>
              <a:rPr sz="1120" b="1">
                <a:solidFill>
                  <a:srgbClr val="091F4E"/>
                </a:solidFill>
                <a:latin typeface="Arial"/>
              </a:rPr>
              <a:t>Liquidity-aware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18120" y="4681728"/>
            <a:ext cx="1600200" cy="713232"/>
          </a:xfrm>
          <a:prstGeom prst="rect">
            <a:avLst/>
          </a:prstGeom>
          <a:solidFill>
            <a:srgbClr val="E5EFFD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22D5B"/>
                </a:solidFill>
                <a:latin typeface="Arial"/>
              </a:defRPr>
            </a:pPr>
            <a:r>
              <a:rPr sz="1120" b="1">
                <a:solidFill>
                  <a:srgbClr val="091F4E"/>
                </a:solidFill>
                <a:latin typeface="Arial"/>
              </a:rPr>
              <a:t>Regime-based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806440"/>
            <a:ext cx="1097280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40" b="1" i="0">
                <a:solidFill>
                  <a:srgbClr val="122D5B"/>
                </a:solidFill>
                <a:latin typeface="Arial"/>
              </a:defRPr>
            </a:pPr>
            <a:r>
              <a:t>A new experiment changes the intended business logic; other compatible capabilities can be reused.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" y="6537960"/>
            <a:ext cx="530352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9" b="1" i="0">
                <a:solidFill>
                  <a:srgbClr val="6F757C"/>
                </a:solidFill>
                <a:latin typeface="Arial"/>
              </a:defRPr>
            </a:pPr>
            <a:r>
              <a:t>DESIGNING FOR CHANGE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537960"/>
            <a:ext cx="41148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6F757C"/>
                </a:solidFill>
                <a:latin typeface="Arial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164592"/>
            <a:ext cx="905256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122D5B"/>
                </a:solidFill>
                <a:latin typeface="Arial"/>
              </a:defRPr>
            </a:pPr>
            <a:r>
              <a:t>02 / DESIGNING FOR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27080" y="164592"/>
            <a:ext cx="86868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6F757C"/>
                </a:solidFill>
                <a:latin typeface="Arial"/>
              </a:defRPr>
            </a:pPr>
            <a:r>
              <a:t>17 /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512064"/>
            <a:ext cx="11201400" cy="11155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0" i="0">
                <a:solidFill>
                  <a:srgbClr val="2D63DA"/>
                </a:solidFill>
                <a:latin typeface="Arial"/>
              </a:defRPr>
            </a:pPr>
            <a:r>
              <a:t>We can also experiment with how business decisions are connected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" y="1737360"/>
            <a:ext cx="11475720" cy="16459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194560"/>
            <a:ext cx="5504688" cy="1627632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r">
              <a:spcBef>
                <a:spcPts val="0"/>
              </a:spcBef>
              <a:spcAft>
                <a:spcPts val="8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50" b="1">
                <a:solidFill>
                  <a:srgbClr val="1857CA"/>
                </a:solidFill>
                <a:latin typeface="Arial"/>
              </a:rPr>
              <a:t>BUSINESS EXPERIMENT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091F4E"/>
                </a:solidFill>
                <a:latin typeface="Arial"/>
              </a:rPr>
              <a:t>Workflow A · Default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110" b="0">
                <a:solidFill>
                  <a:srgbClr val="233045"/>
                </a:solidFill>
                <a:latin typeface="Arial"/>
              </a:rPr>
              <a:t>Combine estimates, then create a proposal whenever a defined alpha threshold is crossed.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2194560"/>
            <a:ext cx="5504688" cy="1627632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r">
              <a:spcBef>
                <a:spcPts val="0"/>
              </a:spcBef>
              <a:spcAft>
                <a:spcPts val="8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50" b="1">
                <a:solidFill>
                  <a:srgbClr val="1857CA"/>
                </a:solidFill>
                <a:latin typeface="Arial"/>
              </a:rPr>
              <a:t>BUSINESS EXPERIMENT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091F4E"/>
                </a:solidFill>
                <a:latin typeface="Arial"/>
              </a:rPr>
              <a:t>Workflow B · Liquidity-aware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110" b="0">
                <a:solidFill>
                  <a:srgbClr val="233045"/>
                </a:solidFill>
                <a:latin typeface="Arial"/>
              </a:rPr>
              <a:t>Combine estimates, but only create a proposal when the liquidity condition is satisfied.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087368"/>
            <a:ext cx="365760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2D63DA"/>
                </a:solidFill>
                <a:latin typeface="Arial"/>
              </a:defRPr>
            </a:pPr>
            <a:r>
              <a:t>WHAT REMAINS UNDERSTANDABLE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4425696"/>
          <a:ext cx="7498079" cy="1627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3749040"/>
              </a:tblGrid>
              <a:tr h="406908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22D5B"/>
                          </a:solidFill>
                          <a:latin typeface="Arial"/>
                        </a:defRPr>
                      </a:pPr>
                      <a:r>
                        <a:t>Alpha estimate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52A30"/>
                          </a:solidFill>
                          <a:latin typeface="Arial"/>
                        </a:defRPr>
                      </a:pPr>
                      <a:r>
                        <a:t>A defined prediction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22D5B"/>
                          </a:solidFill>
                          <a:latin typeface="Arial"/>
                        </a:defRPr>
                      </a:pPr>
                      <a:r>
                        <a:t>Proposal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52A30"/>
                          </a:solidFill>
                          <a:latin typeface="Arial"/>
                        </a:defRPr>
                      </a:pPr>
                      <a:r>
                        <a:t>An intended 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22D5B"/>
                          </a:solidFill>
                          <a:latin typeface="Arial"/>
                        </a:defRPr>
                      </a:pPr>
                      <a:r>
                        <a:t>Risk assessment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52A30"/>
                          </a:solidFill>
                          <a:latin typeface="Arial"/>
                        </a:defRPr>
                      </a:pPr>
                      <a:r>
                        <a:t>Separate decision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22D5B"/>
                          </a:solidFill>
                          <a:latin typeface="Arial"/>
                        </a:defRPr>
                      </a:pPr>
                      <a:r>
                        <a:t>Order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52A30"/>
                          </a:solidFill>
                          <a:latin typeface="Arial"/>
                        </a:defRPr>
                      </a:pPr>
                      <a:r>
                        <a:t>Explicit external 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8275320" y="4425696"/>
            <a:ext cx="3438144" cy="1627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defRPr sz="1320" b="1">
                <a:solidFill>
                  <a:srgbClr val="122D5B"/>
                </a:solidFill>
                <a:latin typeface="Arial"/>
              </a:defRPr>
            </a:pPr>
            <a:r>
              <a:t>Flexibility means we can change the way operations are composed while keeping their business commitments explicit.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" y="6537960"/>
            <a:ext cx="530352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9" b="1" i="0">
                <a:solidFill>
                  <a:srgbClr val="6F757C"/>
                </a:solidFill>
                <a:latin typeface="Arial"/>
              </a:defRPr>
            </a:pPr>
            <a:r>
              <a:t>DESIGNING FOR CHANGE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84280" y="6537960"/>
            <a:ext cx="41148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6F757C"/>
                </a:solidFill>
                <a:latin typeface="Arial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164592"/>
            <a:ext cx="905256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122D5B"/>
                </a:solidFill>
                <a:latin typeface="Arial"/>
              </a:defRPr>
            </a:pPr>
            <a:r>
              <a:t>02 / DESIGNING FOR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27080" y="164592"/>
            <a:ext cx="86868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6F757C"/>
                </a:solidFill>
                <a:latin typeface="Arial"/>
              </a:defRPr>
            </a:pPr>
            <a:r>
              <a:t>18 /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512064"/>
            <a:ext cx="11201400" cy="11155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0" i="0">
                <a:solidFill>
                  <a:srgbClr val="2D63DA"/>
                </a:solidFill>
                <a:latin typeface="Arial"/>
              </a:defRPr>
            </a:pPr>
            <a:r>
              <a:t>Repeated copying and excessive generalisation can both slow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" y="1737360"/>
            <a:ext cx="11475720" cy="16459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249424"/>
            <a:ext cx="5522976" cy="1920240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r">
              <a:spcBef>
                <a:spcPts val="0"/>
              </a:spcBef>
              <a:spcAft>
                <a:spcPts val="8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50" b="1">
                <a:solidFill>
                  <a:srgbClr val="1857CA"/>
                </a:solidFill>
                <a:latin typeface="Arial"/>
              </a:rPr>
              <a:t>REPEATED PIPELINES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091F4E"/>
                </a:solidFill>
                <a:latin typeface="Arial"/>
              </a:rPr>
              <a:t>Copy each workflow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110" b="0">
                <a:solidFill>
                  <a:srgbClr val="233045"/>
                </a:solidFill>
                <a:latin typeface="Arial"/>
              </a:rPr>
              <a:t>Each variant gets its own feed, features, decisions and fixes. Similar workflows drift apart.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9632" y="2249424"/>
            <a:ext cx="5522976" cy="1920240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r">
              <a:spcBef>
                <a:spcPts val="0"/>
              </a:spcBef>
              <a:spcAft>
                <a:spcPts val="8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50" b="1">
                <a:solidFill>
                  <a:srgbClr val="1857CA"/>
                </a:solidFill>
                <a:latin typeface="Arial"/>
              </a:rPr>
              <a:t>EXCESSIVE GENERALISATION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091F4E"/>
                </a:solidFill>
                <a:latin typeface="Arial"/>
              </a:rPr>
              <a:t>One universal configurable workflow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110" b="0">
                <a:solidFill>
                  <a:srgbClr val="233045"/>
                </a:solidFill>
                <a:latin typeface="Arial"/>
              </a:rPr>
              <a:t>More flags, interacting modes and special handling accumulate within the same component.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535424"/>
            <a:ext cx="11265408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defRPr sz="1450" b="1">
                <a:solidFill>
                  <a:srgbClr val="122D5B"/>
                </a:solidFill>
                <a:latin typeface="Arial"/>
              </a:defRPr>
            </a:pPr>
            <a:r>
              <a:t>A good design is not the one with the fewest classes; it is the one that makes repeated business changes understandable.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" y="6537960"/>
            <a:ext cx="530352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9" b="1" i="0">
                <a:solidFill>
                  <a:srgbClr val="6F757C"/>
                </a:solidFill>
                <a:latin typeface="Arial"/>
              </a:defRPr>
            </a:pPr>
            <a:r>
              <a:t>DESIGNING FOR 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537960"/>
            <a:ext cx="41148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6F757C"/>
                </a:solidFill>
                <a:latin typeface="Arial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914400"/>
            <a:ext cx="2011680" cy="10058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000" b="1" i="0">
                <a:solidFill>
                  <a:srgbClr val="DAE7F6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1051560"/>
            <a:ext cx="8778240" cy="10972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100" b="0" i="0">
                <a:solidFill>
                  <a:srgbClr val="2D63DA"/>
                </a:solidFill>
                <a:latin typeface="Arial"/>
              </a:defRPr>
            </a:pPr>
            <a:r>
              <a:t>Aligning Software Objects and Operations with Business Definitions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42032" y="2286000"/>
            <a:ext cx="804672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6F757C"/>
                </a:solidFill>
                <a:latin typeface="Arial"/>
              </a:defRPr>
            </a:pPr>
            <a:r>
              <a:t>Designing for change  •  research agility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2542032" y="3090672"/>
            <a:ext cx="7772400" cy="25603"/>
          </a:xfrm>
          <a:prstGeom prst="rect">
            <a:avLst/>
          </a:prstGeom>
          <a:solidFill>
            <a:srgbClr val="2D6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6F757C"/>
                </a:solidFill>
                <a:latin typeface="Arial"/>
              </a:defRPr>
            </a:pPr>
            <a:r>
              <a:t>03 / BUSINESS DEFINITIONS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10528"/>
            <a:ext cx="4114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F757C"/>
                </a:solidFill>
                <a:latin typeface="Arial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164592"/>
            <a:ext cx="905256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122D5B"/>
                </a:solidFill>
                <a:latin typeface="Arial"/>
              </a:defRPr>
            </a:pPr>
            <a:r>
              <a:t>03 / BUSINESS DEFINITIONS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27080" y="164592"/>
            <a:ext cx="86868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6F757C"/>
                </a:solidFill>
                <a:latin typeface="Arial"/>
              </a:defRPr>
            </a:pPr>
            <a:r>
              <a:t>20 /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512064"/>
            <a:ext cx="11201400" cy="6217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50" b="0" i="0">
                <a:solidFill>
                  <a:srgbClr val="2D63DA"/>
                </a:solidFill>
                <a:latin typeface="Arial"/>
              </a:defRPr>
            </a:pPr>
            <a:r>
              <a:t>A Java type is not yet a complete business definition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" y="1243584"/>
            <a:ext cx="11475720" cy="16459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19072"/>
            <a:ext cx="11247120" cy="640080"/>
          </a:xfrm>
          <a:prstGeom prst="rect">
            <a:avLst/>
          </a:prstGeom>
          <a:solidFill>
            <a:srgbClr val="F9FAFC"/>
          </a:solidFill>
          <a:ln w="1016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defRPr sz="1350" b="1">
                <a:solidFill>
                  <a:srgbClr val="122D5B"/>
                </a:solidFill>
                <a:latin typeface="Arial"/>
              </a:defRPr>
            </a:pPr>
            <a:r>
              <a:t>A METHOD SIGNATURE TELLS ONLY PART OF THE STORY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15184"/>
            <a:ext cx="3310128" cy="2103120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bIns="73152"/>
          <a:lstStyle/>
          <a:p>
            <a:pPr algn="r">
              <a:spcBef>
                <a:spcPts val="0"/>
              </a:spcBef>
              <a:spcAft>
                <a:spcPts val="9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50" b="1">
                <a:solidFill>
                  <a:srgbClr val="1857CA"/>
                </a:solidFill>
                <a:latin typeface="Arial"/>
              </a:rPr>
              <a:t>OBJECT / INSTANCE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70" b="1">
                <a:solidFill>
                  <a:srgbClr val="091F4E"/>
                </a:solidFill>
                <a:latin typeface="Arial"/>
              </a:rPr>
              <a:t>What does it represent?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100" b="0">
                <a:solidFill>
                  <a:srgbClr val="233045"/>
                </a:solidFill>
                <a:latin typeface="Arial"/>
              </a:rPr>
              <a:t>A full book snapshot, a delta or a validated current book state? The instance must carry the right distinction.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24528" y="2615184"/>
            <a:ext cx="3310128" cy="2103120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bIns="73152"/>
          <a:lstStyle/>
          <a:p>
            <a:pPr algn="r">
              <a:spcBef>
                <a:spcPts val="0"/>
              </a:spcBef>
              <a:spcAft>
                <a:spcPts val="9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50" b="1">
                <a:solidFill>
                  <a:srgbClr val="1857CA"/>
                </a:solidFill>
                <a:latin typeface="Arial"/>
              </a:rPr>
              <a:t>DATA DEFINITION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70" b="1">
                <a:solidFill>
                  <a:srgbClr val="091F4E"/>
                </a:solidFill>
                <a:latin typeface="Arial"/>
              </a:rPr>
              <a:t>What do values mean?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100" b="0">
                <a:solidFill>
                  <a:srgbClr val="233045"/>
                </a:solidFill>
                <a:latin typeface="Arial"/>
              </a:rPr>
              <a:t>Instrument, units, event time, availability, validity and update semantics all matter.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1856" y="2615184"/>
            <a:ext cx="3310128" cy="2103120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bIns="73152"/>
          <a:lstStyle/>
          <a:p>
            <a:pPr algn="r">
              <a:spcBef>
                <a:spcPts val="0"/>
              </a:spcBef>
              <a:spcAft>
                <a:spcPts val="9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50" b="1">
                <a:solidFill>
                  <a:srgbClr val="1857CA"/>
                </a:solidFill>
                <a:latin typeface="Arial"/>
              </a:rPr>
              <a:t>OPERATION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70" b="1">
                <a:solidFill>
                  <a:srgbClr val="091F4E"/>
                </a:solidFill>
                <a:latin typeface="Arial"/>
              </a:rPr>
              <a:t>When can it be applied?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100" b="0">
                <a:solidFill>
                  <a:srgbClr val="233045"/>
                </a:solidFill>
                <a:latin typeface="Arial"/>
              </a:rPr>
              <a:t>Defined preconditions, resulting meaning and the state or external effects it may cause.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5029200"/>
            <a:ext cx="10972800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1" i="0">
                <a:solidFill>
                  <a:srgbClr val="122D5B"/>
                </a:solidFill>
                <a:latin typeface="Arial"/>
              </a:defRPr>
            </a:pPr>
            <a:r>
              <a:t>The goal is not more elaborate types. It is less ambiguity between our software representation and the business we intend.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" y="6537960"/>
            <a:ext cx="530352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9" b="1" i="0">
                <a:solidFill>
                  <a:srgbClr val="6F757C"/>
                </a:solidFill>
                <a:latin typeface="Arial"/>
              </a:defRPr>
            </a:pPr>
            <a:r>
              <a:t>BUSINESS DEFINITIONS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84280" y="6537960"/>
            <a:ext cx="41148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6F757C"/>
                </a:solidFill>
                <a:latin typeface="Arial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164592"/>
            <a:ext cx="905256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122D5B"/>
                </a:solidFill>
                <a:latin typeface="Arial"/>
              </a:defRPr>
            </a:pPr>
            <a:r>
              <a:t>03 / BUSINESS DEFINITIONS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27080" y="164592"/>
            <a:ext cx="86868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6F757C"/>
                </a:solidFill>
                <a:latin typeface="Arial"/>
              </a:defRPr>
            </a:pPr>
            <a:r>
              <a:t>21 /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512064"/>
            <a:ext cx="11201400" cy="11155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0" i="0">
                <a:solidFill>
                  <a:srgbClr val="2D63DA"/>
                </a:solidFill>
                <a:latin typeface="Arial"/>
              </a:defRPr>
            </a:pPr>
            <a:r>
              <a:t>Illustration 1: incomplete market-event definitions create special cases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" y="1737360"/>
            <a:ext cx="11475720" cy="16459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139696"/>
            <a:ext cx="5486400" cy="1664208"/>
          </a:xfrm>
          <a:prstGeom prst="rect">
            <a:avLst/>
          </a:prstGeom>
          <a:solidFill>
            <a:srgbClr val="FDF7F6"/>
          </a:solidFill>
          <a:ln w="10160">
            <a:solidFill>
              <a:srgbClr val="F1C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r">
              <a:spcBef>
                <a:spcPts val="0"/>
              </a:spcBef>
              <a:spcAft>
                <a:spcPts val="800"/>
              </a:spcAft>
              <a:defRPr sz="950" b="1">
                <a:solidFill>
                  <a:srgbClr val="D9261C"/>
                </a:solidFill>
                <a:latin typeface="Arial"/>
              </a:defRPr>
            </a:pPr>
            <a:r>
              <a:rPr sz="750" b="1">
                <a:solidFill>
                  <a:srgbClr val="1857CA"/>
                </a:solidFill>
                <a:latin typeface="Arial"/>
              </a:rPr>
              <a:t>AMBIGUOUS REPRESENTATION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091F4E"/>
                </a:solidFill>
                <a:latin typeface="Arial"/>
              </a:rPr>
              <a:t>One generic MarketUpdate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110" b="0">
                <a:solidFill>
                  <a:srgbClr val="233045"/>
                </a:solidFill>
                <a:latin typeface="Arial"/>
              </a:rPr>
              <a:t>Downstream consumers must infer whether an instance is a snapshot, delta or valid reconstructed state. Special flags and checks proliferate.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6208" y="2139696"/>
            <a:ext cx="5486400" cy="1664208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r">
              <a:spcBef>
                <a:spcPts val="0"/>
              </a:spcBef>
              <a:spcAft>
                <a:spcPts val="8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50" b="1">
                <a:solidFill>
                  <a:srgbClr val="1857CA"/>
                </a:solidFill>
                <a:latin typeface="Arial"/>
              </a:rPr>
              <a:t>BETTER-ALIGNED DEFINITIONS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091F4E"/>
                </a:solidFill>
                <a:latin typeface="Arial"/>
              </a:rPr>
              <a:t>Explicit event and book-state roles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110" b="0">
                <a:solidFill>
                  <a:srgbClr val="233045"/>
                </a:solidFill>
                <a:latin typeface="Arial"/>
              </a:rPr>
              <a:t>Snapshot and delta events enter a state builder according to their definitions. Consumers requiring a valid book state receive 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4050791"/>
            <a:ext cx="457200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2D63DA"/>
                </a:solidFill>
                <a:latin typeface="Arial"/>
              </a:defRPr>
            </a:pPr>
            <a:r>
              <a:t>ILLUSTRATIVE · BUSINESS DEFINITIONS IN THE EVENT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498848"/>
            <a:ext cx="1920240" cy="822960"/>
          </a:xfrm>
          <a:prstGeom prst="rect">
            <a:avLst/>
          </a:prstGeom>
          <a:solidFill>
            <a:srgbClr val="EFF6FC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l">
              <a:spcBef>
                <a:spcPts val="0"/>
              </a:spcBef>
              <a:spcAft>
                <a:spcPts val="500"/>
              </a:spcAft>
              <a:defRPr sz="1250" b="1">
                <a:solidFill>
                  <a:srgbClr val="122D5B"/>
                </a:solidFill>
                <a:latin typeface="Arial"/>
              </a:defRPr>
            </a:pPr>
            <a:r>
              <a:rPr sz="1300" b="1">
                <a:solidFill>
                  <a:srgbClr val="091F4E"/>
                </a:solidFill>
                <a:latin typeface="Arial"/>
              </a:rPr>
              <a:t>BookSnapshot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233045"/>
                </a:solidFill>
                <a:latin typeface="Arial"/>
              </a:rPr>
              <a:t>Distinct event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486400"/>
            <a:ext cx="1920240" cy="822960"/>
          </a:xfrm>
          <a:prstGeom prst="rect">
            <a:avLst/>
          </a:prstGeom>
          <a:solidFill>
            <a:srgbClr val="EFF6FC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l">
              <a:spcBef>
                <a:spcPts val="0"/>
              </a:spcBef>
              <a:spcAft>
                <a:spcPts val="500"/>
              </a:spcAft>
              <a:defRPr sz="1250" b="1">
                <a:solidFill>
                  <a:srgbClr val="122D5B"/>
                </a:solidFill>
                <a:latin typeface="Arial"/>
              </a:defRPr>
            </a:pPr>
            <a:r>
              <a:rPr sz="1300" b="1">
                <a:solidFill>
                  <a:srgbClr val="091F4E"/>
                </a:solidFill>
                <a:latin typeface="Arial"/>
              </a:rPr>
              <a:t>BookDelta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233045"/>
                </a:solidFill>
                <a:latin typeface="Arial"/>
              </a:rPr>
              <a:t>Distinct event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51760" y="4910328"/>
            <a:ext cx="1188720" cy="228600"/>
          </a:xfrm>
          <a:prstGeom prst="line">
            <a:avLst/>
          </a:prstGeom>
          <a:ln w="17780">
            <a:solidFill>
              <a:srgbClr val="447EE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651760" y="5294376"/>
            <a:ext cx="1188720" cy="603504"/>
          </a:xfrm>
          <a:prstGeom prst="line">
            <a:avLst/>
          </a:prstGeom>
          <a:ln w="17780">
            <a:solidFill>
              <a:srgbClr val="447EE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840480" y="4773168"/>
            <a:ext cx="2331720" cy="1097280"/>
          </a:xfrm>
          <a:prstGeom prst="rect">
            <a:avLst/>
          </a:prstGeom>
          <a:solidFill>
            <a:srgbClr val="E6EFFC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l">
              <a:spcBef>
                <a:spcPts val="0"/>
              </a:spcBef>
              <a:spcAft>
                <a:spcPts val="500"/>
              </a:spcAft>
              <a:defRPr sz="1300" b="1">
                <a:solidFill>
                  <a:srgbClr val="122D5B"/>
                </a:solidFill>
                <a:latin typeface="Arial"/>
              </a:defRPr>
            </a:pPr>
            <a:r>
              <a:rPr sz="1350" b="1">
                <a:solidFill>
                  <a:srgbClr val="091F4E"/>
                </a:solidFill>
                <a:latin typeface="Arial"/>
              </a:rPr>
              <a:t>State builder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233045"/>
                </a:solidFill>
                <a:latin typeface="Arial"/>
              </a:rPr>
              <a:t>Owns order, validity and reset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172200" y="5321808"/>
            <a:ext cx="1325879" cy="0"/>
          </a:xfrm>
          <a:prstGeom prst="line">
            <a:avLst/>
          </a:prstGeom>
          <a:ln w="20320">
            <a:solidFill>
              <a:srgbClr val="447EE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7498079" y="4773168"/>
            <a:ext cx="2331720" cy="1097280"/>
          </a:xfrm>
          <a:prstGeom prst="rect">
            <a:avLst/>
          </a:prstGeom>
          <a:solidFill>
            <a:srgbClr val="EFF6FC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l">
              <a:spcBef>
                <a:spcPts val="0"/>
              </a:spcBef>
              <a:spcAft>
                <a:spcPts val="500"/>
              </a:spcAft>
              <a:defRPr sz="1300" b="1">
                <a:solidFill>
                  <a:srgbClr val="122D5B"/>
                </a:solidFill>
                <a:latin typeface="Arial"/>
              </a:defRPr>
            </a:pPr>
            <a:r>
              <a:rPr sz="1350" b="1">
                <a:solidFill>
                  <a:srgbClr val="091F4E"/>
                </a:solidFill>
                <a:latin typeface="Arial"/>
              </a:rPr>
              <a:t>ValidBookState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233045"/>
                </a:solidFill>
                <a:latin typeface="Arial"/>
              </a:rPr>
              <a:t>Defined downstream 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12680" y="4681728"/>
            <a:ext cx="1691640" cy="1325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0" b="1" i="0">
                <a:solidFill>
                  <a:srgbClr val="122D5B"/>
                </a:solidFill>
                <a:latin typeface="Arial"/>
              </a:defRPr>
            </a:pPr>
            <a:r>
              <a:t>A clear definition can remove several downstream special cases rather than merely detect them.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" y="6537960"/>
            <a:ext cx="530352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9" b="1" i="0">
                <a:solidFill>
                  <a:srgbClr val="6F757C"/>
                </a:solidFill>
                <a:latin typeface="Arial"/>
              </a:defRPr>
            </a:pPr>
            <a:r>
              <a:t>BUSINESS DEFINITIONS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537960"/>
            <a:ext cx="41148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6F757C"/>
                </a:solidFill>
                <a:latin typeface="Arial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164592"/>
            <a:ext cx="905256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122D5B"/>
                </a:solidFill>
                <a:latin typeface="Arial"/>
              </a:defRPr>
            </a:pPr>
            <a:r>
              <a:t>03 / BUSINESS DEFINITIONS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27080" y="164592"/>
            <a:ext cx="86868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6F757C"/>
                </a:solidFill>
                <a:latin typeface="Arial"/>
              </a:defRPr>
            </a:pPr>
            <a:r>
              <a:t>22 /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512064"/>
            <a:ext cx="11201400" cy="11155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0" i="0">
                <a:solidFill>
                  <a:srgbClr val="2D63DA"/>
                </a:solidFill>
                <a:latin typeface="Arial"/>
              </a:defRPr>
            </a:pPr>
            <a:r>
              <a:t>Illustration 2: an ambiguous target definition can trigger the wrong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" y="1737360"/>
            <a:ext cx="11475720" cy="16459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139696"/>
            <a:ext cx="5486400" cy="1554480"/>
          </a:xfrm>
          <a:prstGeom prst="rect">
            <a:avLst/>
          </a:prstGeom>
          <a:solidFill>
            <a:srgbClr val="FDF7F6"/>
          </a:solidFill>
          <a:ln w="10160">
            <a:solidFill>
              <a:srgbClr val="F1C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r">
              <a:spcBef>
                <a:spcPts val="0"/>
              </a:spcBef>
              <a:spcAft>
                <a:spcPts val="800"/>
              </a:spcAft>
              <a:defRPr sz="950" b="1">
                <a:solidFill>
                  <a:srgbClr val="D9261C"/>
                </a:solidFill>
                <a:latin typeface="Arial"/>
              </a:defRPr>
            </a:pPr>
            <a:r>
              <a:rPr sz="750" b="1">
                <a:solidFill>
                  <a:srgbClr val="1857CA"/>
                </a:solidFill>
                <a:latin typeface="Arial"/>
              </a:rPr>
              <a:t>AMBIGUOUS REPRESENTATION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091F4E"/>
                </a:solidFill>
                <a:latin typeface="Arial"/>
              </a:rPr>
              <a:t>One numeric value: 0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110" b="0">
                <a:solidFill>
                  <a:srgbClr val="233045"/>
                </a:solidFill>
                <a:latin typeface="Arial"/>
              </a:rPr>
              <a:t>Does the instance mean “move to a flat position”, or does it mean “this event generated no new target”? Different consumers may assume different things.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6208" y="2139696"/>
            <a:ext cx="5486400" cy="1554480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r">
              <a:spcBef>
                <a:spcPts val="0"/>
              </a:spcBef>
              <a:spcAft>
                <a:spcPts val="8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50" b="1">
                <a:solidFill>
                  <a:srgbClr val="1857CA"/>
                </a:solidFill>
                <a:latin typeface="Arial"/>
              </a:rPr>
              <a:t>PRECISE BUSINESS DEFINITIONS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091F4E"/>
                </a:solidFill>
                <a:latin typeface="Arial"/>
              </a:rPr>
              <a:t>Two different business cases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110" b="0">
                <a:solidFill>
                  <a:srgbClr val="233045"/>
                </a:solidFill>
                <a:latin typeface="Arial"/>
              </a:rPr>
              <a:t>TargetPosition(0): an explicit desired position. NoNewTarget: no new target event for this workflow.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" y="3931920"/>
            <a:ext cx="347472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2D63DA"/>
                </a:solidFill>
                <a:latin typeface="Arial"/>
              </a:defRPr>
            </a:pPr>
            <a:r>
              <a:t>WORKFLOW APPLICABILITY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00400" y="4846320"/>
            <a:ext cx="1371600" cy="0"/>
          </a:xfrm>
          <a:prstGeom prst="line">
            <a:avLst/>
          </a:prstGeom>
          <a:ln w="20320">
            <a:solidFill>
              <a:srgbClr val="447EE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858000" y="4846320"/>
            <a:ext cx="1371600" cy="0"/>
          </a:xfrm>
          <a:prstGeom prst="line">
            <a:avLst/>
          </a:prstGeom>
          <a:ln w="20320">
            <a:solidFill>
              <a:srgbClr val="447EE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914400" y="4407408"/>
            <a:ext cx="2286000" cy="868680"/>
          </a:xfrm>
          <a:prstGeom prst="rect">
            <a:avLst/>
          </a:prstGeom>
          <a:solidFill>
            <a:srgbClr val="EFF6FC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l">
              <a:spcBef>
                <a:spcPts val="0"/>
              </a:spcBef>
              <a:spcAft>
                <a:spcPts val="500"/>
              </a:spcAft>
              <a:defRPr sz="1300" b="1">
                <a:solidFill>
                  <a:srgbClr val="122D5B"/>
                </a:solidFill>
                <a:latin typeface="Arial"/>
              </a:defRPr>
            </a:pPr>
            <a:r>
              <a:rPr sz="1300" b="1">
                <a:solidFill>
                  <a:srgbClr val="091F4E"/>
                </a:solidFill>
                <a:latin typeface="Arial"/>
              </a:rPr>
              <a:t>Defined input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233045"/>
                </a:solidFill>
                <a:latin typeface="Arial"/>
              </a:rPr>
              <a:t>Business distinction retained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4407408"/>
            <a:ext cx="2286000" cy="868680"/>
          </a:xfrm>
          <a:prstGeom prst="rect">
            <a:avLst/>
          </a:prstGeom>
          <a:solidFill>
            <a:srgbClr val="EFF6FC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l">
              <a:spcBef>
                <a:spcPts val="0"/>
              </a:spcBef>
              <a:spcAft>
                <a:spcPts val="500"/>
              </a:spcAft>
              <a:defRPr sz="1300" b="1">
                <a:solidFill>
                  <a:srgbClr val="122D5B"/>
                </a:solidFill>
                <a:latin typeface="Arial"/>
              </a:defRPr>
            </a:pPr>
            <a:r>
              <a:rPr sz="1300" b="1">
                <a:solidFill>
                  <a:srgbClr val="091F4E"/>
                </a:solidFill>
                <a:latin typeface="Arial"/>
              </a:rPr>
              <a:t>Applicable operation?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233045"/>
                </a:solidFill>
                <a:latin typeface="Arial"/>
              </a:rPr>
              <a:t>Match its conditions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4407408"/>
            <a:ext cx="2286000" cy="868680"/>
          </a:xfrm>
          <a:prstGeom prst="rect">
            <a:avLst/>
          </a:prstGeom>
          <a:solidFill>
            <a:srgbClr val="EFF6FC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l">
              <a:spcBef>
                <a:spcPts val="0"/>
              </a:spcBef>
              <a:spcAft>
                <a:spcPts val="500"/>
              </a:spcAft>
              <a:defRPr sz="1300" b="1">
                <a:solidFill>
                  <a:srgbClr val="122D5B"/>
                </a:solidFill>
                <a:latin typeface="Arial"/>
              </a:defRPr>
            </a:pPr>
            <a:r>
              <a:rPr sz="1300" b="1">
                <a:solidFill>
                  <a:srgbClr val="091F4E"/>
                </a:solidFill>
                <a:latin typeface="Arial"/>
              </a:rPr>
              <a:t>Run or do not trigger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233045"/>
                </a:solidFill>
                <a:latin typeface="Arial"/>
              </a:rPr>
              <a:t>No false 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" y="6537960"/>
            <a:ext cx="530352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9" b="1" i="0">
                <a:solidFill>
                  <a:srgbClr val="6F757C"/>
                </a:solidFill>
                <a:latin typeface="Arial"/>
              </a:defRPr>
            </a:pPr>
            <a:r>
              <a:t>BUSINESS DEFINITIONS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84280" y="6537960"/>
            <a:ext cx="41148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6F757C"/>
                </a:solidFill>
                <a:latin typeface="Arial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164592"/>
            <a:ext cx="905256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122D5B"/>
                </a:solidFill>
                <a:latin typeface="Arial"/>
              </a:defRPr>
            </a:pPr>
            <a:r>
              <a:t>03 / BUSINESS DEFINITIONS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27080" y="164592"/>
            <a:ext cx="86868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6F757C"/>
                </a:solidFill>
                <a:latin typeface="Arial"/>
              </a:defRPr>
            </a:pPr>
            <a:r>
              <a:t>23 /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512064"/>
            <a:ext cx="11201400" cy="11155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0" i="0">
                <a:solidFill>
                  <a:srgbClr val="2D63DA"/>
                </a:solidFill>
                <a:latin typeface="Arial"/>
              </a:defRPr>
            </a:pPr>
            <a:r>
              <a:t>Operations also need definitions that match their business behaviour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" y="1737360"/>
            <a:ext cx="11475720" cy="16459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231136"/>
            <a:ext cx="3310128" cy="2011680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r">
              <a:spcBef>
                <a:spcPts val="0"/>
              </a:spcBef>
              <a:spcAft>
                <a:spcPts val="8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50" b="1">
                <a:solidFill>
                  <a:srgbClr val="1857CA"/>
                </a:solidFill>
                <a:latin typeface="Arial"/>
              </a:rPr>
              <a:t>PREDICTION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091F4E"/>
                </a:solidFill>
                <a:latin typeface="Arial"/>
              </a:rPr>
              <a:t>computeAlpha()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110" b="0">
                <a:solidFill>
                  <a:srgbClr val="233045"/>
                </a:solidFill>
                <a:latin typeface="Arial"/>
              </a:rPr>
              <a:t>Computes or updates a prediction according to a defined horizon; does not itself authorise trading.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24528" y="2231136"/>
            <a:ext cx="3310128" cy="2011680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r">
              <a:spcBef>
                <a:spcPts val="0"/>
              </a:spcBef>
              <a:spcAft>
                <a:spcPts val="8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50" b="1">
                <a:solidFill>
                  <a:srgbClr val="1857CA"/>
                </a:solidFill>
                <a:latin typeface="Arial"/>
              </a:rPr>
              <a:t>STATE CHANGE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091F4E"/>
                </a:solidFill>
                <a:latin typeface="Arial"/>
              </a:rPr>
              <a:t>reserveRiskCapacity()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110" b="0">
                <a:solidFill>
                  <a:srgbClr val="233045"/>
                </a:solidFill>
                <a:latin typeface="Arial"/>
              </a:rPr>
              <a:t>May intentionally change owned risk state; its effect and scope must be explicit.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91856" y="2231136"/>
            <a:ext cx="3310128" cy="2011680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r">
              <a:spcBef>
                <a:spcPts val="0"/>
              </a:spcBef>
              <a:spcAft>
                <a:spcPts val="8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50" b="1">
                <a:solidFill>
                  <a:srgbClr val="1857CA"/>
                </a:solidFill>
                <a:latin typeface="Arial"/>
              </a:rPr>
              <a:t>EXTERNAL EFFECT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091F4E"/>
                </a:solidFill>
                <a:latin typeface="Arial"/>
              </a:rPr>
              <a:t>submitOrder()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110" b="0">
                <a:solidFill>
                  <a:srgbClr val="233045"/>
                </a:solidFill>
                <a:latin typeface="Arial"/>
              </a:rPr>
              <a:t>Sends an external trading instruction; a deliberate and auditable effect.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4526280"/>
            <a:ext cx="320040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2D63DA"/>
                </a:solidFill>
                <a:latin typeface="Arial"/>
              </a:defRPr>
            </a:pPr>
            <a:r>
              <a:t>FOR EACH OPERATION, DEFINE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4818888"/>
          <a:ext cx="7863840" cy="1298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3931920"/>
              </a:tblGrid>
              <a:tr h="432816">
                <a:tc>
                  <a:txBody>
                    <a:bodyPr/>
                    <a:lstStyle/>
                    <a:p>
                      <a:pPr>
                        <a:defRPr sz="1230" b="1">
                          <a:solidFill>
                            <a:srgbClr val="122D5B"/>
                          </a:solidFill>
                          <a:latin typeface="Arial"/>
                        </a:defRPr>
                      </a:pPr>
                      <a:r>
                        <a:t>When applicable?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30" b="0">
                          <a:solidFill>
                            <a:srgbClr val="252A30"/>
                          </a:solidFill>
                          <a:latin typeface="Arial"/>
                        </a:defRPr>
                      </a:pPr>
                      <a:r>
                        <a:t>Inputs, state, preconditions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432816">
                <a:tc>
                  <a:txBody>
                    <a:bodyPr/>
                    <a:lstStyle/>
                    <a:p>
                      <a:pPr>
                        <a:defRPr sz="1230" b="1">
                          <a:solidFill>
                            <a:srgbClr val="122D5B"/>
                          </a:solidFill>
                          <a:latin typeface="Arial"/>
                        </a:defRPr>
                      </a:pPr>
                      <a:r>
                        <a:t>What result?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30" b="0">
                          <a:solidFill>
                            <a:srgbClr val="252A30"/>
                          </a:solidFill>
                          <a:latin typeface="Arial"/>
                        </a:defRPr>
                      </a:pPr>
                      <a:r>
                        <a:t>Meaning and invariants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816">
                <a:tc>
                  <a:txBody>
                    <a:bodyPr/>
                    <a:lstStyle/>
                    <a:p>
                      <a:pPr>
                        <a:defRPr sz="1230" b="1">
                          <a:solidFill>
                            <a:srgbClr val="122D5B"/>
                          </a:solidFill>
                          <a:latin typeface="Arial"/>
                        </a:defRPr>
                      </a:pPr>
                      <a:r>
                        <a:t>What may change?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30" b="0">
                          <a:solidFill>
                            <a:srgbClr val="252A30"/>
                          </a:solidFill>
                          <a:latin typeface="Arial"/>
                        </a:defRPr>
                      </a:pPr>
                      <a:r>
                        <a:t>Owned state, external effects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8549640" y="4818888"/>
            <a:ext cx="3154680" cy="1298448"/>
          </a:xfrm>
          <a:prstGeom prst="rect">
            <a:avLst/>
          </a:prstGeom>
          <a:solidFill>
            <a:srgbClr val="FFFFFF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defRPr sz="1260" b="1">
                <a:solidFill>
                  <a:srgbClr val="122D5B"/>
                </a:solidFill>
                <a:latin typeface="Arial"/>
              </a:defRPr>
            </a:pPr>
            <a:r>
              <a:t>Stateful operations and side effects are not forbidden; unintended or poorly defined effects are the problem.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" y="6537960"/>
            <a:ext cx="530352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9" b="1" i="0">
                <a:solidFill>
                  <a:srgbClr val="6F757C"/>
                </a:solidFill>
                <a:latin typeface="Arial"/>
              </a:defRPr>
            </a:pPr>
            <a:r>
              <a:t>BUSINESS DEFINITIONS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537960"/>
            <a:ext cx="41148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6F757C"/>
                </a:solidFill>
                <a:latin typeface="Arial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164592"/>
            <a:ext cx="905256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122D5B"/>
                </a:solidFill>
                <a:latin typeface="Arial"/>
              </a:defRPr>
            </a:pPr>
            <a:r>
              <a:t>03 / BUSINESS DEFINITIONS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27080" y="164592"/>
            <a:ext cx="86868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6F757C"/>
                </a:solidFill>
                <a:latin typeface="Arial"/>
              </a:defRPr>
            </a:pPr>
            <a:r>
              <a:t>24 /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512064"/>
            <a:ext cx="11201400" cy="11155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0" i="0">
                <a:solidFill>
                  <a:srgbClr val="2D63DA"/>
                </a:solidFill>
                <a:latin typeface="Arial"/>
              </a:defRPr>
            </a:pPr>
            <a:r>
              <a:t>Precise definitions help the correct operations match the correct events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" y="1737360"/>
            <a:ext cx="11475720" cy="16459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029968"/>
            <a:ext cx="219456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2D63DA"/>
                </a:solidFill>
                <a:latin typeface="Arial"/>
              </a:defRPr>
            </a:pPr>
            <a:r>
              <a:t>EVENT ROUTING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51760" y="3081528"/>
            <a:ext cx="594360" cy="0"/>
          </a:xfrm>
          <a:prstGeom prst="line">
            <a:avLst/>
          </a:prstGeom>
          <a:ln w="20320">
            <a:solidFill>
              <a:srgbClr val="447EE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394960" y="3081528"/>
            <a:ext cx="594360" cy="0"/>
          </a:xfrm>
          <a:prstGeom prst="line">
            <a:avLst/>
          </a:prstGeom>
          <a:ln w="20320">
            <a:solidFill>
              <a:srgbClr val="447EE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138160" y="3081528"/>
            <a:ext cx="594360" cy="0"/>
          </a:xfrm>
          <a:prstGeom prst="line">
            <a:avLst/>
          </a:prstGeom>
          <a:ln w="20320">
            <a:solidFill>
              <a:srgbClr val="447EE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02920" y="2596896"/>
            <a:ext cx="2148840" cy="978408"/>
          </a:xfrm>
          <a:prstGeom prst="rect">
            <a:avLst/>
          </a:prstGeom>
          <a:solidFill>
            <a:srgbClr val="EFF6FC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l">
              <a:spcBef>
                <a:spcPts val="0"/>
              </a:spcBef>
              <a:spcAft>
                <a:spcPts val="500"/>
              </a:spcAft>
              <a:defRPr sz="1300" b="1">
                <a:solidFill>
                  <a:srgbClr val="122D5B"/>
                </a:solidFill>
                <a:latin typeface="Arial"/>
              </a:defRPr>
            </a:pPr>
            <a:r>
              <a:rPr sz="1300" b="1">
                <a:solidFill>
                  <a:srgbClr val="091F4E"/>
                </a:solidFill>
                <a:latin typeface="Arial"/>
              </a:rPr>
              <a:t>Validated event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233045"/>
                </a:solidFill>
                <a:latin typeface="Arial"/>
              </a:rPr>
              <a:t>Known meaning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596896"/>
            <a:ext cx="2148840" cy="978408"/>
          </a:xfrm>
          <a:prstGeom prst="rect">
            <a:avLst/>
          </a:prstGeom>
          <a:solidFill>
            <a:srgbClr val="EFF6FC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l">
              <a:spcBef>
                <a:spcPts val="0"/>
              </a:spcBef>
              <a:spcAft>
                <a:spcPts val="500"/>
              </a:spcAft>
              <a:defRPr sz="1300" b="1">
                <a:solidFill>
                  <a:srgbClr val="122D5B"/>
                </a:solidFill>
                <a:latin typeface="Arial"/>
              </a:defRPr>
            </a:pPr>
            <a:r>
              <a:rPr sz="1300" b="1">
                <a:solidFill>
                  <a:srgbClr val="091F4E"/>
                </a:solidFill>
                <a:latin typeface="Arial"/>
              </a:rPr>
              <a:t>Matching condition?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233045"/>
                </a:solidFill>
                <a:latin typeface="Arial"/>
              </a:rPr>
              <a:t>For this workflow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89320" y="2596896"/>
            <a:ext cx="2148840" cy="978408"/>
          </a:xfrm>
          <a:prstGeom prst="rect">
            <a:avLst/>
          </a:prstGeom>
          <a:solidFill>
            <a:srgbClr val="EFF6FC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l">
              <a:spcBef>
                <a:spcPts val="0"/>
              </a:spcBef>
              <a:spcAft>
                <a:spcPts val="500"/>
              </a:spcAft>
              <a:defRPr sz="1300" b="1">
                <a:solidFill>
                  <a:srgbClr val="122D5B"/>
                </a:solidFill>
                <a:latin typeface="Arial"/>
              </a:defRPr>
            </a:pPr>
            <a:r>
              <a:rPr sz="1300" b="1">
                <a:solidFill>
                  <a:srgbClr val="091F4E"/>
                </a:solidFill>
                <a:latin typeface="Arial"/>
              </a:rPr>
              <a:t>Applicable operation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233045"/>
                </a:solidFill>
                <a:latin typeface="Arial"/>
              </a:rPr>
              <a:t>Run if conditions match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32520" y="2596896"/>
            <a:ext cx="2148840" cy="978408"/>
          </a:xfrm>
          <a:prstGeom prst="rect">
            <a:avLst/>
          </a:prstGeom>
          <a:solidFill>
            <a:srgbClr val="EFF6FC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l">
              <a:spcBef>
                <a:spcPts val="0"/>
              </a:spcBef>
              <a:spcAft>
                <a:spcPts val="500"/>
              </a:spcAft>
              <a:defRPr sz="1300" b="1">
                <a:solidFill>
                  <a:srgbClr val="122D5B"/>
                </a:solidFill>
                <a:latin typeface="Arial"/>
              </a:defRPr>
            </a:pPr>
            <a:r>
              <a:rPr sz="1300" b="1">
                <a:solidFill>
                  <a:srgbClr val="091F4E"/>
                </a:solidFill>
                <a:latin typeface="Arial"/>
              </a:rPr>
              <a:t>Next event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233045"/>
                </a:solidFill>
                <a:latin typeface="Arial"/>
              </a:rPr>
              <a:t>With defined meaning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069080"/>
            <a:ext cx="5468112" cy="1435608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r">
              <a:spcBef>
                <a:spcPts val="0"/>
              </a:spcBef>
              <a:spcAft>
                <a:spcPts val="8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20" b="1">
                <a:solidFill>
                  <a:srgbClr val="1857CA"/>
                </a:solidFill>
                <a:latin typeface="Arial"/>
              </a:rPr>
              <a:t>CONTINUE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91F4E"/>
                </a:solidFill>
                <a:latin typeface="Arial"/>
              </a:rPr>
              <a:t>A matching event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050" b="0">
                <a:solidFill>
                  <a:srgbClr val="233045"/>
                </a:solidFill>
                <a:latin typeface="Arial"/>
              </a:rPr>
              <a:t>The business operation runs and may create the next event in the chain.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069080"/>
            <a:ext cx="5468112" cy="1435608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r">
              <a:spcBef>
                <a:spcPts val="0"/>
              </a:spcBef>
              <a:spcAft>
                <a:spcPts val="8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20" b="1">
                <a:solidFill>
                  <a:srgbClr val="1857CA"/>
                </a:solidFill>
                <a:latin typeface="Arial"/>
              </a:rPr>
              <a:t>NO TRIGGER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91F4E"/>
                </a:solidFill>
                <a:latin typeface="Arial"/>
              </a:rPr>
              <a:t>An incompatible event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050" b="0">
                <a:solidFill>
                  <a:srgbClr val="233045"/>
                </a:solidFill>
                <a:latin typeface="Arial"/>
              </a:rPr>
              <a:t>That operation is not applicable; this trigger chain stops. Other workflows may still process the event.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5733288"/>
            <a:ext cx="1097280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30" b="1" i="0">
                <a:solidFill>
                  <a:srgbClr val="122D5B"/>
                </a:solidFill>
                <a:latin typeface="Arial"/>
              </a:defRPr>
            </a:pPr>
            <a:r>
              <a:t>Compatibility is about business meaning and applicable operations—not just matching data fields.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" y="6537960"/>
            <a:ext cx="530352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9" b="1" i="0">
                <a:solidFill>
                  <a:srgbClr val="6F757C"/>
                </a:solidFill>
                <a:latin typeface="Arial"/>
              </a:defRPr>
            </a:pPr>
            <a:r>
              <a:t>BUSINESS DEFINITIONS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537960"/>
            <a:ext cx="41148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6F757C"/>
                </a:solidFill>
                <a:latin typeface="Arial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164592"/>
            <a:ext cx="905256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122D5B"/>
                </a:solidFill>
                <a:latin typeface="Arial"/>
              </a:defRPr>
            </a:pPr>
            <a:r>
              <a:t>03 / BUSINESS DEFINITIONS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27080" y="164592"/>
            <a:ext cx="86868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6F757C"/>
                </a:solidFill>
                <a:latin typeface="Arial"/>
              </a:defRPr>
            </a:pPr>
            <a:r>
              <a:t>25 /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512064"/>
            <a:ext cx="11201400" cy="11155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0" i="0">
                <a:solidFill>
                  <a:srgbClr val="2D63DA"/>
                </a:solidFill>
                <a:latin typeface="Arial"/>
              </a:defRPr>
            </a:pPr>
            <a:r>
              <a:t>Incomplete business definitions can create artificial edge cases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" y="1737360"/>
            <a:ext cx="11475720" cy="16459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2651760" y="3081528"/>
            <a:ext cx="594360" cy="0"/>
          </a:xfrm>
          <a:prstGeom prst="line">
            <a:avLst/>
          </a:prstGeom>
          <a:ln w="19050">
            <a:solidFill>
              <a:srgbClr val="B4BEC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394960" y="3081528"/>
            <a:ext cx="594360" cy="0"/>
          </a:xfrm>
          <a:prstGeom prst="line">
            <a:avLst/>
          </a:prstGeom>
          <a:ln w="19050">
            <a:solidFill>
              <a:srgbClr val="B4BEC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138160" y="3081528"/>
            <a:ext cx="594360" cy="0"/>
          </a:xfrm>
          <a:prstGeom prst="line">
            <a:avLst/>
          </a:prstGeom>
          <a:ln w="19050">
            <a:solidFill>
              <a:srgbClr val="B4BEC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02920" y="2596896"/>
            <a:ext cx="2148840" cy="978408"/>
          </a:xfrm>
          <a:prstGeom prst="rect">
            <a:avLst/>
          </a:prstGeom>
          <a:solidFill>
            <a:srgbClr val="F7F9FB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l">
              <a:spcBef>
                <a:spcPts val="0"/>
              </a:spcBef>
              <a:spcAft>
                <a:spcPts val="500"/>
              </a:spcAft>
              <a:defRPr sz="1300" b="1">
                <a:solidFill>
                  <a:srgbClr val="122D5B"/>
                </a:solidFill>
                <a:latin typeface="Arial"/>
              </a:defRPr>
            </a:pPr>
            <a:r>
              <a:rPr sz="1300" b="1">
                <a:solidFill>
                  <a:srgbClr val="091F4E"/>
                </a:solidFill>
                <a:latin typeface="Arial"/>
              </a:rPr>
              <a:t>Ambiguous object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233045"/>
                </a:solidFill>
                <a:latin typeface="Arial"/>
              </a:rPr>
              <a:t>Two meanings look alike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2596896"/>
            <a:ext cx="2148840" cy="978408"/>
          </a:xfrm>
          <a:prstGeom prst="rect">
            <a:avLst/>
          </a:prstGeom>
          <a:solidFill>
            <a:srgbClr val="F7F9FB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l">
              <a:spcBef>
                <a:spcPts val="0"/>
              </a:spcBef>
              <a:spcAft>
                <a:spcPts val="500"/>
              </a:spcAft>
              <a:defRPr sz="1300" b="1">
                <a:solidFill>
                  <a:srgbClr val="122D5B"/>
                </a:solidFill>
                <a:latin typeface="Arial"/>
              </a:defRPr>
            </a:pPr>
            <a:r>
              <a:rPr sz="1300" b="1">
                <a:solidFill>
                  <a:srgbClr val="091F4E"/>
                </a:solidFill>
                <a:latin typeface="Arial"/>
              </a:rPr>
              <a:t>Different assumptions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233045"/>
                </a:solidFill>
                <a:latin typeface="Arial"/>
              </a:rPr>
              <a:t>Across consumers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2596896"/>
            <a:ext cx="2148840" cy="978408"/>
          </a:xfrm>
          <a:prstGeom prst="rect">
            <a:avLst/>
          </a:prstGeom>
          <a:solidFill>
            <a:srgbClr val="F7F9FB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l">
              <a:spcBef>
                <a:spcPts val="0"/>
              </a:spcBef>
              <a:spcAft>
                <a:spcPts val="500"/>
              </a:spcAft>
              <a:defRPr sz="1300" b="1">
                <a:solidFill>
                  <a:srgbClr val="122D5B"/>
                </a:solidFill>
                <a:latin typeface="Arial"/>
              </a:defRPr>
            </a:pPr>
            <a:r>
              <a:rPr sz="1300" b="1">
                <a:solidFill>
                  <a:srgbClr val="091F4E"/>
                </a:solidFill>
                <a:latin typeface="Arial"/>
              </a:rPr>
              <a:t>Special conditions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233045"/>
                </a:solidFill>
                <a:latin typeface="Arial"/>
              </a:rPr>
              <a:t>Flags and warnings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32520" y="2596896"/>
            <a:ext cx="2148840" cy="978408"/>
          </a:xfrm>
          <a:prstGeom prst="rect">
            <a:avLst/>
          </a:prstGeom>
          <a:solidFill>
            <a:srgbClr val="F7F9FB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l">
              <a:spcBef>
                <a:spcPts val="0"/>
              </a:spcBef>
              <a:spcAft>
                <a:spcPts val="500"/>
              </a:spcAft>
              <a:defRPr sz="1300" b="1">
                <a:solidFill>
                  <a:srgbClr val="122D5B"/>
                </a:solidFill>
                <a:latin typeface="Arial"/>
              </a:defRPr>
            </a:pPr>
            <a:r>
              <a:rPr sz="1300" b="1">
                <a:solidFill>
                  <a:srgbClr val="091F4E"/>
                </a:solidFill>
                <a:latin typeface="Arial"/>
              </a:rPr>
              <a:t>Difficult modification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233045"/>
                </a:solidFill>
                <a:latin typeface="Arial"/>
              </a:rPr>
              <a:t>Every branch matters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023360"/>
            <a:ext cx="5486400" cy="1417320"/>
          </a:xfrm>
          <a:prstGeom prst="rect">
            <a:avLst/>
          </a:prstGeom>
          <a:solidFill>
            <a:srgbClr val="FDF7F6"/>
          </a:solidFill>
          <a:ln w="10160">
            <a:solidFill>
              <a:srgbClr val="F1C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r">
              <a:spcBef>
                <a:spcPts val="0"/>
              </a:spcBef>
              <a:spcAft>
                <a:spcPts val="800"/>
              </a:spcAft>
              <a:defRPr sz="950" b="1">
                <a:solidFill>
                  <a:srgbClr val="D9261C"/>
                </a:solidFill>
                <a:latin typeface="Arial"/>
              </a:defRPr>
            </a:pPr>
            <a:r>
              <a:rPr sz="720" b="1">
                <a:solidFill>
                  <a:srgbClr val="1857CA"/>
                </a:solidFill>
                <a:latin typeface="Arial"/>
              </a:rPr>
              <a:t>LOCAL FIX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91F4E"/>
                </a:solidFill>
                <a:latin typeface="Arial"/>
              </a:rPr>
              <a:t>Symptom-oriented approach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050" b="0">
                <a:solidFill>
                  <a:srgbClr val="233045"/>
                </a:solidFill>
                <a:latin typeface="Arial"/>
              </a:rPr>
              <a:t>Patch each newly observed manifestation where it appears.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023360"/>
            <a:ext cx="5486400" cy="1417320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r">
              <a:spcBef>
                <a:spcPts val="0"/>
              </a:spcBef>
              <a:spcAft>
                <a:spcPts val="8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20" b="1">
                <a:solidFill>
                  <a:srgbClr val="1857CA"/>
                </a:solidFill>
                <a:latin typeface="Arial"/>
              </a:rPr>
              <a:t>DESIGN IMPROVEMENT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91F4E"/>
                </a:solidFill>
                <a:latin typeface="Arial"/>
              </a:rPr>
              <a:t>Meaning-oriented approach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050" b="0">
                <a:solidFill>
                  <a:srgbClr val="233045"/>
                </a:solidFill>
                <a:latin typeface="Arial"/>
              </a:rPr>
              <a:t>Clarify what the system represents; let compatible workflows consume precise concepts.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5687568"/>
            <a:ext cx="1097280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40" b="1" i="0">
                <a:solidFill>
                  <a:srgbClr val="122D5B"/>
                </a:solidFill>
                <a:latin typeface="Arial"/>
              </a:defRPr>
            </a:pPr>
            <a:r>
              <a:t>Some apparent edge cases disappear when the objects and operations describe the business more accurately.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" y="6537960"/>
            <a:ext cx="530352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9" b="1" i="0">
                <a:solidFill>
                  <a:srgbClr val="6F757C"/>
                </a:solidFill>
                <a:latin typeface="Arial"/>
              </a:defRPr>
            </a:pPr>
            <a:r>
              <a:t>BUSINESS DEFINITIONS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84280" y="6537960"/>
            <a:ext cx="41148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6F757C"/>
                </a:solidFill>
                <a:latin typeface="Arial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164592"/>
            <a:ext cx="905256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122D5B"/>
                </a:solidFill>
                <a:latin typeface="Arial"/>
              </a:defRPr>
            </a:pPr>
            <a:r>
              <a:t>03 / BUSINESS DEFINITIONS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27080" y="164592"/>
            <a:ext cx="86868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6F757C"/>
                </a:solidFill>
                <a:latin typeface="Arial"/>
              </a:defRPr>
            </a:pPr>
            <a:r>
              <a:t>26 /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512064"/>
            <a:ext cx="11201400" cy="11155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0" i="0">
                <a:solidFill>
                  <a:srgbClr val="2D63DA"/>
                </a:solidFill>
                <a:latin typeface="Arial"/>
              </a:defRPr>
            </a:pPr>
            <a:r>
              <a:t>Choose a response that matches the actual source of complexity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" y="1737360"/>
            <a:ext cx="11475720" cy="16459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249424"/>
            <a:ext cx="5522976" cy="1920240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r">
              <a:spcBef>
                <a:spcPts val="0"/>
              </a:spcBef>
              <a:spcAft>
                <a:spcPts val="8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50" b="1">
                <a:solidFill>
                  <a:srgbClr val="1857CA"/>
                </a:solidFill>
                <a:latin typeface="Arial"/>
              </a:rPr>
              <a:t>SIMPLE PROTECTION MAY BE ENOUGH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091F4E"/>
                </a:solidFill>
                <a:latin typeface="Arial"/>
              </a:rPr>
              <a:t>Genuine low-probability external anomaly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110" b="0">
                <a:solidFill>
                  <a:srgbClr val="233045"/>
                </a:solidFill>
                <a:latin typeface="Arial"/>
              </a:rPr>
              <a:t>A well-defined venue feed occasionally has a gap. Detect, contain, alert and recover if residual risk is acceptable.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9632" y="2249424"/>
            <a:ext cx="5522976" cy="1920240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r">
              <a:spcBef>
                <a:spcPts val="0"/>
              </a:spcBef>
              <a:spcAft>
                <a:spcPts val="8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50" b="1">
                <a:solidFill>
                  <a:srgbClr val="1857CA"/>
                </a:solidFill>
                <a:latin typeface="Arial"/>
              </a:rPr>
              <a:t>IMPROVE THE MODEL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091F4E"/>
                </a:solidFill>
                <a:latin typeface="Arial"/>
              </a:rPr>
              <a:t>Ambiguous object or workflow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110" b="0">
                <a:solidFill>
                  <a:srgbClr val="233045"/>
                </a:solidFill>
                <a:latin typeface="Arial"/>
              </a:rPr>
              <a:t>Two different meanings are treated as one. Clarify the definition so unrelated components no longer need special interpretation.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535424"/>
            <a:ext cx="11265408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defRPr sz="1450" b="1">
                <a:solidFill>
                  <a:srgbClr val="122D5B"/>
                </a:solidFill>
                <a:latin typeface="Arial"/>
              </a:defRPr>
            </a:pPr>
            <a:r>
              <a:t>Good design judgement minimises total complexity and risk. It does not maximise the amount of architecture.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" y="6537960"/>
            <a:ext cx="530352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9" b="1" i="0">
                <a:solidFill>
                  <a:srgbClr val="6F757C"/>
                </a:solidFill>
                <a:latin typeface="Arial"/>
              </a:defRPr>
            </a:pPr>
            <a:r>
              <a:t>BUSINESS DEFINITIONS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537960"/>
            <a:ext cx="41148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6F757C"/>
                </a:solidFill>
                <a:latin typeface="Arial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914400"/>
            <a:ext cx="2011680" cy="10058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000" b="1" i="0">
                <a:solidFill>
                  <a:srgbClr val="DAE7F6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1051560"/>
            <a:ext cx="8778240" cy="10972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100" b="0" i="0">
                <a:solidFill>
                  <a:srgbClr val="2D63DA"/>
                </a:solidFill>
                <a:latin typeface="Arial"/>
              </a:defRPr>
            </a:pPr>
            <a:r>
              <a:t>The Costs of Ambiguous Definitions and Hidden Dependencies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42032" y="2286000"/>
            <a:ext cx="804672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6F757C"/>
                </a:solidFill>
                <a:latin typeface="Arial"/>
              </a:defRPr>
            </a:pPr>
            <a:r>
              <a:t>Designing for change  •  research agility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2542032" y="3090672"/>
            <a:ext cx="7772400" cy="25603"/>
          </a:xfrm>
          <a:prstGeom prst="rect">
            <a:avLst/>
          </a:prstGeom>
          <a:solidFill>
            <a:srgbClr val="2D6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6F757C"/>
                </a:solidFill>
                <a:latin typeface="Arial"/>
              </a:defRPr>
            </a:pPr>
            <a:r>
              <a:t>04 / ENGINEERING LESSONS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10528"/>
            <a:ext cx="4114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F757C"/>
                </a:solidFill>
                <a:latin typeface="Arial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164592"/>
            <a:ext cx="905256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122D5B"/>
                </a:solidFill>
                <a:latin typeface="Arial"/>
              </a:defRPr>
            </a:pPr>
            <a:r>
              <a:t>04 / ENGINEERING LESSONS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27080" y="164592"/>
            <a:ext cx="86868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6F757C"/>
                </a:solidFill>
                <a:latin typeface="Arial"/>
              </a:defRPr>
            </a:pPr>
            <a:r>
              <a:t>28 /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512064"/>
            <a:ext cx="11201400" cy="6217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50" b="0" i="0">
                <a:solidFill>
                  <a:srgbClr val="2D63DA"/>
                </a:solidFill>
                <a:latin typeface="Arial"/>
              </a:defRPr>
            </a:pPr>
            <a:r>
              <a:t>A unit mismatch contributed to the loss of a spacecraft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" y="1243584"/>
            <a:ext cx="11475720" cy="16459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90472"/>
            <a:ext cx="192024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6F757C"/>
                </a:solidFill>
                <a:latin typeface="Arial"/>
              </a:defRPr>
            </a:pPr>
            <a:r>
              <a:t>1999 · NASA/JPL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54679" y="2679192"/>
            <a:ext cx="868681" cy="0"/>
          </a:xfrm>
          <a:prstGeom prst="line">
            <a:avLst/>
          </a:prstGeom>
          <a:ln w="20320">
            <a:solidFill>
              <a:srgbClr val="447EE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0" y="2679192"/>
            <a:ext cx="868680" cy="0"/>
          </a:xfrm>
          <a:prstGeom prst="line">
            <a:avLst/>
          </a:prstGeom>
          <a:ln w="20320">
            <a:solidFill>
              <a:srgbClr val="447EE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94360" y="2157984"/>
            <a:ext cx="2560320" cy="1042415"/>
          </a:xfrm>
          <a:prstGeom prst="rect">
            <a:avLst/>
          </a:prstGeom>
          <a:solidFill>
            <a:srgbClr val="F7F9FB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l">
              <a:spcBef>
                <a:spcPts val="0"/>
              </a:spcBef>
              <a:spcAft>
                <a:spcPts val="500"/>
              </a:spcAft>
              <a:defRPr sz="1300" b="1">
                <a:solidFill>
                  <a:srgbClr val="122D5B"/>
                </a:solidFill>
                <a:latin typeface="Arial"/>
              </a:defRPr>
            </a:pPr>
            <a:r>
              <a:rPr sz="1350" b="1">
                <a:solidFill>
                  <a:srgbClr val="091F4E"/>
                </a:solidFill>
                <a:latin typeface="Arial"/>
              </a:rPr>
              <a:t>Ground process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33045"/>
                </a:solidFill>
                <a:latin typeface="Arial"/>
              </a:rPr>
              <a:t>English units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2157984"/>
            <a:ext cx="2560320" cy="1042415"/>
          </a:xfrm>
          <a:prstGeom prst="rect">
            <a:avLst/>
          </a:prstGeom>
          <a:solidFill>
            <a:srgbClr val="F7F9FB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l">
              <a:spcBef>
                <a:spcPts val="0"/>
              </a:spcBef>
              <a:spcAft>
                <a:spcPts val="500"/>
              </a:spcAft>
              <a:defRPr sz="1300" b="1">
                <a:solidFill>
                  <a:srgbClr val="122D5B"/>
                </a:solidFill>
                <a:latin typeface="Arial"/>
              </a:defRPr>
            </a:pPr>
            <a:r>
              <a:rPr sz="1350" b="1">
                <a:solidFill>
                  <a:srgbClr val="091F4E"/>
                </a:solidFill>
                <a:latin typeface="Arial"/>
              </a:rPr>
              <a:t>Information transfer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33045"/>
                </a:solidFill>
                <a:latin typeface="Arial"/>
              </a:rPr>
              <a:t>Numeric values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52360" y="2157984"/>
            <a:ext cx="2560320" cy="1042415"/>
          </a:xfrm>
          <a:prstGeom prst="rect">
            <a:avLst/>
          </a:prstGeom>
          <a:solidFill>
            <a:srgbClr val="F7F9FB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l">
              <a:spcBef>
                <a:spcPts val="0"/>
              </a:spcBef>
              <a:spcAft>
                <a:spcPts val="500"/>
              </a:spcAft>
              <a:defRPr sz="1300" b="1">
                <a:solidFill>
                  <a:srgbClr val="122D5B"/>
                </a:solidFill>
                <a:latin typeface="Arial"/>
              </a:defRPr>
            </a:pPr>
            <a:r>
              <a:rPr sz="1350" b="1">
                <a:solidFill>
                  <a:srgbClr val="091F4E"/>
                </a:solidFill>
                <a:latin typeface="Arial"/>
              </a:rPr>
              <a:t>Navigation process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33045"/>
                </a:solidFill>
                <a:latin typeface="Arial"/>
              </a:rPr>
              <a:t>Expected metric units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621024"/>
            <a:ext cx="5486400" cy="1389888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r">
              <a:spcBef>
                <a:spcPts val="0"/>
              </a:spcBef>
              <a:spcAft>
                <a:spcPts val="8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20" b="1">
                <a:solidFill>
                  <a:srgbClr val="1857CA"/>
                </a:solidFill>
                <a:latin typeface="Arial"/>
              </a:rPr>
              <a:t>EVENT MEANING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91F4E"/>
                </a:solidFill>
                <a:latin typeface="Arial"/>
              </a:rPr>
              <a:t>What went wrong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050" b="0">
                <a:solidFill>
                  <a:srgbClr val="233045"/>
                </a:solidFill>
                <a:latin typeface="Arial"/>
              </a:rPr>
              <a:t>The same transferred numbers were interpreted under incompatible unit assumptions.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621024"/>
            <a:ext cx="5486400" cy="1389888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r">
              <a:spcBef>
                <a:spcPts val="0"/>
              </a:spcBef>
              <a:spcAft>
                <a:spcPts val="8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20" b="1">
                <a:solidFill>
                  <a:srgbClr val="1857CA"/>
                </a:solidFill>
                <a:latin typeface="Arial"/>
              </a:rPr>
              <a:t>PART 04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91F4E"/>
                </a:solidFill>
                <a:latin typeface="Arial"/>
              </a:rPr>
              <a:t>Our callback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050" b="0">
                <a:solidFill>
                  <a:srgbClr val="233045"/>
                </a:solidFill>
                <a:latin typeface="Arial"/>
              </a:rPr>
              <a:t>Market and business objects need explicit units, timestamps and behavioural meanings—not only compatible data types.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5212080"/>
            <a:ext cx="1097280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90" b="0" i="1">
                <a:solidFill>
                  <a:srgbClr val="6F757C"/>
                </a:solidFill>
                <a:latin typeface="Arial"/>
              </a:defRPr>
            </a:pPr>
            <a:r>
              <a:t>A mission-level systems-engineering and verification failure; not simply a missing type declaration.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" y="6537960"/>
            <a:ext cx="530352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9" b="1" i="0">
                <a:solidFill>
                  <a:srgbClr val="6F757C"/>
                </a:solidFill>
                <a:latin typeface="Arial"/>
              </a:defRPr>
            </a:pPr>
            <a:r>
              <a:t>ENGINEERING LESSONS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84280" y="6537960"/>
            <a:ext cx="41148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6F757C"/>
                </a:solidFill>
                <a:latin typeface="Arial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164592"/>
            <a:ext cx="905256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122D5B"/>
                </a:solidFill>
                <a:latin typeface="Arial"/>
              </a:defRPr>
            </a:pPr>
            <a:r>
              <a:t>04 / ENGINEERING LESSONS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27080" y="164592"/>
            <a:ext cx="86868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6F757C"/>
                </a:solidFill>
                <a:latin typeface="Arial"/>
              </a:defRPr>
            </a:pPr>
            <a:r>
              <a:t>29 /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512064"/>
            <a:ext cx="11201400" cy="11155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0" i="0">
                <a:solidFill>
                  <a:srgbClr val="2D63DA"/>
                </a:solidFill>
                <a:latin typeface="Arial"/>
              </a:defRPr>
            </a:pPr>
            <a:r>
              <a:t>Reused software assumptions contributed to a failed rocket launch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" y="1737360"/>
            <a:ext cx="11475720" cy="16459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249424"/>
            <a:ext cx="5522976" cy="1920240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bIns="73152"/>
          <a:lstStyle/>
          <a:p>
            <a:pPr algn="r">
              <a:spcBef>
                <a:spcPts val="0"/>
              </a:spcBef>
              <a:spcAft>
                <a:spcPts val="9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50" b="1">
                <a:solidFill>
                  <a:srgbClr val="1857CA"/>
                </a:solidFill>
                <a:latin typeface="Arial"/>
              </a:rPr>
              <a:t>WHAT CHANGED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70" b="1">
                <a:solidFill>
                  <a:srgbClr val="091F4E"/>
                </a:solidFill>
                <a:latin typeface="Arial"/>
              </a:rPr>
              <a:t>Reused implementation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100" b="0">
                <a:solidFill>
                  <a:srgbClr val="233045"/>
                </a:solidFill>
                <a:latin typeface="Arial"/>
              </a:rPr>
              <a:t>Software inherited from Ariane 4 contained a conversion and post-launch computation that were not safe for Ariane 5 conditions.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9632" y="2249424"/>
            <a:ext cx="5522976" cy="1920240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bIns="73152"/>
          <a:lstStyle/>
          <a:p>
            <a:pPr algn="r">
              <a:spcBef>
                <a:spcPts val="0"/>
              </a:spcBef>
              <a:spcAft>
                <a:spcPts val="9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50" b="1">
                <a:solidFill>
                  <a:srgbClr val="1857CA"/>
                </a:solidFill>
                <a:latin typeface="Arial"/>
              </a:rPr>
              <a:t>WHY IT WAS MISSED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70" b="1">
                <a:solidFill>
                  <a:srgbClr val="091F4E"/>
                </a:solidFill>
                <a:latin typeface="Arial"/>
              </a:rPr>
              <a:t>System-level weakness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100" b="0">
                <a:solidFill>
                  <a:srgbClr val="233045"/>
                </a:solidFill>
                <a:latin typeface="Arial"/>
              </a:rPr>
              <a:t>The tests and reviews had not adequately exposed the problem under representative flight conditions.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462272"/>
            <a:ext cx="11265408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64008" bIns="73152"/>
          <a:lstStyle/>
          <a:p>
            <a:pPr algn="r">
              <a:spcBef>
                <a:spcPts val="0"/>
              </a:spcBef>
              <a:spcAft>
                <a:spcPts val="700"/>
              </a:spcAft>
              <a:defRPr sz="1450" b="1">
                <a:solidFill>
                  <a:srgbClr val="122D5B"/>
                </a:solidFill>
                <a:latin typeface="Arial"/>
              </a:defRPr>
            </a:pPr>
            <a:r>
              <a:rPr sz="780" b="1">
                <a:solidFill>
                  <a:srgbClr val="1857CA"/>
                </a:solidFill>
                <a:latin typeface="Arial"/>
              </a:rPr>
              <a:t>OUR CALLBACK · PART 02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91F4E"/>
                </a:solidFill>
                <a:latin typeface="Arial"/>
              </a:rPr>
              <a:t>Reuse is useful when the relevant assumptions remain valid. A new venue, clock or model can change the meaning of “compatible.”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" y="6537960"/>
            <a:ext cx="530352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9" b="1" i="0">
                <a:solidFill>
                  <a:srgbClr val="6F757C"/>
                </a:solidFill>
                <a:latin typeface="Arial"/>
              </a:defRPr>
            </a:pPr>
            <a:r>
              <a:t>ENGINEERING LESSONS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537960"/>
            <a:ext cx="41148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6F757C"/>
                </a:solidFill>
                <a:latin typeface="Arial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164592"/>
            <a:ext cx="905256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122D5B"/>
                </a:solidFill>
                <a:latin typeface="Arial"/>
              </a:defRPr>
            </a:pPr>
            <a:r>
              <a:t>04 / ENGINEERING LESSONS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27080" y="164592"/>
            <a:ext cx="86868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6F757C"/>
                </a:solidFill>
                <a:latin typeface="Arial"/>
              </a:defRPr>
            </a:pPr>
            <a:r>
              <a:t>30 /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512064"/>
            <a:ext cx="11201400" cy="11155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0" i="0">
                <a:solidFill>
                  <a:srgbClr val="2D63DA"/>
                </a:solidFill>
                <a:latin typeface="Arial"/>
              </a:defRPr>
            </a:pPr>
            <a:r>
              <a:t>Hidden dependencies contributed to over $460m in trading losses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" y="1737360"/>
            <a:ext cx="11475720" cy="16459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93392"/>
            <a:ext cx="283464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6F757C"/>
                </a:solidFill>
                <a:latin typeface="Arial"/>
              </a:defRPr>
            </a:pPr>
            <a:r>
              <a:t>AUGUST 1, 2012 · SEC FINDINGS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51760" y="3081528"/>
            <a:ext cx="594360" cy="0"/>
          </a:xfrm>
          <a:prstGeom prst="line">
            <a:avLst/>
          </a:prstGeom>
          <a:ln w="20320">
            <a:solidFill>
              <a:srgbClr val="D9261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394960" y="3081528"/>
            <a:ext cx="594360" cy="0"/>
          </a:xfrm>
          <a:prstGeom prst="line">
            <a:avLst/>
          </a:prstGeom>
          <a:ln w="20320">
            <a:solidFill>
              <a:srgbClr val="D9261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138160" y="3081528"/>
            <a:ext cx="594360" cy="0"/>
          </a:xfrm>
          <a:prstGeom prst="line">
            <a:avLst/>
          </a:prstGeom>
          <a:ln w="20320">
            <a:solidFill>
              <a:srgbClr val="D9261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02920" y="2606040"/>
            <a:ext cx="2148840" cy="960120"/>
          </a:xfrm>
          <a:prstGeom prst="rect">
            <a:avLst/>
          </a:prstGeom>
          <a:solidFill>
            <a:srgbClr val="FDF7F6"/>
          </a:solidFill>
          <a:ln w="12700">
            <a:solidFill>
              <a:srgbClr val="F1C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300" b="1">
                <a:solidFill>
                  <a:srgbClr val="D9261C"/>
                </a:solidFill>
                <a:latin typeface="Arial"/>
              </a:defRPr>
            </a:pPr>
            <a:r>
              <a:t>New routing feature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606040"/>
            <a:ext cx="2148840" cy="960120"/>
          </a:xfrm>
          <a:prstGeom prst="rect">
            <a:avLst/>
          </a:prstGeom>
          <a:solidFill>
            <a:srgbClr val="FDF7F6"/>
          </a:solidFill>
          <a:ln w="12700">
            <a:solidFill>
              <a:srgbClr val="F1C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300" b="1">
                <a:solidFill>
                  <a:srgbClr val="D9261C"/>
                </a:solidFill>
                <a:latin typeface="Arial"/>
              </a:defRPr>
            </a:pPr>
            <a:r>
              <a:t>Inconsistent deployment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89320" y="2606040"/>
            <a:ext cx="2148840" cy="960120"/>
          </a:xfrm>
          <a:prstGeom prst="rect">
            <a:avLst/>
          </a:prstGeom>
          <a:solidFill>
            <a:srgbClr val="FDF7F6"/>
          </a:solidFill>
          <a:ln w="12700">
            <a:solidFill>
              <a:srgbClr val="F1C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300" b="1">
                <a:solidFill>
                  <a:srgbClr val="D9261C"/>
                </a:solidFill>
                <a:latin typeface="Arial"/>
              </a:defRPr>
            </a:pPr>
            <a:r>
              <a:t>Old function activated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32520" y="2606040"/>
            <a:ext cx="2148840" cy="960120"/>
          </a:xfrm>
          <a:prstGeom prst="rect">
            <a:avLst/>
          </a:prstGeom>
          <a:solidFill>
            <a:srgbClr val="FDF7F6"/>
          </a:solidFill>
          <a:ln w="12700">
            <a:solidFill>
              <a:srgbClr val="F1C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300" b="1">
                <a:solidFill>
                  <a:srgbClr val="D9261C"/>
                </a:solidFill>
                <a:latin typeface="Arial"/>
              </a:defRPr>
            </a:pPr>
            <a:r>
              <a:t>Unexpected orders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059935"/>
            <a:ext cx="5486400" cy="1389888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r">
              <a:spcBef>
                <a:spcPts val="0"/>
              </a:spcBef>
              <a:spcAft>
                <a:spcPts val="8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20" b="1">
                <a:solidFill>
                  <a:srgbClr val="1857CA"/>
                </a:solidFill>
                <a:latin typeface="Arial"/>
              </a:rPr>
              <a:t>HIDDEN DEPENDENCIES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91F4E"/>
                </a:solidFill>
                <a:latin typeface="Arial"/>
              </a:rPr>
              <a:t>Technical relevance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050" b="0">
                <a:solidFill>
                  <a:srgbClr val="233045"/>
                </a:solidFill>
                <a:latin typeface="Arial"/>
              </a:rPr>
              <a:t>Control flags, old code and release state were coupled in ways that mattered operationally.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059935"/>
            <a:ext cx="5486400" cy="1389888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r">
              <a:spcBef>
                <a:spcPts val="0"/>
              </a:spcBef>
              <a:spcAft>
                <a:spcPts val="8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20" b="1">
                <a:solidFill>
                  <a:srgbClr val="1857CA"/>
                </a:solidFill>
                <a:latin typeface="Arial"/>
              </a:rPr>
              <a:t>VERIFICATION &amp; OPERATIONS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91F4E"/>
                </a:solidFill>
                <a:latin typeface="Arial"/>
              </a:rPr>
              <a:t>Our callback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050" b="0">
                <a:solidFill>
                  <a:srgbClr val="233045"/>
                </a:solidFill>
                <a:latin typeface="Arial"/>
              </a:rPr>
              <a:t>Boundary clarity helps, but deployment consistency, controls and end-to-end validation remain necessary.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5687568"/>
            <a:ext cx="10972800" cy="40233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22D5B"/>
                </a:solidFill>
                <a:latin typeface="Arial"/>
              </a:defRPr>
            </a:pPr>
            <a:r>
              <a:t>SEC reported more than four million orders in the first 45 minutes and a loss greater than $460m.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" y="6537960"/>
            <a:ext cx="530352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9" b="1" i="0">
                <a:solidFill>
                  <a:srgbClr val="6F757C"/>
                </a:solidFill>
                <a:latin typeface="Arial"/>
              </a:defRPr>
            </a:pPr>
            <a:r>
              <a:t>ENGINEERING LESSONS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537960"/>
            <a:ext cx="41148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6F757C"/>
                </a:solidFill>
                <a:latin typeface="Arial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914400"/>
            <a:ext cx="2011680" cy="10058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000" b="1" i="0">
                <a:solidFill>
                  <a:srgbClr val="DAE7F6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1051560"/>
            <a:ext cx="8778240" cy="10972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100" b="0" i="0">
                <a:solidFill>
                  <a:srgbClr val="2D63DA"/>
                </a:solidFill>
                <a:latin typeface="Arial"/>
              </a:defRPr>
            </a:pPr>
            <a:r>
              <a:t>Treat Testing with the Same Priority as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42032" y="2286000"/>
            <a:ext cx="804672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6F757C"/>
                </a:solidFill>
                <a:latin typeface="Arial"/>
              </a:defRPr>
            </a:pPr>
            <a:r>
              <a:t>Designing for change  •  research agility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2542032" y="3090672"/>
            <a:ext cx="7772400" cy="25603"/>
          </a:xfrm>
          <a:prstGeom prst="rect">
            <a:avLst/>
          </a:prstGeom>
          <a:solidFill>
            <a:srgbClr val="2D6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6F757C"/>
                </a:solidFill>
                <a:latin typeface="Arial"/>
              </a:defRPr>
            </a:pPr>
            <a:r>
              <a:t>05 /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10528"/>
            <a:ext cx="4114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F757C"/>
                </a:solidFill>
                <a:latin typeface="Arial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164592"/>
            <a:ext cx="905256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122D5B"/>
                </a:solidFill>
                <a:latin typeface="Arial"/>
              </a:defRPr>
            </a:pPr>
            <a:r>
              <a:t>05 /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27080" y="164592"/>
            <a:ext cx="86868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6F757C"/>
                </a:solidFill>
                <a:latin typeface="Arial"/>
              </a:defRPr>
            </a:pPr>
            <a:r>
              <a:t>32 /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512064"/>
            <a:ext cx="11201400" cy="6217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50" b="0" i="0">
                <a:solidFill>
                  <a:srgbClr val="2D63DA"/>
                </a:solidFill>
                <a:latin typeface="Arial"/>
              </a:defRPr>
            </a:pPr>
            <a:r>
              <a:t>Clear boundaries make testing easier to design and reuse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" y="1243584"/>
            <a:ext cx="11475720" cy="16459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73352"/>
          <a:ext cx="1115568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5577840"/>
              </a:tblGrid>
              <a:tr h="7772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WHEN BOUNDARIES ARE UNCLEAR</a:t>
                      </a:r>
                    </a:p>
                  </a:txBody>
                  <a:tcPr marL="91440" marR="91440" marT="54864" marB="54864">
                    <a:solidFill>
                      <a:srgbClr val="2D63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WITH DEPENDABLE BOUNDARIES</a:t>
                      </a:r>
                    </a:p>
                  </a:txBody>
                  <a:tcPr marL="91440" marR="91440" marT="54864" marB="54864">
                    <a:solidFill>
                      <a:srgbClr val="2D63D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22D5B"/>
                          </a:solidFill>
                          <a:latin typeface="Arial"/>
                        </a:defRPr>
                      </a:pPr>
                      <a:r>
                        <a:t>Every change needs a new investigation</a:t>
                      </a:r>
                    </a:p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Arial"/>
                        </a:defRPr>
                      </a:pPr>
                      <a:r>
                        <a:t>• Test setup depends on distant nodes and shared state</a:t>
                      </a:r>
                    </a:p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Arial"/>
                        </a:defRPr>
                      </a:pPr>
                      <a:r>
                        <a:t>• Expected behaviour is scattered across the workflow</a:t>
                      </a:r>
                    </a:p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Arial"/>
                        </a:defRPr>
                      </a:pPr>
                      <a:r>
                        <a:t>• Failures are harder to explain and locate</a:t>
                      </a:r>
                    </a:p>
                  </a:txBody>
                  <a:tcPr marL="91440" marR="91440" marT="54864" marB="54864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22D5B"/>
                          </a:solidFill>
                          <a:latin typeface="Arial"/>
                        </a:defRPr>
                      </a:pPr>
                      <a:r>
                        <a:t>Test against an agreed contract</a:t>
                      </a:r>
                    </a:p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Arial"/>
                        </a:defRPr>
                      </a:pPr>
                      <a:r>
                        <a:t>• Defined inputs, outputs, resets and allowed effects</a:t>
                      </a:r>
                    </a:p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Arial"/>
                        </a:defRPr>
                      </a:pPr>
                      <a:r>
                        <a:t>• One boundary test suite can check compatible variants</a:t>
                      </a:r>
                    </a:p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Arial"/>
                        </a:defRPr>
                      </a:pPr>
                      <a:r>
                        <a:t>• Intentional differences are easier to identify</a:t>
                      </a:r>
                    </a:p>
                  </a:txBody>
                  <a:tcPr marL="91440" marR="91440" marT="54864" marB="54864">
                    <a:solidFill>
                      <a:srgbClr val="F7F9FB"/>
                    </a:solidFill>
                  </a:tcPr>
                </a:tc>
              </a:tr>
              <a:tr h="777240">
                <a:tc gridSpan="2"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22D5B"/>
                          </a:solidFill>
                          <a:latin typeface="Arial"/>
                        </a:defRPr>
                      </a:pPr>
                      <a:r>
                        <a:t>COMPLEMENTARY LAYERS OF EVIDENCE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22D5B"/>
                          </a:solidFill>
                          <a:latin typeface="Arial"/>
                        </a:defRPr>
                      </a:pP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9808" y="4261104"/>
          <a:ext cx="786384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5440680"/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22D5B"/>
                          </a:solidFill>
                          <a:latin typeface="Arial"/>
                        </a:defRPr>
                      </a:pPr>
                      <a:r>
                        <a:t>Boundary tests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Arial"/>
                        </a:defRPr>
                      </a:pPr>
                      <a:r>
                        <a:t>Shared contract and state lifecycle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22D5B"/>
                          </a:solidFill>
                          <a:latin typeface="Arial"/>
                        </a:defRPr>
                      </a:pPr>
                      <a:r>
                        <a:t>Variant tests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Arial"/>
                        </a:defRPr>
                      </a:pPr>
                      <a:r>
                        <a:t>Expected new feature behaviour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22D5B"/>
                          </a:solidFill>
                          <a:latin typeface="Arial"/>
                        </a:defRPr>
                      </a:pPr>
                      <a:r>
                        <a:t>Graph-level replay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2A30"/>
                          </a:solidFill>
                          <a:latin typeface="Arial"/>
                        </a:defRPr>
                      </a:pPr>
                      <a:r>
                        <a:t>Interactions and regression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869680" y="4261104"/>
            <a:ext cx="2788920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defRPr sz="1230" b="1">
                <a:solidFill>
                  <a:srgbClr val="122D5B"/>
                </a:solidFill>
                <a:latin typeface="Arial"/>
              </a:defRPr>
            </a:pPr>
            <a:r>
              <a:t>Better boundaries reduce ambiguity in test design; they complement rather than replace system-level testing.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" y="6537960"/>
            <a:ext cx="530352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9" b="1" i="0">
                <a:solidFill>
                  <a:srgbClr val="6F757C"/>
                </a:solidFill>
                <a:latin typeface="Arial"/>
              </a:defRPr>
            </a:pPr>
            <a:r>
              <a:t>TESTING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537960"/>
            <a:ext cx="41148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6F757C"/>
                </a:solidFill>
                <a:latin typeface="Arial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164592"/>
            <a:ext cx="905256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122D5B"/>
                </a:solidFill>
                <a:latin typeface="Arial"/>
              </a:defRPr>
            </a:pPr>
            <a:r>
              <a:t>05 /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27080" y="164592"/>
            <a:ext cx="86868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6F757C"/>
                </a:solidFill>
                <a:latin typeface="Arial"/>
              </a:defRPr>
            </a:pPr>
            <a:r>
              <a:t>33 /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512064"/>
            <a:ext cx="11201400" cy="11155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0" i="0">
                <a:solidFill>
                  <a:srgbClr val="2D63DA"/>
                </a:solidFill>
                <a:latin typeface="Arial"/>
              </a:defRPr>
            </a:pPr>
            <a:r>
              <a:t>A production-faithful simulator makes regression testing repeatable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" y="1737360"/>
            <a:ext cx="11475720" cy="16459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84248"/>
            <a:ext cx="40233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2D63DA"/>
                </a:solidFill>
                <a:latin typeface="Arial"/>
              </a:defRPr>
            </a:pPr>
            <a:r>
              <a:t>DETERMINISTIC EVENT REPLAY / BACKTEST HARNESS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51760" y="3145536"/>
            <a:ext cx="594360" cy="0"/>
          </a:xfrm>
          <a:prstGeom prst="line">
            <a:avLst/>
          </a:prstGeom>
          <a:ln w="20320">
            <a:solidFill>
              <a:srgbClr val="447EE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394960" y="3145536"/>
            <a:ext cx="594360" cy="0"/>
          </a:xfrm>
          <a:prstGeom prst="line">
            <a:avLst/>
          </a:prstGeom>
          <a:ln w="20320">
            <a:solidFill>
              <a:srgbClr val="447EE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138160" y="3145536"/>
            <a:ext cx="594360" cy="0"/>
          </a:xfrm>
          <a:prstGeom prst="line">
            <a:avLst/>
          </a:prstGeom>
          <a:ln w="20320">
            <a:solidFill>
              <a:srgbClr val="447EE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02920" y="2670048"/>
            <a:ext cx="2148840" cy="960120"/>
          </a:xfrm>
          <a:prstGeom prst="rect">
            <a:avLst/>
          </a:prstGeom>
          <a:solidFill>
            <a:srgbClr val="EFF6FC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l">
              <a:spcBef>
                <a:spcPts val="0"/>
              </a:spcBef>
              <a:spcAft>
                <a:spcPts val="500"/>
              </a:spcAft>
              <a:defRPr sz="1300" b="1">
                <a:solidFill>
                  <a:srgbClr val="122D5B"/>
                </a:solidFill>
                <a:latin typeface="Arial"/>
              </a:defRPr>
            </a:pPr>
            <a:r>
              <a:rPr sz="1300" b="1">
                <a:solidFill>
                  <a:srgbClr val="091F4E"/>
                </a:solidFill>
                <a:latin typeface="Arial"/>
              </a:rPr>
              <a:t>Event sequence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233045"/>
                </a:solidFill>
                <a:latin typeface="Arial"/>
              </a:rPr>
              <a:t>Order, timing, resets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670048"/>
            <a:ext cx="2148840" cy="960120"/>
          </a:xfrm>
          <a:prstGeom prst="rect">
            <a:avLst/>
          </a:prstGeom>
          <a:solidFill>
            <a:srgbClr val="EFF6FC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l">
              <a:spcBef>
                <a:spcPts val="0"/>
              </a:spcBef>
              <a:spcAft>
                <a:spcPts val="500"/>
              </a:spcAft>
              <a:defRPr sz="1300" b="1">
                <a:solidFill>
                  <a:srgbClr val="122D5B"/>
                </a:solidFill>
                <a:latin typeface="Arial"/>
              </a:defRPr>
            </a:pPr>
            <a:r>
              <a:rPr sz="1300" b="1">
                <a:solidFill>
                  <a:srgbClr val="091F4E"/>
                </a:solidFill>
                <a:latin typeface="Arial"/>
              </a:rPr>
              <a:t>Same business graph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233045"/>
                </a:solidFill>
                <a:latin typeface="Arial"/>
              </a:rPr>
              <a:t>Candidate and reference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89320" y="2670048"/>
            <a:ext cx="2148840" cy="960120"/>
          </a:xfrm>
          <a:prstGeom prst="rect">
            <a:avLst/>
          </a:prstGeom>
          <a:solidFill>
            <a:srgbClr val="EFF6FC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l">
              <a:spcBef>
                <a:spcPts val="0"/>
              </a:spcBef>
              <a:spcAft>
                <a:spcPts val="500"/>
              </a:spcAft>
              <a:defRPr sz="1300" b="1">
                <a:solidFill>
                  <a:srgbClr val="122D5B"/>
                </a:solidFill>
                <a:latin typeface="Arial"/>
              </a:defRPr>
            </a:pPr>
            <a:r>
              <a:rPr sz="1300" b="1">
                <a:solidFill>
                  <a:srgbClr val="091F4E"/>
                </a:solidFill>
                <a:latin typeface="Arial"/>
              </a:rPr>
              <a:t>Behavioural traces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233045"/>
                </a:solidFill>
                <a:latin typeface="Arial"/>
              </a:rPr>
              <a:t>Events, state, outputs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32520" y="2670048"/>
            <a:ext cx="2148840" cy="960120"/>
          </a:xfrm>
          <a:prstGeom prst="rect">
            <a:avLst/>
          </a:prstGeom>
          <a:solidFill>
            <a:srgbClr val="EFF6FC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l">
              <a:spcBef>
                <a:spcPts val="0"/>
              </a:spcBef>
              <a:spcAft>
                <a:spcPts val="500"/>
              </a:spcAft>
              <a:defRPr sz="1300" b="1">
                <a:solidFill>
                  <a:srgbClr val="122D5B"/>
                </a:solidFill>
                <a:latin typeface="Arial"/>
              </a:defRPr>
            </a:pPr>
            <a:r>
              <a:rPr sz="1300" b="1">
                <a:solidFill>
                  <a:srgbClr val="091F4E"/>
                </a:solidFill>
                <a:latin typeface="Arial"/>
              </a:rPr>
              <a:t>Regression checks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233045"/>
                </a:solidFill>
                <a:latin typeface="Arial"/>
              </a:rPr>
              <a:t>Expected and intended differences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069080"/>
            <a:ext cx="5486400" cy="1371600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r">
              <a:spcBef>
                <a:spcPts val="0"/>
              </a:spcBef>
              <a:spcAft>
                <a:spcPts val="8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20" b="1">
                <a:solidFill>
                  <a:srgbClr val="1857CA"/>
                </a:solidFill>
                <a:latin typeface="Arial"/>
              </a:rPr>
              <a:t>SIMULATOR / CI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91F4E"/>
                </a:solidFill>
                <a:latin typeface="Arial"/>
              </a:rPr>
              <a:t>Software regression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050" b="0">
                <a:solidFill>
                  <a:srgbClr val="233045"/>
                </a:solidFill>
                <a:latin typeface="Arial"/>
              </a:rPr>
              <a:t>Did the intended behaviour change without unintended changes to the wider workflow?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069080"/>
            <a:ext cx="5486400" cy="1371600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r">
              <a:spcBef>
                <a:spcPts val="0"/>
              </a:spcBef>
              <a:spcAft>
                <a:spcPts val="8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20" b="1">
                <a:solidFill>
                  <a:srgbClr val="1857CA"/>
                </a:solidFill>
                <a:latin typeface="Arial"/>
              </a:rPr>
              <a:t>LATER OPERATIONAL CHECK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91F4E"/>
                </a:solidFill>
                <a:latin typeface="Arial"/>
              </a:rPr>
              <a:t>UAT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050" b="0">
                <a:solidFill>
                  <a:srgbClr val="233045"/>
                </a:solidFill>
                <a:latin typeface="Arial"/>
              </a:rPr>
              <a:t>Useful for environment integration, deployment, connectivity and operational workflows; not the primary business-logic test environment.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5687568"/>
            <a:ext cx="1097280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30" b="1" i="0">
                <a:solidFill>
                  <a:srgbClr val="122D5B"/>
                </a:solidFill>
                <a:latin typeface="Arial"/>
              </a:defRPr>
            </a:pPr>
            <a:r>
              <a:t>As experimentation accelerates, trustworthy simulation becomes increasingly valuable.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" y="6537960"/>
            <a:ext cx="530352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9" b="1" i="0">
                <a:solidFill>
                  <a:srgbClr val="6F757C"/>
                </a:solidFill>
                <a:latin typeface="Arial"/>
              </a:defRPr>
            </a:pPr>
            <a:r>
              <a:t>TESTING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537960"/>
            <a:ext cx="41148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6F757C"/>
                </a:solidFill>
                <a:latin typeface="Arial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164592"/>
            <a:ext cx="905256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122D5B"/>
                </a:solidFill>
                <a:latin typeface="Arial"/>
              </a:defRPr>
            </a:pPr>
            <a:r>
              <a:t>05 /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27080" y="164592"/>
            <a:ext cx="86868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6F757C"/>
                </a:solidFill>
                <a:latin typeface="Arial"/>
              </a:defRPr>
            </a:pPr>
            <a:r>
              <a:t>34 /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512064"/>
            <a:ext cx="11201400" cy="11155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0" i="0">
                <a:solidFill>
                  <a:srgbClr val="2D63DA"/>
                </a:solidFill>
                <a:latin typeface="Arial"/>
              </a:defRPr>
            </a:pPr>
            <a:r>
              <a:t>Test the shared framework and each feature against clear contracts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" y="1737360"/>
            <a:ext cx="11475720" cy="16459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249424"/>
            <a:ext cx="5522976" cy="1920240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bIns="91440"/>
          <a:lstStyle/>
          <a:p>
            <a:pPr algn="r">
              <a:spcBef>
                <a:spcPts val="0"/>
              </a:spcBef>
              <a:spcAft>
                <a:spcPts val="9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50" b="1">
                <a:solidFill>
                  <a:srgbClr val="1857CA"/>
                </a:solidFill>
                <a:latin typeface="Arial"/>
              </a:rPr>
              <a:t>FRAMEWORK &amp; BOUNDARY CONTRACTS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70" b="1">
                <a:solidFill>
                  <a:srgbClr val="091F4E"/>
                </a:solidFill>
                <a:latin typeface="Arial"/>
              </a:rPr>
              <a:t>Test the behaviour we share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60" b="0">
                <a:solidFill>
                  <a:srgbClr val="233045"/>
                </a:solidFill>
                <a:latin typeface="Arial"/>
              </a:rPr>
              <a:t>Event applicability, ordering and routing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60" b="0">
                <a:solidFill>
                  <a:srgbClr val="233045"/>
                </a:solidFill>
                <a:latin typeface="Arial"/>
              </a:rPr>
              <a:t>Inputs, outputs, state reset and permitted effects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60" b="0">
                <a:solidFill>
                  <a:srgbClr val="233045"/>
                </a:solidFill>
                <a:latin typeface="Arial"/>
              </a:rPr>
              <a:t>Run common contract tests for each compatible variant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60" b="0">
                <a:solidFill>
                  <a:srgbClr val="233045"/>
                </a:solidFill>
                <a:latin typeface="Arial"/>
              </a:rPr>
              <a:t>Simulator fidelity against production behaviour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9632" y="2249424"/>
            <a:ext cx="5522976" cy="1920240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bIns="91440"/>
          <a:lstStyle/>
          <a:p>
            <a:pPr algn="r">
              <a:spcBef>
                <a:spcPts val="0"/>
              </a:spcBef>
              <a:spcAft>
                <a:spcPts val="9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50" b="1">
                <a:solidFill>
                  <a:srgbClr val="1857CA"/>
                </a:solidFill>
                <a:latin typeface="Arial"/>
              </a:rPr>
              <a:t>NEW FEATURE OR BUSINESS RULE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70" b="1">
                <a:solidFill>
                  <a:srgbClr val="091F4E"/>
                </a:solidFill>
                <a:latin typeface="Arial"/>
              </a:rPr>
              <a:t>Test what we intend to change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60" b="0">
                <a:solidFill>
                  <a:srgbClr val="233045"/>
                </a:solidFill>
                <a:latin typeface="Arial"/>
              </a:rPr>
              <a:t>Representative events and expected results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60" b="0">
                <a:solidFill>
                  <a:srgbClr val="233045"/>
                </a:solidFill>
                <a:latin typeface="Arial"/>
              </a:rPr>
              <a:t>Explicitly intended behavioural differences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60" b="0">
                <a:solidFill>
                  <a:srgbClr val="233045"/>
                </a:solidFill>
                <a:latin typeface="Arial"/>
              </a:rPr>
              <a:t>Regression of surrounding business rules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60" b="0">
                <a:solidFill>
                  <a:srgbClr val="233045"/>
                </a:solidFill>
                <a:latin typeface="Arial"/>
              </a:rPr>
              <a:t>Runtime, resource and external-effect limits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462272"/>
            <a:ext cx="11265408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64008" bIns="73152"/>
          <a:lstStyle/>
          <a:p>
            <a:pPr algn="r">
              <a:spcBef>
                <a:spcPts val="0"/>
              </a:spcBef>
              <a:spcAft>
                <a:spcPts val="700"/>
              </a:spcAft>
              <a:defRPr sz="1450" b="1">
                <a:solidFill>
                  <a:srgbClr val="122D5B"/>
                </a:solidFill>
                <a:latin typeface="Arial"/>
              </a:defRPr>
            </a:pPr>
            <a:r>
              <a:rPr sz="780" b="1">
                <a:solidFill>
                  <a:srgbClr val="1857CA"/>
                </a:solidFill>
                <a:latin typeface="Arial"/>
              </a:rPr>
              <a:t>DEVELOPMENT HABIT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91F4E"/>
                </a:solidFill>
                <a:latin typeface="Arial"/>
              </a:rPr>
              <a:t>Define the tests when we define the change, then use full event replay to verify how everything works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" y="6537960"/>
            <a:ext cx="530352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9" b="1" i="0">
                <a:solidFill>
                  <a:srgbClr val="6F757C"/>
                </a:solidFill>
                <a:latin typeface="Arial"/>
              </a:defRPr>
            </a:pPr>
            <a:r>
              <a:t>TESTING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537960"/>
            <a:ext cx="41148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6F757C"/>
                </a:solidFill>
                <a:latin typeface="Arial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914400"/>
            <a:ext cx="2011680" cy="10058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000" b="1" i="0">
                <a:solidFill>
                  <a:srgbClr val="DAE7F6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1051560"/>
            <a:ext cx="8778240" cy="10972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100" b="0" i="0">
                <a:solidFill>
                  <a:srgbClr val="2D63DA"/>
                </a:solidFill>
                <a:latin typeface="Arial"/>
              </a:defRPr>
            </a:pPr>
            <a:r>
              <a:t>Architectural Judgement for Sustained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42032" y="2286000"/>
            <a:ext cx="804672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6F757C"/>
                </a:solidFill>
                <a:latin typeface="Arial"/>
              </a:defRPr>
            </a:pPr>
            <a:r>
              <a:t>Designing for change  •  research agility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2542032" y="3090672"/>
            <a:ext cx="7772400" cy="25603"/>
          </a:xfrm>
          <a:prstGeom prst="rect">
            <a:avLst/>
          </a:prstGeom>
          <a:solidFill>
            <a:srgbClr val="2D6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6F757C"/>
                </a:solidFill>
                <a:latin typeface="Arial"/>
              </a:defRPr>
            </a:pPr>
            <a:r>
              <a:t>06 / ARCHITECTURAL JUDGEMENT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10528"/>
            <a:ext cx="4114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F757C"/>
                </a:solidFill>
                <a:latin typeface="Arial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164592"/>
            <a:ext cx="905256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122D5B"/>
                </a:solidFill>
                <a:latin typeface="Arial"/>
              </a:defRPr>
            </a:pPr>
            <a:r>
              <a:t>06 / ARCHITECTURAL JUDGEMENT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27080" y="164592"/>
            <a:ext cx="86868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6F757C"/>
                </a:solidFill>
                <a:latin typeface="Arial"/>
              </a:defRPr>
            </a:pPr>
            <a:r>
              <a:t>36 /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512064"/>
            <a:ext cx="11201400" cy="11155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0" i="0">
                <a:solidFill>
                  <a:srgbClr val="2D63DA"/>
                </a:solidFill>
                <a:latin typeface="Arial"/>
              </a:defRPr>
            </a:pPr>
            <a:r>
              <a:t>The value of a good boundary accumulates across repeated changes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" y="1737360"/>
            <a:ext cx="11475720" cy="16459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94360" y="2304288"/>
          <a:ext cx="649224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7360920" y="2414016"/>
            <a:ext cx="4315968" cy="1325880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r">
              <a:spcBef>
                <a:spcPts val="0"/>
              </a:spcBef>
              <a:spcAft>
                <a:spcPts val="8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20" b="1">
                <a:solidFill>
                  <a:srgbClr val="1857CA"/>
                </a:solidFill>
                <a:latin typeface="Arial"/>
              </a:rPr>
              <a:t>ILLUSTRATIVE TOTAL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91F4E"/>
                </a:solidFill>
                <a:latin typeface="Arial"/>
              </a:rPr>
              <a:t>Choice A · Copy and rewire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050" b="0">
                <a:solidFill>
                  <a:srgbClr val="233045"/>
                </a:solidFill>
                <a:latin typeface="Arial"/>
              </a:rPr>
              <a:t>62 days 2 initially + 20 × 3 days later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360920" y="3858768"/>
            <a:ext cx="4315968" cy="1325880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r">
              <a:spcBef>
                <a:spcPts val="0"/>
              </a:spcBef>
              <a:spcAft>
                <a:spcPts val="8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20" b="1">
                <a:solidFill>
                  <a:srgbClr val="1857CA"/>
                </a:solidFill>
                <a:latin typeface="Arial"/>
              </a:rPr>
              <a:t>ILLUSTRATIVE TOTAL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91F4E"/>
                </a:solidFill>
                <a:latin typeface="Arial"/>
              </a:rPr>
              <a:t>Choice B · Shared workflow and replaceable logic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050" b="0">
                <a:solidFill>
                  <a:srgbClr val="233045"/>
                </a:solidFill>
                <a:latin typeface="Arial"/>
              </a:rPr>
              <a:t>15 days 5 initially + 20 × 0.5 day later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888736"/>
            <a:ext cx="10972800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30" b="1" i="0">
                <a:solidFill>
                  <a:srgbClr val="122D5B"/>
                </a:solidFill>
                <a:latin typeface="Arial"/>
              </a:defRPr>
            </a:pPr>
            <a:r>
              <a:t>A difficult change also has an invisible cost: the experiments that become too expensive to try.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" y="6537960"/>
            <a:ext cx="530352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9" b="1" i="0">
                <a:solidFill>
                  <a:srgbClr val="6F757C"/>
                </a:solidFill>
                <a:latin typeface="Arial"/>
              </a:defRPr>
            </a:pPr>
            <a:r>
              <a:t>ARCHITECTURAL JUDGEMENT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537960"/>
            <a:ext cx="41148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6F757C"/>
                </a:solidFill>
                <a:latin typeface="Arial"/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164592"/>
            <a:ext cx="905256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122D5B"/>
                </a:solidFill>
                <a:latin typeface="Arial"/>
              </a:defRPr>
            </a:pPr>
            <a:r>
              <a:t>06 / ARCHITECTURAL JUDGEMENT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27080" y="164592"/>
            <a:ext cx="86868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6F757C"/>
                </a:solidFill>
                <a:latin typeface="Arial"/>
              </a:defRPr>
            </a:pPr>
            <a:r>
              <a:t>37 /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512064"/>
            <a:ext cx="11201400" cy="6217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50" b="0" i="0">
                <a:solidFill>
                  <a:srgbClr val="2D63DA"/>
                </a:solidFill>
                <a:latin typeface="Arial"/>
              </a:defRPr>
            </a:pPr>
            <a:r>
              <a:t>Choose the amount of design that the problem justifies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" y="1243584"/>
            <a:ext cx="11475720" cy="16459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64792"/>
            <a:ext cx="3310128" cy="2148840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r">
              <a:spcBef>
                <a:spcPts val="0"/>
              </a:spcBef>
              <a:spcAft>
                <a:spcPts val="8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50" b="1">
                <a:solidFill>
                  <a:srgbClr val="1857CA"/>
                </a:solidFill>
                <a:latin typeface="Arial"/>
              </a:rPr>
              <a:t>LOW EXPECTED REUSE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091F4E"/>
                </a:solidFill>
                <a:latin typeface="Arial"/>
              </a:rPr>
              <a:t>One-off research code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110" b="0">
                <a:solidFill>
                  <a:srgbClr val="233045"/>
                </a:solidFill>
                <a:latin typeface="Arial"/>
              </a:rPr>
              <a:t>Keep scope narrow. A short-lived experiment may not need a shared abstraction.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24528" y="1764792"/>
            <a:ext cx="3310128" cy="2148840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r">
              <a:spcBef>
                <a:spcPts val="0"/>
              </a:spcBef>
              <a:spcAft>
                <a:spcPts val="8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50" b="1">
                <a:solidFill>
                  <a:srgbClr val="1857CA"/>
                </a:solidFill>
                <a:latin typeface="Arial"/>
              </a:rPr>
              <a:t>HIGH EXPECTED CHANGE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091F4E"/>
                </a:solidFill>
                <a:latin typeface="Arial"/>
              </a:rPr>
              <a:t>Repeated alpha experiments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110" b="0">
                <a:solidFill>
                  <a:srgbClr val="233045"/>
                </a:solidFill>
                <a:latin typeface="Arial"/>
              </a:rPr>
              <a:t>Use dependable concepts and replaceable logic where repeated changes make the investment valuable.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91856" y="1764792"/>
            <a:ext cx="3310128" cy="2148840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r">
              <a:spcBef>
                <a:spcPts val="0"/>
              </a:spcBef>
              <a:spcAft>
                <a:spcPts val="8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50" b="1">
                <a:solidFill>
                  <a:srgbClr val="1857CA"/>
                </a:solidFill>
                <a:latin typeface="Arial"/>
              </a:rPr>
              <a:t>PROPORTIONATE SAFEGUARD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091F4E"/>
                </a:solidFill>
                <a:latin typeface="Arial"/>
              </a:rPr>
              <a:t>Rare and contained anomaly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110" b="0">
                <a:solidFill>
                  <a:srgbClr val="233045"/>
                </a:solidFill>
                <a:latin typeface="Arial"/>
              </a:rPr>
              <a:t>Simple detection, alerting and a known recovery path may be preferable to elaborate automatic handling.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4233672"/>
            <a:ext cx="1097280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30" b="1" i="0">
                <a:solidFill>
                  <a:srgbClr val="122D5B"/>
                </a:solidFill>
                <a:latin typeface="Arial"/>
              </a:defRPr>
            </a:pPr>
            <a:r>
              <a:t>Change-oriented design is an approach to making better trade-offs, not a rule to add more architecture.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" y="6537960"/>
            <a:ext cx="530352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9" b="1" i="0">
                <a:solidFill>
                  <a:srgbClr val="6F757C"/>
                </a:solidFill>
                <a:latin typeface="Arial"/>
              </a:defRPr>
            </a:pPr>
            <a:r>
              <a:t>ARCHITECTURAL JUDGEMENT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537960"/>
            <a:ext cx="41148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6F757C"/>
                </a:solidFill>
                <a:latin typeface="Arial"/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164592"/>
            <a:ext cx="905256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122D5B"/>
                </a:solidFill>
                <a:latin typeface="Arial"/>
              </a:defRPr>
            </a:pPr>
            <a:r>
              <a:t>06 / ARCHITECTURAL JUDGEMENT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27080" y="164592"/>
            <a:ext cx="86868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6F757C"/>
                </a:solidFill>
                <a:latin typeface="Arial"/>
              </a:defRPr>
            </a:pPr>
            <a:r>
              <a:t>38 /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512064"/>
            <a:ext cx="11201400" cy="6217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50" b="0" i="0">
                <a:solidFill>
                  <a:srgbClr val="2D63DA"/>
                </a:solidFill>
                <a:latin typeface="Arial"/>
              </a:defRPr>
            </a:pPr>
            <a:r>
              <a:t>Extreme Programming: improving design is part of delivery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" y="1243584"/>
            <a:ext cx="11475720" cy="16459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2377440" y="2542032"/>
            <a:ext cx="932688" cy="0"/>
          </a:xfrm>
          <a:prstGeom prst="line">
            <a:avLst/>
          </a:prstGeom>
          <a:ln w="19050">
            <a:solidFill>
              <a:srgbClr val="447EE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138928" y="2542032"/>
            <a:ext cx="932688" cy="0"/>
          </a:xfrm>
          <a:prstGeom prst="line">
            <a:avLst/>
          </a:prstGeom>
          <a:ln w="19050">
            <a:solidFill>
              <a:srgbClr val="447EE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900416" y="2542032"/>
            <a:ext cx="932688" cy="0"/>
          </a:xfrm>
          <a:prstGeom prst="line">
            <a:avLst/>
          </a:prstGeom>
          <a:ln w="19050">
            <a:solidFill>
              <a:srgbClr val="447EE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48640" y="2103120"/>
            <a:ext cx="1828800" cy="877824"/>
          </a:xfrm>
          <a:prstGeom prst="rect">
            <a:avLst/>
          </a:prstGeom>
          <a:solidFill>
            <a:srgbClr val="EFF6FC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250" b="1">
                <a:solidFill>
                  <a:srgbClr val="122D5B"/>
                </a:solidFill>
                <a:latin typeface="Arial"/>
              </a:defRPr>
            </a:pPr>
            <a:r>
              <a:t>Deliver a small experiment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0128" y="2103120"/>
            <a:ext cx="1828800" cy="877824"/>
          </a:xfrm>
          <a:prstGeom prst="rect">
            <a:avLst/>
          </a:prstGeom>
          <a:solidFill>
            <a:srgbClr val="EFF6FC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250" b="1">
                <a:solidFill>
                  <a:srgbClr val="122D5B"/>
                </a:solidFill>
                <a:latin typeface="Arial"/>
              </a:defRPr>
            </a:pPr>
            <a:r>
              <a:t>Learn what varies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71616" y="2103120"/>
            <a:ext cx="1828800" cy="877824"/>
          </a:xfrm>
          <a:prstGeom prst="rect">
            <a:avLst/>
          </a:prstGeom>
          <a:solidFill>
            <a:srgbClr val="EFF6FC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250" b="1">
                <a:solidFill>
                  <a:srgbClr val="122D5B"/>
                </a:solidFill>
                <a:latin typeface="Arial"/>
              </a:defRPr>
            </a:pPr>
            <a:r>
              <a:t>Improve the boundaries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33104" y="2103120"/>
            <a:ext cx="1828800" cy="877824"/>
          </a:xfrm>
          <a:prstGeom prst="rect">
            <a:avLst/>
          </a:prstGeom>
          <a:solidFill>
            <a:srgbClr val="EFF6FC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250" b="1">
                <a:solidFill>
                  <a:srgbClr val="122D5B"/>
                </a:solidFill>
                <a:latin typeface="Arial"/>
              </a:defRPr>
            </a:pPr>
            <a:r>
              <a:t>Run regression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502152"/>
            <a:ext cx="5486400" cy="1508760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r">
              <a:spcBef>
                <a:spcPts val="0"/>
              </a:spcBef>
              <a:spcAft>
                <a:spcPts val="8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50" b="1">
                <a:solidFill>
                  <a:srgbClr val="1857CA"/>
                </a:solidFill>
                <a:latin typeface="Arial"/>
              </a:rPr>
              <a:t>EVOLUTIONARY DESIGN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091F4E"/>
                </a:solidFill>
                <a:latin typeface="Arial"/>
              </a:rPr>
              <a:t>What XP contributes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110" b="0">
                <a:solidFill>
                  <a:srgbClr val="233045"/>
                </a:solidFill>
                <a:latin typeface="Arial"/>
              </a:rPr>
              <a:t>Simple design, refactoring, automated tests and continuous integration support sustainable iteration.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502152"/>
            <a:ext cx="5486400" cy="1508760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r">
              <a:spcBef>
                <a:spcPts val="0"/>
              </a:spcBef>
              <a:spcAft>
                <a:spcPts val="8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50" b="1">
                <a:solidFill>
                  <a:srgbClr val="1857CA"/>
                </a:solidFill>
                <a:latin typeface="Arial"/>
              </a:rPr>
              <a:t>RESEARCH CONTEXT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091F4E"/>
                </a:solidFill>
                <a:latin typeface="Arial"/>
              </a:rPr>
              <a:t>What we add for quant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110" b="0">
                <a:solidFill>
                  <a:srgbClr val="233045"/>
                </a:solidFill>
                <a:latin typeface="Arial"/>
              </a:rPr>
              <a:t>Deliberate attention to recurring business variation, event semantics, workflow operations and production-faithful simulation.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5239512"/>
            <a:ext cx="1097280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30" b="1" i="0">
                <a:solidFill>
                  <a:srgbClr val="122D5B"/>
                </a:solidFill>
                <a:latin typeface="Arial"/>
              </a:defRPr>
            </a:pPr>
            <a:r>
              <a:t>Improving the structure is not separate from delivery; it helps maintain delivery capacity.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" y="6537960"/>
            <a:ext cx="530352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9" b="1" i="0">
                <a:solidFill>
                  <a:srgbClr val="6F757C"/>
                </a:solidFill>
                <a:latin typeface="Arial"/>
              </a:defRPr>
            </a:pPr>
            <a:r>
              <a:t>ARCHITECTURAL JUDGEMENT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84280" y="6537960"/>
            <a:ext cx="41148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6F757C"/>
                </a:solidFill>
                <a:latin typeface="Arial"/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164592"/>
            <a:ext cx="905256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122D5B"/>
                </a:solidFill>
                <a:latin typeface="Arial"/>
              </a:defRPr>
            </a:pPr>
            <a:r>
              <a:t>06 / ARCHITECTURAL JUDGEMENT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27080" y="164592"/>
            <a:ext cx="86868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6F757C"/>
                </a:solidFill>
                <a:latin typeface="Arial"/>
              </a:defRPr>
            </a:pPr>
            <a:r>
              <a:t>39 /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512064"/>
            <a:ext cx="11201400" cy="11155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0" i="0">
                <a:solidFill>
                  <a:srgbClr val="2D63DA"/>
                </a:solidFill>
                <a:latin typeface="Arial"/>
              </a:defRPr>
            </a:pPr>
            <a:r>
              <a:t>Discussion: what would support twenty different business experiments?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" y="1737360"/>
            <a:ext cx="11475720" cy="16459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2048256"/>
            <a:ext cx="274320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2D63DA"/>
                </a:solidFill>
                <a:latin typeface="Arial"/>
              </a:defRPr>
            </a:pPr>
            <a:r>
              <a:t>WE WANT TO TEST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505456"/>
          <a:ext cx="1092708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63540"/>
                <a:gridCol w="5463540"/>
              </a:tblGrid>
              <a:tr h="6126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Design question</a:t>
                      </a:r>
                    </a:p>
                  </a:txBody>
                  <a:tcPr>
                    <a:solidFill>
                      <a:srgbClr val="2D63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Discussion / sketch</a:t>
                      </a:r>
                    </a:p>
                  </a:txBody>
                  <a:tcPr>
                    <a:solidFill>
                      <a:srgbClr val="2D63DA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1230" b="1">
                          <a:solidFill>
                            <a:srgbClr val="122D5B"/>
                          </a:solidFill>
                          <a:latin typeface="Arial"/>
                        </a:defRPr>
                      </a:pPr>
                      <a:r>
                        <a:t>Which business operation would vary most often?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30" b="0">
                          <a:solidFill>
                            <a:srgbClr val="252A30"/>
                          </a:solidFill>
                          <a:latin typeface="Arial"/>
                        </a:defRPr>
                      </a:pP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1230" b="1">
                          <a:solidFill>
                            <a:srgbClr val="122D5B"/>
                          </a:solidFill>
                          <a:latin typeface="Arial"/>
                        </a:defRPr>
                      </a:pPr>
                      <a:r>
                        <a:t>Which objects / operations should keep stable definitions?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30" b="0">
                          <a:solidFill>
                            <a:srgbClr val="252A30"/>
                          </a:solidFill>
                          <a:latin typeface="Arial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1230" b="1">
                          <a:solidFill>
                            <a:srgbClr val="122D5B"/>
                          </a:solidFill>
                          <a:latin typeface="Arial"/>
                        </a:defRPr>
                      </a:pPr>
                      <a:r>
                        <a:t>Which state belongs inside the replaceable boundary?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30" b="0">
                          <a:solidFill>
                            <a:srgbClr val="252A30"/>
                          </a:solidFill>
                          <a:latin typeface="Arial"/>
                        </a:defRPr>
                      </a:pP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1230" b="1">
                          <a:solidFill>
                            <a:srgbClr val="122D5B"/>
                          </a:solidFill>
                          <a:latin typeface="Arial"/>
                        </a:defRPr>
                      </a:pPr>
                      <a:r>
                        <a:t>Which tests and simulator scenarios would make variants comparable?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30" b="0">
                          <a:solidFill>
                            <a:srgbClr val="252A30"/>
                          </a:solidFill>
                          <a:latin typeface="Arial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779008"/>
            <a:ext cx="10927080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40" b="1" i="0">
                <a:solidFill>
                  <a:srgbClr val="122D5B"/>
                </a:solidFill>
                <a:latin typeface="Arial"/>
              </a:defRPr>
            </a:pPr>
            <a:r>
              <a:t>There is no single perfect graph. Aim for clear business meaning, local change and trustworthy experiments.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" y="6537960"/>
            <a:ext cx="530352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9" b="1" i="0">
                <a:solidFill>
                  <a:srgbClr val="6F757C"/>
                </a:solidFill>
                <a:latin typeface="Arial"/>
              </a:defRPr>
            </a:pPr>
            <a:r>
              <a:t>ARCHITECTURAL JUDGEMENT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537960"/>
            <a:ext cx="41148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6F757C"/>
                </a:solidFill>
                <a:latin typeface="Arial"/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164592"/>
            <a:ext cx="905256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122D5B"/>
                </a:solidFill>
                <a:latin typeface="Arial"/>
              </a:defRPr>
            </a:pPr>
            <a:r>
              <a:t>07 / AI CODING STAGES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27080" y="164592"/>
            <a:ext cx="86868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6F757C"/>
                </a:solidFill>
                <a:latin typeface="Arial"/>
              </a:defRPr>
            </a:pPr>
            <a:r>
              <a:t>40 /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512064"/>
            <a:ext cx="11201400" cy="11155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0" i="0">
                <a:solidFill>
                  <a:srgbClr val="2D63DA"/>
                </a:solidFill>
                <a:latin typeface="Arial"/>
              </a:defRPr>
            </a:pPr>
            <a:r>
              <a:t>The Value of These Principles Across Stages of AI-Assisted Coding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" y="1737360"/>
            <a:ext cx="11475720" cy="16459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56816"/>
            <a:ext cx="274320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2D63DA"/>
                </a:solidFill>
                <a:latin typeface="Arial"/>
              </a:defRPr>
            </a:pPr>
            <a:r>
              <a:t>QUICK QUESTION FOR THE ROOM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31136"/>
            <a:ext cx="6766560" cy="32918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20" b="1" i="0">
                <a:solidFill>
                  <a:srgbClr val="122D5B"/>
                </a:solidFill>
                <a:latin typeface="Arial"/>
              </a:defRPr>
            </a:pPr>
            <a:r>
              <a:t>Which stage best describes how you work today?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807208"/>
          <a:ext cx="1124712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11201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STAGE 1 · TODAY / BASELINE</a:t>
                      </a:r>
                    </a:p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Human coding</a:t>
                      </a:r>
                    </a:p>
                  </a:txBody>
                  <a:tcPr>
                    <a:solidFill>
                      <a:srgbClr val="2D63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STAGE 2 · AI-ASSISTED</a:t>
                      </a:r>
                    </a:p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Mixed implementation</a:t>
                      </a:r>
                    </a:p>
                  </a:txBody>
                  <a:tcPr>
                    <a:solidFill>
                      <a:srgbClr val="2D63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STAGE 3 · FUTURE SCENARIO</a:t>
                      </a:r>
                    </a:p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AI coding, mixed review</a:t>
                      </a:r>
                    </a:p>
                  </a:txBody>
                  <a:tcPr>
                    <a:solidFill>
                      <a:srgbClr val="2D63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STAGE 4 · FUTURE SCENARIO</a:t>
                      </a:r>
                    </a:p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Fully agentic coding and review</a:t>
                      </a:r>
                    </a:p>
                  </a:txBody>
                  <a:tcPr>
                    <a:solidFill>
                      <a:srgbClr val="2D63DA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52A30"/>
                          </a:solidFill>
                          <a:latin typeface="Arial"/>
                        </a:defRPr>
                      </a:pPr>
                      <a:r>
                        <a:t>People implement, review and approve code.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52A30"/>
                          </a:solidFill>
                          <a:latin typeface="Arial"/>
                        </a:defRPr>
                      </a:pPr>
                      <a:r>
                        <a:t>AI writes some code; human review and approval remain central.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52A30"/>
                          </a:solidFill>
                          <a:latin typeface="Arial"/>
                        </a:defRPr>
                      </a:pPr>
                      <a:r>
                        <a:t>AI implements; some changes get full human review, others AI review with human signoff.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52A30"/>
                          </a:solidFill>
                          <a:latin typeface="Arial"/>
                        </a:defRPr>
                      </a:pPr>
                      <a:r>
                        <a:t>AI implements, reviews and signs off; people perform UAT.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30352" y="5367528"/>
            <a:ext cx="1097280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20" b="1" i="0">
                <a:solidFill>
                  <a:srgbClr val="122D5B"/>
                </a:solidFill>
                <a:latin typeface="Arial"/>
              </a:defRPr>
            </a:pPr>
            <a:r>
              <a:t>Stages 3 and 4 assume matching advances in model capability, system maturity and testing—not a fixed timetable.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" y="6537960"/>
            <a:ext cx="530352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9" b="1" i="0">
                <a:solidFill>
                  <a:srgbClr val="6F757C"/>
                </a:solidFill>
                <a:latin typeface="Arial"/>
              </a:defRPr>
            </a:pPr>
            <a:r>
              <a:t>AI CODING STAGES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537960"/>
            <a:ext cx="41148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6F757C"/>
                </a:solidFill>
                <a:latin typeface="Arial"/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164592"/>
            <a:ext cx="905256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122D5B"/>
                </a:solidFill>
                <a:latin typeface="Arial"/>
              </a:defRPr>
            </a:pPr>
            <a:r>
              <a:t>07 / AI CODING STAGES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27080" y="164592"/>
            <a:ext cx="86868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6F757C"/>
                </a:solidFill>
                <a:latin typeface="Arial"/>
              </a:defRPr>
            </a:pPr>
            <a:r>
              <a:t>41 /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512064"/>
            <a:ext cx="11201400" cy="11155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0" i="0">
                <a:solidFill>
                  <a:srgbClr val="2D63DA"/>
                </a:solidFill>
                <a:latin typeface="Arial"/>
              </a:defRPr>
            </a:pPr>
            <a:r>
              <a:t>Stage 1 — Human coding: make future changes easier to implement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" y="1737360"/>
            <a:ext cx="11475720" cy="16459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249424"/>
            <a:ext cx="5522976" cy="1920240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bIns="73152"/>
          <a:lstStyle/>
          <a:p>
            <a:pPr algn="r">
              <a:spcBef>
                <a:spcPts val="0"/>
              </a:spcBef>
              <a:spcAft>
                <a:spcPts val="9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50" b="1">
                <a:solidFill>
                  <a:srgbClr val="1857CA"/>
                </a:solidFill>
                <a:latin typeface="Arial"/>
              </a:rPr>
              <a:t>HOW WORK IS DONE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70" b="1">
                <a:solidFill>
                  <a:srgbClr val="091F4E"/>
                </a:solidFill>
                <a:latin typeface="Arial"/>
              </a:rPr>
              <a:t>Human implementation and review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100" b="0">
                <a:solidFill>
                  <a:srgbClr val="233045"/>
                </a:solidFill>
                <a:latin typeface="Arial"/>
              </a:rPr>
              <a:t>Researchers and engineers write features, connect the graph, debug changes and assess their behaviour.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9632" y="2249424"/>
            <a:ext cx="5522976" cy="1920240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bIns="73152"/>
          <a:lstStyle/>
          <a:p>
            <a:pPr algn="r">
              <a:spcBef>
                <a:spcPts val="0"/>
              </a:spcBef>
              <a:spcAft>
                <a:spcPts val="9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50" b="1">
                <a:solidFill>
                  <a:srgbClr val="1857CA"/>
                </a:solidFill>
                <a:latin typeface="Arial"/>
              </a:rPr>
              <a:t>VALUE OF DESIGN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70" b="1">
                <a:solidFill>
                  <a:srgbClr val="091F4E"/>
                </a:solidFill>
                <a:latin typeface="Arial"/>
              </a:rPr>
              <a:t>Less work outside the experiment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100" b="0">
                <a:solidFill>
                  <a:srgbClr val="233045"/>
                </a:solidFill>
                <a:latin typeface="Arial"/>
              </a:rPr>
              <a:t>Replaceable components and accurately defined operations reduce the amount of the existing system that people must revisit.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462272"/>
            <a:ext cx="11265408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64008" bIns="73152"/>
          <a:lstStyle/>
          <a:p>
            <a:pPr algn="r">
              <a:spcBef>
                <a:spcPts val="0"/>
              </a:spcBef>
              <a:spcAft>
                <a:spcPts val="700"/>
              </a:spcAft>
              <a:defRPr sz="1450" b="1">
                <a:solidFill>
                  <a:srgbClr val="122D5B"/>
                </a:solidFill>
                <a:latin typeface="Arial"/>
              </a:defRPr>
            </a:pPr>
            <a:r>
              <a:rPr sz="780" b="1">
                <a:solidFill>
                  <a:srgbClr val="1857CA"/>
                </a:solidFill>
                <a:latin typeface="Arial"/>
              </a:rPr>
              <a:t>A FAMILIAR EXAMPLE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91F4E"/>
                </a:solidFill>
                <a:latin typeface="Arial"/>
              </a:rPr>
              <a:t>Trying another business rule should primarily change that rule and its relevant tests, rather than force a fresh implementation of the surrounding framework.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" y="6537960"/>
            <a:ext cx="530352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9" b="1" i="0">
                <a:solidFill>
                  <a:srgbClr val="6F757C"/>
                </a:solidFill>
                <a:latin typeface="Arial"/>
              </a:defRPr>
            </a:pPr>
            <a:r>
              <a:t>AI CODING STAGES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537960"/>
            <a:ext cx="41148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6F757C"/>
                </a:solidFill>
                <a:latin typeface="Arial"/>
              </a:defRPr>
            </a:pPr>
            <a: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164592"/>
            <a:ext cx="905256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122D5B"/>
                </a:solidFill>
                <a:latin typeface="Arial"/>
              </a:defRPr>
            </a:pPr>
            <a:r>
              <a:t>07 / AI CODING STAGES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27080" y="164592"/>
            <a:ext cx="86868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6F757C"/>
                </a:solidFill>
                <a:latin typeface="Arial"/>
              </a:defRPr>
            </a:pPr>
            <a:r>
              <a:t>42 /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512064"/>
            <a:ext cx="11201400" cy="11155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0" i="0">
                <a:solidFill>
                  <a:srgbClr val="2D63DA"/>
                </a:solidFill>
                <a:latin typeface="Arial"/>
              </a:defRPr>
            </a:pPr>
            <a:r>
              <a:t>Stage 2 — AI-assisted coding: make generated changes understandable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" y="1737360"/>
            <a:ext cx="11475720" cy="16459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249424"/>
            <a:ext cx="5522976" cy="1920240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r">
              <a:spcBef>
                <a:spcPts val="0"/>
              </a:spcBef>
              <a:spcAft>
                <a:spcPts val="8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50" b="1">
                <a:solidFill>
                  <a:srgbClr val="1857CA"/>
                </a:solidFill>
                <a:latin typeface="Arial"/>
              </a:rPr>
              <a:t>ASSUMED WORKING MODEL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091F4E"/>
                </a:solidFill>
                <a:latin typeface="Arial"/>
              </a:rPr>
              <a:t>20–30% AI coding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110" b="0">
                <a:solidFill>
                  <a:srgbClr val="233045"/>
                </a:solidFill>
                <a:latin typeface="Arial"/>
              </a:rPr>
              <a:t>AI contributes implementations and local refactoring. People retain the main review and signoff responsibilities.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9632" y="2249424"/>
            <a:ext cx="5522976" cy="1920240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r">
              <a:spcBef>
                <a:spcPts val="0"/>
              </a:spcBef>
              <a:spcAft>
                <a:spcPts val="8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50" b="1">
                <a:solidFill>
                  <a:srgbClr val="1857CA"/>
                </a:solidFill>
                <a:latin typeface="Arial"/>
              </a:rPr>
              <a:t>VALUE OF DESIGN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091F4E"/>
                </a:solidFill>
                <a:latin typeface="Arial"/>
              </a:rPr>
              <a:t>Clear changes and clear evidence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110" b="0">
                <a:solidFill>
                  <a:srgbClr val="233045"/>
                </a:solidFill>
                <a:latin typeface="Arial"/>
              </a:rPr>
              <a:t>A defined subgraph boundary shows the intended business change. Shared contract tests and simulator replay show how it behaves.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462272"/>
            <a:ext cx="11265408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64008" bIns="73152"/>
          <a:lstStyle/>
          <a:p>
            <a:pPr algn="r">
              <a:spcBef>
                <a:spcPts val="0"/>
              </a:spcBef>
              <a:spcAft>
                <a:spcPts val="700"/>
              </a:spcAft>
              <a:defRPr sz="1450" b="1">
                <a:solidFill>
                  <a:srgbClr val="122D5B"/>
                </a:solidFill>
                <a:latin typeface="Arial"/>
              </a:defRPr>
            </a:pPr>
            <a:r>
              <a:rPr sz="780" b="1">
                <a:solidFill>
                  <a:srgbClr val="1857CA"/>
                </a:solidFill>
                <a:latin typeface="Arial"/>
              </a:rPr>
              <a:t>HUMAN REVIEW CAN ASK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91F4E"/>
                </a:solidFill>
                <a:latin typeface="Arial"/>
              </a:rPr>
              <a:t>What was meant to change? Which contract still applies? What do the tests and event traces actually demonstrate?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" y="6537960"/>
            <a:ext cx="530352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9" b="1" i="0">
                <a:solidFill>
                  <a:srgbClr val="6F757C"/>
                </a:solidFill>
                <a:latin typeface="Arial"/>
              </a:defRPr>
            </a:pPr>
            <a:r>
              <a:t>AI CODING STAGES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537960"/>
            <a:ext cx="41148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6F757C"/>
                </a:solidFill>
                <a:latin typeface="Arial"/>
              </a:defRPr>
            </a:pPr>
            <a: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164592"/>
            <a:ext cx="905256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122D5B"/>
                </a:solidFill>
                <a:latin typeface="Arial"/>
              </a:defRPr>
            </a:pPr>
            <a:r>
              <a:t>07 / AI CODING STAGES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27080" y="164592"/>
            <a:ext cx="86868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6F757C"/>
                </a:solidFill>
                <a:latin typeface="Arial"/>
              </a:defRPr>
            </a:pPr>
            <a:r>
              <a:t>43 /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512064"/>
            <a:ext cx="11201400" cy="11155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0" i="0">
                <a:solidFill>
                  <a:srgbClr val="2D63DA"/>
                </a:solidFill>
                <a:latin typeface="Arial"/>
              </a:defRPr>
            </a:pPr>
            <a:r>
              <a:t>Stage 3 — AI coding and mixed review: reusable tests support greater autonomy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" y="1737360"/>
            <a:ext cx="11475720" cy="16459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84248"/>
            <a:ext cx="38404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2D63DA"/>
                </a:solidFill>
                <a:latin typeface="Arial"/>
              </a:defRPr>
            </a:pPr>
            <a:r>
              <a:t>ASSUMED FUTURE WORKING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04288"/>
            <a:ext cx="3383280" cy="1078992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r">
              <a:spcBef>
                <a:spcPts val="0"/>
              </a:spcBef>
              <a:spcAft>
                <a:spcPts val="5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20" b="1">
                <a:solidFill>
                  <a:srgbClr val="1857CA"/>
                </a:solidFill>
                <a:latin typeface="Arial"/>
              </a:rPr>
              <a:t>IMPLEMENTATION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91F4E"/>
                </a:solidFill>
                <a:latin typeface="Arial"/>
              </a:rPr>
              <a:t>100% AI coding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050" b="0">
                <a:solidFill>
                  <a:srgbClr val="233045"/>
                </a:solidFill>
                <a:latin typeface="Arial"/>
              </a:rPr>
              <a:t>Implementation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050791" y="2304288"/>
            <a:ext cx="3383280" cy="1078992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r">
              <a:spcBef>
                <a:spcPts val="0"/>
              </a:spcBef>
              <a:spcAft>
                <a:spcPts val="5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20" b="1">
                <a:solidFill>
                  <a:srgbClr val="1857CA"/>
                </a:solidFill>
                <a:latin typeface="Arial"/>
              </a:rPr>
              <a:t>REVIEW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91F4E"/>
                </a:solidFill>
                <a:latin typeface="Arial"/>
              </a:rPr>
              <a:t>Review paths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050" b="0">
                <a:solidFill>
                  <a:srgbClr val="233045"/>
                </a:solidFill>
                <a:latin typeface="Arial"/>
              </a:rPr>
              <a:t>30% full human / 70% AI + human signoff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611880"/>
            <a:ext cx="3383280" cy="1755648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r">
              <a:spcBef>
                <a:spcPts val="0"/>
              </a:spcBef>
              <a:spcAft>
                <a:spcPts val="8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50" b="1">
                <a:solidFill>
                  <a:srgbClr val="1857CA"/>
                </a:solidFill>
                <a:latin typeface="Arial"/>
              </a:rPr>
              <a:t>TESTABLE BOUNDARIES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091F4E"/>
                </a:solidFill>
                <a:latin typeface="Arial"/>
              </a:rPr>
              <a:t>Common acceptance criteria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110" b="0">
                <a:solidFill>
                  <a:srgbClr val="233045"/>
                </a:solidFill>
                <a:latin typeface="Arial"/>
              </a:rPr>
              <a:t>Compatible candidate subgraphs face the same executable contract and state tests.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50791" y="3611880"/>
            <a:ext cx="3383280" cy="1755648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r">
              <a:spcBef>
                <a:spcPts val="0"/>
              </a:spcBef>
              <a:spcAft>
                <a:spcPts val="8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50" b="1">
                <a:solidFill>
                  <a:srgbClr val="1857CA"/>
                </a:solidFill>
                <a:latin typeface="Arial"/>
              </a:rPr>
              <a:t>RELIABLE REVIEW EVIDENCE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091F4E"/>
                </a:solidFill>
                <a:latin typeface="Arial"/>
              </a:rPr>
              <a:t>Independent verification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110" b="0">
                <a:solidFill>
                  <a:srgbClr val="233045"/>
                </a:solidFill>
                <a:latin typeface="Arial"/>
              </a:rPr>
              <a:t>AI review and human signoff can use repeatable simulator traces and regression results.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44383" y="3611880"/>
            <a:ext cx="3383280" cy="1755648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r">
              <a:spcBef>
                <a:spcPts val="0"/>
              </a:spcBef>
              <a:spcAft>
                <a:spcPts val="8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50" b="1">
                <a:solidFill>
                  <a:srgbClr val="1857CA"/>
                </a:solidFill>
                <a:latin typeface="Arial"/>
              </a:rPr>
              <a:t>PARALLEL RESEARCH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091F4E"/>
                </a:solidFill>
                <a:latin typeface="Arial"/>
              </a:rPr>
              <a:t>Less unnecessary overlap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110" b="0">
                <a:solidFill>
                  <a:srgbClr val="233045"/>
                </a:solidFill>
                <a:latin typeface="Arial"/>
              </a:rPr>
              <a:t>Agents implement multiple variants within clear boundaries and integrate them into the shared workflow.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5614416"/>
            <a:ext cx="1097280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30" b="1" i="0">
                <a:solidFill>
                  <a:srgbClr val="122D5B"/>
                </a:solidFill>
                <a:latin typeface="Arial"/>
              </a:defRPr>
            </a:pPr>
            <a:r>
              <a:t>Better-defined components and tests help us safely delegate more implementation and review as the whole environment matures.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" y="6537960"/>
            <a:ext cx="530352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9" b="1" i="0">
                <a:solidFill>
                  <a:srgbClr val="6F757C"/>
                </a:solidFill>
                <a:latin typeface="Arial"/>
              </a:defRPr>
            </a:pPr>
            <a:r>
              <a:t>AI CODING STAGES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537960"/>
            <a:ext cx="41148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6F757C"/>
                </a:solidFill>
                <a:latin typeface="Arial"/>
              </a:defRPr>
            </a:pPr>
            <a: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164592"/>
            <a:ext cx="905256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122D5B"/>
                </a:solidFill>
                <a:latin typeface="Arial"/>
              </a:defRPr>
            </a:pPr>
            <a:r>
              <a:t>07 / AI CODING STAGES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27080" y="164592"/>
            <a:ext cx="86868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6F757C"/>
                </a:solidFill>
                <a:latin typeface="Arial"/>
              </a:defRPr>
            </a:pPr>
            <a:r>
              <a:t>44 /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512064"/>
            <a:ext cx="11201400" cy="11155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0" i="0">
                <a:solidFill>
                  <a:srgbClr val="2D63DA"/>
                </a:solidFill>
                <a:latin typeface="Arial"/>
              </a:defRPr>
            </a:pPr>
            <a:r>
              <a:t>Stage 4 — Fully agentic coding: better controlled experiments and reusable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" y="1737360"/>
            <a:ext cx="11475720" cy="16459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38528"/>
            <a:ext cx="457200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2D63DA"/>
                </a:solidFill>
                <a:latin typeface="Arial"/>
              </a:defRPr>
            </a:pPr>
            <a:r>
              <a:t>ONE EXAMPLE · COMPARE THREE BUSINESS IDEAS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2788920" y="2615184"/>
            <a:ext cx="960119" cy="836676"/>
          </a:xfrm>
          <a:prstGeom prst="line">
            <a:avLst/>
          </a:prstGeom>
          <a:ln w="15875">
            <a:solidFill>
              <a:srgbClr val="447EE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75120" y="2615184"/>
            <a:ext cx="2697480" cy="836676"/>
          </a:xfrm>
          <a:prstGeom prst="line">
            <a:avLst/>
          </a:prstGeom>
          <a:ln w="15875">
            <a:solidFill>
              <a:srgbClr val="447EE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788920" y="3410712"/>
            <a:ext cx="960119" cy="41148"/>
          </a:xfrm>
          <a:prstGeom prst="line">
            <a:avLst/>
          </a:prstGeom>
          <a:ln w="15875">
            <a:solidFill>
              <a:srgbClr val="447EE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675120" y="3410712"/>
            <a:ext cx="2697480" cy="41148"/>
          </a:xfrm>
          <a:prstGeom prst="line">
            <a:avLst/>
          </a:prstGeom>
          <a:ln w="15875">
            <a:solidFill>
              <a:srgbClr val="447EE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788920" y="3451860"/>
            <a:ext cx="960119" cy="754380"/>
          </a:xfrm>
          <a:prstGeom prst="line">
            <a:avLst/>
          </a:prstGeom>
          <a:ln w="15875">
            <a:solidFill>
              <a:srgbClr val="447EE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675120" y="3451860"/>
            <a:ext cx="2697480" cy="754380"/>
          </a:xfrm>
          <a:prstGeom prst="line">
            <a:avLst/>
          </a:prstGeom>
          <a:ln w="15875">
            <a:solidFill>
              <a:srgbClr val="447EE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02920" y="3017520"/>
            <a:ext cx="2286000" cy="868680"/>
          </a:xfrm>
          <a:prstGeom prst="rect">
            <a:avLst/>
          </a:prstGeom>
          <a:solidFill>
            <a:srgbClr val="EFF6FC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l">
              <a:spcBef>
                <a:spcPts val="0"/>
              </a:spcBef>
              <a:spcAft>
                <a:spcPts val="500"/>
              </a:spcAft>
              <a:defRPr sz="1200" b="1">
                <a:solidFill>
                  <a:srgbClr val="122D5B"/>
                </a:solidFill>
                <a:latin typeface="Arial"/>
              </a:defRPr>
            </a:pPr>
            <a:r>
              <a:rPr sz="1300" b="1">
                <a:solidFill>
                  <a:srgbClr val="091F4E"/>
                </a:solidFill>
                <a:latin typeface="Arial"/>
              </a:rPr>
              <a:t>Common research setup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233045"/>
                </a:solidFill>
                <a:latin typeface="Arial"/>
              </a:rPr>
              <a:t>Events, timing, costs and simulator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49039" y="2258568"/>
            <a:ext cx="2926080" cy="713232"/>
          </a:xfrm>
          <a:prstGeom prst="rect">
            <a:avLst/>
          </a:prstGeom>
          <a:solidFill>
            <a:srgbClr val="E5EFFD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l">
              <a:spcBef>
                <a:spcPts val="0"/>
              </a:spcBef>
              <a:spcAft>
                <a:spcPts val="500"/>
              </a:spcAft>
              <a:defRPr sz="1160" b="1">
                <a:solidFill>
                  <a:srgbClr val="122D5B"/>
                </a:solidFill>
                <a:latin typeface="Arial"/>
              </a:defRPr>
            </a:pPr>
            <a:r>
              <a:rPr sz="1350" b="1">
                <a:solidFill>
                  <a:srgbClr val="091F4E"/>
                </a:solidFill>
                <a:latin typeface="Arial"/>
              </a:rPr>
              <a:t>Fixed weights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33045"/>
                </a:solidFill>
                <a:latin typeface="Arial"/>
              </a:rPr>
              <a:t>Swappable business logic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49039" y="3054096"/>
            <a:ext cx="2926080" cy="713232"/>
          </a:xfrm>
          <a:prstGeom prst="rect">
            <a:avLst/>
          </a:prstGeom>
          <a:solidFill>
            <a:srgbClr val="E5EFFD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l">
              <a:spcBef>
                <a:spcPts val="0"/>
              </a:spcBef>
              <a:spcAft>
                <a:spcPts val="500"/>
              </a:spcAft>
              <a:defRPr sz="1160" b="1">
                <a:solidFill>
                  <a:srgbClr val="122D5B"/>
                </a:solidFill>
                <a:latin typeface="Arial"/>
              </a:defRPr>
            </a:pPr>
            <a:r>
              <a:rPr sz="1350" b="1">
                <a:solidFill>
                  <a:srgbClr val="091F4E"/>
                </a:solidFill>
                <a:latin typeface="Arial"/>
              </a:rPr>
              <a:t>Liquidity-aware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33045"/>
                </a:solidFill>
                <a:latin typeface="Arial"/>
              </a:rPr>
              <a:t>Swappable business logic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49039" y="3849624"/>
            <a:ext cx="2926080" cy="713232"/>
          </a:xfrm>
          <a:prstGeom prst="rect">
            <a:avLst/>
          </a:prstGeom>
          <a:solidFill>
            <a:srgbClr val="E5EFFD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l">
              <a:spcBef>
                <a:spcPts val="0"/>
              </a:spcBef>
              <a:spcAft>
                <a:spcPts val="500"/>
              </a:spcAft>
              <a:defRPr sz="1160" b="1">
                <a:solidFill>
                  <a:srgbClr val="122D5B"/>
                </a:solidFill>
                <a:latin typeface="Arial"/>
              </a:defRPr>
            </a:pPr>
            <a:r>
              <a:rPr sz="1350" b="1">
                <a:solidFill>
                  <a:srgbClr val="091F4E"/>
                </a:solidFill>
                <a:latin typeface="Arial"/>
              </a:rPr>
              <a:t>Regime-based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33045"/>
                </a:solidFill>
                <a:latin typeface="Arial"/>
              </a:rPr>
              <a:t>Swappable business logic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72600" y="3017520"/>
            <a:ext cx="2286000" cy="868680"/>
          </a:xfrm>
          <a:prstGeom prst="rect">
            <a:avLst/>
          </a:prstGeom>
          <a:solidFill>
            <a:srgbClr val="EFF6FC"/>
          </a:solidFill>
          <a:ln w="12700">
            <a:solidFill>
              <a:srgbClr val="C2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l">
              <a:spcBef>
                <a:spcPts val="0"/>
              </a:spcBef>
              <a:spcAft>
                <a:spcPts val="500"/>
              </a:spcAft>
              <a:defRPr sz="1120" b="1">
                <a:solidFill>
                  <a:srgbClr val="122D5B"/>
                </a:solidFill>
                <a:latin typeface="Arial"/>
              </a:defRPr>
            </a:pPr>
            <a:r>
              <a:rPr sz="1300" b="1">
                <a:solidFill>
                  <a:srgbClr val="091F4E"/>
                </a:solidFill>
                <a:latin typeface="Arial"/>
              </a:rPr>
              <a:t>Repeatable evidence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233045"/>
                </a:solidFill>
                <a:latin typeface="Arial"/>
              </a:rPr>
              <a:t>Contract tests, replay and evaluation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754880"/>
            <a:ext cx="3310128" cy="1078992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r">
              <a:spcBef>
                <a:spcPts val="0"/>
              </a:spcBef>
              <a:spcAft>
                <a:spcPts val="5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20" b="1">
                <a:solidFill>
                  <a:srgbClr val="1857CA"/>
                </a:solidFill>
                <a:latin typeface="Arial"/>
              </a:rPr>
              <a:t>EXPERIMENT DESIGN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91F4E"/>
                </a:solidFill>
                <a:latin typeface="Arial"/>
              </a:rPr>
              <a:t>Know what varies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050" b="0">
                <a:solidFill>
                  <a:srgbClr val="233045"/>
                </a:solidFill>
                <a:latin typeface="Arial"/>
              </a:rPr>
              <a:t>Make the chosen business-logic difference explicit; keep relevant comparisons aligned.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24528" y="4754880"/>
            <a:ext cx="3310128" cy="1078992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r">
              <a:spcBef>
                <a:spcPts val="0"/>
              </a:spcBef>
              <a:spcAft>
                <a:spcPts val="5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20" b="1">
                <a:solidFill>
                  <a:srgbClr val="1857CA"/>
                </a:solidFill>
                <a:latin typeface="Arial"/>
              </a:rPr>
              <a:t>TESTING AT SCALE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91F4E"/>
                </a:solidFill>
                <a:latin typeface="Arial"/>
              </a:rPr>
              <a:t>Reuse reliable checks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050" b="0">
                <a:solidFill>
                  <a:srgbClr val="233045"/>
                </a:solidFill>
                <a:latin typeface="Arial"/>
              </a:rPr>
              <a:t>Common contracts and simulator scenarios apply to each compatible candidate.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91856" y="4754880"/>
            <a:ext cx="3310128" cy="1078992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r">
              <a:spcBef>
                <a:spcPts val="0"/>
              </a:spcBef>
              <a:spcAft>
                <a:spcPts val="5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20" b="1">
                <a:solidFill>
                  <a:srgbClr val="1857CA"/>
                </a:solidFill>
                <a:latin typeface="Arial"/>
              </a:rPr>
              <a:t>RESEARCH KNOWLEDGE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91F4E"/>
                </a:solidFill>
                <a:latin typeface="Arial"/>
              </a:rPr>
              <a:t>Results we can build on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050" b="0">
                <a:solidFill>
                  <a:srgbClr val="233045"/>
                </a:solidFill>
                <a:latin typeface="Arial"/>
              </a:rPr>
              <a:t>Record variants, assumptions and conditions to make findings easier to reproduce and compare.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5961888"/>
            <a:ext cx="10972800" cy="40233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80" b="1" i="0">
                <a:solidFill>
                  <a:srgbClr val="122D5B"/>
                </a:solidFill>
                <a:latin typeface="Arial"/>
              </a:defRPr>
            </a:pPr>
            <a:r>
              <a:t>Isolation improves comparability and repeatability; robust statistical evaluation remains essential, including protection against repeated-search overfitting.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" y="6537960"/>
            <a:ext cx="530352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9" b="1" i="0">
                <a:solidFill>
                  <a:srgbClr val="6F757C"/>
                </a:solidFill>
                <a:latin typeface="Arial"/>
              </a:defRPr>
            </a:pPr>
            <a:r>
              <a:t>AI CODING STAGES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6537960"/>
            <a:ext cx="41148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6F757C"/>
                </a:solidFill>
                <a:latin typeface="Arial"/>
              </a:defRPr>
            </a:pPr>
            <a: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164592"/>
            <a:ext cx="905256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122D5B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27080" y="164592"/>
            <a:ext cx="86868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6F757C"/>
                </a:solidFill>
                <a:latin typeface="Arial"/>
              </a:defRPr>
            </a:pPr>
            <a:r>
              <a:t>45 /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512064"/>
            <a:ext cx="11201400" cy="6217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50" b="0" i="0">
                <a:solidFill>
                  <a:srgbClr val="2D63DA"/>
                </a:solidFill>
                <a:latin typeface="Arial"/>
              </a:defRPr>
            </a:pPr>
            <a:r>
              <a:t>Designing for change sustains research agility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" y="1243584"/>
            <a:ext cx="11475720" cy="16459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55648"/>
            <a:ext cx="2578608" cy="2103120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r">
              <a:spcBef>
                <a:spcPts val="0"/>
              </a:spcBef>
              <a:spcAft>
                <a:spcPts val="8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50" b="1">
                <a:solidFill>
                  <a:srgbClr val="1857CA"/>
                </a:solidFill>
                <a:latin typeface="Arial"/>
              </a:rPr>
              <a:t>01 · CHANGE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091F4E"/>
                </a:solidFill>
                <a:latin typeface="Arial"/>
              </a:rPr>
              <a:t>Keep changes local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000" b="0">
                <a:solidFill>
                  <a:srgbClr val="233045"/>
                </a:solidFill>
                <a:latin typeface="Arial"/>
              </a:rPr>
              <a:t>Place likely-to-change technical components and business workflows behind dependable boundaries. Make state ownership and external effects explicit.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3310128" y="1755648"/>
            <a:ext cx="2578608" cy="2103120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r">
              <a:spcBef>
                <a:spcPts val="0"/>
              </a:spcBef>
              <a:spcAft>
                <a:spcPts val="8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50" b="1">
                <a:solidFill>
                  <a:srgbClr val="1857CA"/>
                </a:solidFill>
                <a:latin typeface="Arial"/>
              </a:rPr>
              <a:t>02 · DEFINITIONS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091F4E"/>
                </a:solidFill>
                <a:latin typeface="Arial"/>
              </a:rPr>
              <a:t>Represent the business accurately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000" b="0">
                <a:solidFill>
                  <a:srgbClr val="233045"/>
                </a:solidFill>
                <a:latin typeface="Arial"/>
              </a:rPr>
              <a:t>Classes, instances and operations should match the underlying business definitions, including when an operation applies and what it changes.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63056" y="1755648"/>
            <a:ext cx="2578608" cy="2103120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r">
              <a:spcBef>
                <a:spcPts val="0"/>
              </a:spcBef>
              <a:spcAft>
                <a:spcPts val="8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50" b="1">
                <a:solidFill>
                  <a:srgbClr val="1857CA"/>
                </a:solidFill>
                <a:latin typeface="Arial"/>
              </a:rPr>
              <a:t>03 · TESTING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091F4E"/>
                </a:solidFill>
                <a:latin typeface="Arial"/>
              </a:rPr>
              <a:t>Design testing alongside development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000" b="0">
                <a:solidFill>
                  <a:srgbClr val="233045"/>
                </a:solidFill>
                <a:latin typeface="Arial"/>
              </a:rPr>
              <a:t>Use reusable boundary tests, tests for intended differences and production-faithful event replay to verify the assembled workflow.</a:t>
            </a:r>
          </a:p>
        </p:txBody>
      </p:sp>
      <p:sp>
        <p:nvSpPr>
          <p:cNvPr id="9" name="Rectangle 8"/>
          <p:cNvSpPr/>
          <p:nvPr/>
        </p:nvSpPr>
        <p:spPr>
          <a:xfrm>
            <a:off x="9015984" y="1755648"/>
            <a:ext cx="2578608" cy="2103120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r">
              <a:spcBef>
                <a:spcPts val="0"/>
              </a:spcBef>
              <a:spcAft>
                <a:spcPts val="8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750" b="1">
                <a:solidFill>
                  <a:srgbClr val="1857CA"/>
                </a:solidFill>
                <a:latin typeface="Arial"/>
              </a:rPr>
              <a:t>04 · JUDGEMENT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091F4E"/>
                </a:solidFill>
                <a:latin typeface="Arial"/>
              </a:rPr>
              <a:t>Improve the design as we deliver</a:t>
            </a:r>
          </a:p>
          <a:p>
            <a:pPr algn="l">
              <a:spcBef>
                <a:spcPts val="0"/>
              </a:spcBef>
              <a:spcAft>
                <a:spcPts val="220"/>
              </a:spcAft>
            </a:pPr>
            <a:r>
              <a:rPr sz="1000" b="0">
                <a:solidFill>
                  <a:srgbClr val="233045"/>
                </a:solidFill>
                <a:latin typeface="Arial"/>
              </a:rPr>
              <a:t>Invest where changes recur. Resolve genuine ambiguity at its source, while keeping rare, manageable exceptions simple.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233672"/>
            <a:ext cx="11137392" cy="987552"/>
          </a:xfrm>
          <a:prstGeom prst="rect">
            <a:avLst/>
          </a:prstGeom>
          <a:solidFill>
            <a:srgbClr val="12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defRPr sz="1700" b="1">
                <a:solidFill>
                  <a:srgbClr val="FFFFFF"/>
                </a:solidFill>
                <a:latin typeface="Arial"/>
              </a:defRPr>
            </a:pPr>
            <a:r>
              <a:t>Faster, risk-controlled experimentation, more dependable learning and a clearer route to production—whether people or AI implement the changes.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5312664"/>
            <a:ext cx="228600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6F757C"/>
                </a:solidFill>
                <a:latin typeface="Arial"/>
              </a:defRPr>
            </a:pPr>
            <a:r>
              <a:t>The business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" y="6537960"/>
            <a:ext cx="530352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9" b="1" i="0">
                <a:solidFill>
                  <a:srgbClr val="6F757C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537960"/>
            <a:ext cx="41148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6F757C"/>
                </a:solidFill>
                <a:latin typeface="Arial"/>
              </a:defRPr>
            </a:pPr>
            <a: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164592"/>
            <a:ext cx="905256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122D5B"/>
                </a:solidFill>
                <a:latin typeface="Arial"/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27080" y="164592"/>
            <a:ext cx="86868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6F757C"/>
                </a:solidFill>
                <a:latin typeface="Arial"/>
              </a:defRPr>
            </a:pPr>
            <a:r>
              <a:t>46 /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512064"/>
            <a:ext cx="11201400" cy="6217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50" b="0" i="0">
                <a:solidFill>
                  <a:srgbClr val="2D63DA"/>
                </a:solidFill>
                <a:latin typeface="Arial"/>
              </a:defRPr>
            </a:pPr>
            <a:r>
              <a:t>Primary sources and further reading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" y="1243584"/>
            <a:ext cx="11475720" cy="16459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764792"/>
            <a:ext cx="5257800" cy="914400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l">
              <a:spcBef>
                <a:spcPts val="0"/>
              </a:spcBef>
              <a:spcAft>
                <a:spcPts val="5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1350" b="1">
                <a:solidFill>
                  <a:srgbClr val="091F4E"/>
                </a:solidFill>
                <a:latin typeface="Arial"/>
              </a:rPr>
              <a:t>Parnas · Information Hiding (1972)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33045"/>
                </a:solidFill>
                <a:latin typeface="Arial"/>
              </a:rPr>
              <a:t>Modules organised around decisions likely to change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862072"/>
            <a:ext cx="5257800" cy="914400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l">
              <a:spcBef>
                <a:spcPts val="0"/>
              </a:spcBef>
              <a:spcAft>
                <a:spcPts val="5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1350" b="1">
                <a:solidFill>
                  <a:srgbClr val="091F4E"/>
                </a:solidFill>
                <a:latin typeface="Arial"/>
              </a:rPr>
              <a:t>Parnas · Program Families (1976)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33045"/>
                </a:solidFill>
                <a:latin typeface="Arial"/>
              </a:rPr>
              <a:t>Shared structure across related program variants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959352"/>
            <a:ext cx="5257800" cy="914400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l">
              <a:spcBef>
                <a:spcPts val="0"/>
              </a:spcBef>
              <a:spcAft>
                <a:spcPts val="5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1350" b="1">
                <a:solidFill>
                  <a:srgbClr val="091F4E"/>
                </a:solidFill>
                <a:latin typeface="Arial"/>
              </a:rPr>
              <a:t>Fowler · Is Design Dead?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33045"/>
                </a:solidFill>
                <a:latin typeface="Arial"/>
              </a:rPr>
              <a:t>Extreme Programming, refactoring and evolutionary design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764792"/>
            <a:ext cx="5257800" cy="914400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l">
              <a:spcBef>
                <a:spcPts val="0"/>
              </a:spcBef>
              <a:spcAft>
                <a:spcPts val="5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1350" b="1">
                <a:solidFill>
                  <a:srgbClr val="091F4E"/>
                </a:solidFill>
                <a:latin typeface="Arial"/>
              </a:rPr>
              <a:t>NASA/JPL · Mars Climate Orbiter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33045"/>
                </a:solidFill>
                <a:latin typeface="Arial"/>
              </a:rPr>
              <a:t>Incompatible unit expectations across an interface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2862072"/>
            <a:ext cx="5257800" cy="914400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l">
              <a:spcBef>
                <a:spcPts val="0"/>
              </a:spcBef>
              <a:spcAft>
                <a:spcPts val="5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1350" b="1">
                <a:solidFill>
                  <a:srgbClr val="091F4E"/>
                </a:solidFill>
                <a:latin typeface="Arial"/>
              </a:rPr>
              <a:t>ESA · Ariane 501 Inquiry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33045"/>
                </a:solidFill>
                <a:latin typeface="Arial"/>
              </a:rPr>
              <a:t>Reuse assumptions and representative testing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3959352"/>
            <a:ext cx="5257800" cy="914400"/>
          </a:xfrm>
          <a:prstGeom prst="rect">
            <a:avLst/>
          </a:prstGeom>
          <a:solidFill>
            <a:srgbClr val="F7F9FB"/>
          </a:solidFill>
          <a:ln w="1016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54864" bIns="73152"/>
          <a:lstStyle/>
          <a:p>
            <a:pPr algn="l">
              <a:spcBef>
                <a:spcPts val="0"/>
              </a:spcBef>
              <a:spcAft>
                <a:spcPts val="500"/>
              </a:spcAft>
              <a:defRPr sz="950" b="1">
                <a:solidFill>
                  <a:srgbClr val="2D63DA"/>
                </a:solidFill>
                <a:latin typeface="Arial"/>
              </a:defRPr>
            </a:pPr>
            <a:r>
              <a:rPr sz="1350" b="1">
                <a:solidFill>
                  <a:srgbClr val="091F4E"/>
                </a:solidFill>
                <a:latin typeface="Arial"/>
              </a:rPr>
              <a:t>SEC · Knight Capital findings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33045"/>
                </a:solidFill>
                <a:latin typeface="Arial"/>
              </a:rPr>
              <a:t>Legacy behaviour, deployment and trading risk 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" y="6537960"/>
            <a:ext cx="530352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9" b="1" i="0">
                <a:solidFill>
                  <a:srgbClr val="6F757C"/>
                </a:solidFill>
                <a:latin typeface="Arial"/>
              </a:defRPr>
            </a:pPr>
            <a:r>
              <a:t>REFERENCES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537960"/>
            <a:ext cx="41148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69" b="0" i="0">
                <a:solidFill>
                  <a:srgbClr val="6F757C"/>
                </a:solidFill>
                <a:latin typeface="Arial"/>
              </a:defRPr>
            </a:pPr>
            <a:r>
              <a:t>46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