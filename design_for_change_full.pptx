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Illustrative total effort</c:v>
                </c:pt>
              </c:strCache>
            </c:strRef>
          </c:tx>
          <c:spPr>
            <a:solidFill>
              <a:srgbClr val="2D63DA"/>
            </a:solidFill>
          </c:spPr>
          <c:cat>
            <c:strRef>
              <c:f>Sheet1!$A$2:$A$3</c:f>
              <c:strCache>
                <c:ptCount val="2"/>
                <c:pt idx="0">
                  <c:v>Copy and rewire</c:v>
                </c:pt>
                <c:pt idx="1">
                  <c:v>Shared workflow
+ replaceable logic</c:v>
                </c:pt>
              </c:strCache>
            </c:strRef>
          </c:cat>
          <c:val>
            <c:numRef>
              <c:f>Sheet1!$B$2:$B$3</c:f>
              <c:numCache>
                <c:formatCode>General</c:formatCode>
                <c:ptCount val="2"/>
                <c:pt idx="0">
                  <c:v>62</c:v>
                </c:pt>
                <c:pt idx="1">
                  <c:v>15</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200">
                <a:latin typeface="Arial"/>
              </a:defRPr>
            </a:pPr>
          </a:p>
        </c:txPr>
        <c:crossAx val="-2113994440"/>
        <c:crosses val="autoZero"/>
        <c:auto val="1"/>
        <c:lblAlgn val="ctr"/>
        <c:lblOffset val="100"/>
        <c:noMultiLvlLbl val="0"/>
      </c:catAx>
      <c:valAx>
        <c:axId val="-2113994440"/>
        <c:scaling/>
        <c:delete val="0"/>
        <c:axPos val="b"/>
        <c:majorTickMark val="out"/>
        <c:minorTickMark val="none"/>
        <c:tickLblPos val="nextTo"/>
        <c:txPr>
          <a:bodyPr/>
          <a:lstStyle/>
          <a:p>
            <a:pPr>
              <a:defRPr sz="10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In quantitative trading, we have an unusual engineering challenge: we do not know in advance which ideas will make money. We can have a strong intuition or a promising model, but only careful experimentation gives us evidence. That is why the ability to try ideas, learn and move a successful one into controlled production matters so much.</a:t>
            </a:r>
          </a:p>
          <a:p/>
          <a:p>
            <a:r>
              <a:t>I want to look at one contribution software architecture can make to that ability. We will discuss making both technical components and business workflows easier to change, while keeping the business objects and operations they rely on clearly defined. That combination helps us explore new ideas without repeatedly disrupting everything around them.</a:t>
            </a:r>
          </a:p>
          <a:p/>
          <a:p>
            <a:r>
              <a:t>We will follow one event-driven FX example, draw on a few real engineering failures, talk about testing as a normal part of development, and finish by asking what these ideas are worth as AI takes over more of coding and review. The aim is practical engineering judgement, not a collection of design rules to memorise.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business. We may test dozens of hypotheses before one is useful. And even a useful idea may need to change as liquidity, competition and market structure evolve. A rapid research cycle therefore creates value independently of any particular alpha.</a:t>
            </a:r>
          </a:p>
          <a:p/>
          <a:p>
            <a:r>
              <a:t>The diagram is deliberately simple. We form a hypothesis, build a candidate, test both the implementation and the economic idea, and decide what to do next. If the evidence is weak, learning that quickly is a good outcome. If it is promising, there is still work to do before production, including independent validation, operational controls and realistic trading costs.</a:t>
            </a:r>
          </a:p>
          <a:p/>
          <a:p>
            <a:r>
              <a:t>The speed I want us to improve is not achieved by shortening an out-of-sample window or overlooking a risk check. It comes from avoiding unnecessary rework: reproducing the same infrastructure, reinterpreting events, or debugging unexpected interactions each time we test another variation. That gives us more capacity for good research without weakening the discipline that makes its results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familiar experience. In the beginning, our objective is clear and the system is relatively small. We might build the first version of a model with one data source and a straightforward event graph in a couple of days. Those figures are illustrative, not statistics about this team.</a:t>
            </a:r>
          </a:p>
          <a:p/>
          <a:p>
            <a:r>
              <a:t>Six months later, the same graph may support several research ideas. It has accumulated state, conditions and other consumers. A change that sounds modest—adding a new alpha filter, for example—can now involve tracing assumptions through several components, updating special handling and re-running a substantial regression suite. The work may take much longer than the initial implementation.</a:t>
            </a:r>
          </a:p>
          <a:p/>
          <a:p>
            <a:r>
              <a:t>This does not imply that the first version was badly written or that we should have built a large framework on day one. The interesting question is what happens as the role of the software changes, and how we can preserve the simplicity of subsequent experiments. Let's look at what makes changes spread.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usually notice the days spent on a difficult modification. What is less visible is the experiment that never starts. Someone has an idea but knows that trying it means touching the market-data path, several model nodes and the trading workflow. The expected engineering effort begins to outweigh the uncertain research payoff.</a:t>
            </a:r>
          </a:p>
          <a:p/>
          <a:p>
            <a:r>
              <a:t>This matters particularly in systematic trading, where an idea cannot be judged properly before it has been tested. An architecture that discourages inexpensive experimentation is not only a maintenance inconvenience; it can restrict the research opportunities we explore.</a:t>
            </a:r>
          </a:p>
          <a:p/>
          <a:p>
            <a:r>
              <a:t>We should not assume that every abandoned idea would have made money. Most will not. The point is that our engineering system should not make the decision for us by placing a large fixed cost in front of every experiment. The job of good design is to preserve a reliable path for trying ideas whose outcome is uncertain. To make the discussion concrete, I'll use the same simple FX pipeline throughout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seen why repeated experiments matter and why even small changes can become surprisingly expensive. Let us look at a principle that helps with this problem.</a:t>
            </a:r>
          </a:p>
          <a:p/>
          <a:p>
            <a:r>
              <a:t>The idea is to identify decisions likely to change, and place them behind boundaries that keep unrelated components from depending on those details. We will begin with technical components in an FX event graph. Then we will apply the same reasoning to the business workflow itself: how we construct alpha and how different business operations are combined.</a:t>
            </a:r>
          </a:p>
          <a:p/>
          <a:p>
            <a:r>
              <a:t>These are not two unrelated sets of design rules. They are the same way of thinking applied at different levels.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event-driven graph, it is tempting to judge modularity by the visual layout. We have four separate boxes, the arrows are clear and the processing order is easy to follow. All of that is helpful, but it tells only part of the story.</a:t>
            </a:r>
          </a:p>
          <a:p/>
          <a:p>
            <a:r>
              <a:t>Suppose the feature node knows the exact position of a field in Venue A’s message. Perhaps the model assumes that updates arrive in a particular order. Perhaps another node reads a value held inside the model. These dependencies are not necessarily visible in the graph. When we add Venue B or change the model, what looked like a local change can affect several components.</a:t>
            </a:r>
          </a:p>
          <a:p/>
          <a:p>
            <a:r>
              <a:t>The important question is not how many boxes we draw. It is which decisions each box is allowed to know about. This is the bridge to information hiding.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David Parnas gave a very useful answer in 1972: think about which design decisions are likely to change, and keep those decisions inside well-chosen modules. The goal is not simply shorter code or a prettier diagram. It is to stop the rest of the system from depending on details it does not need.</a:t>
            </a:r>
          </a:p>
          <a:p/>
          <a:p>
            <a:r>
              <a:t>In our example, several downstream nodes might currently understand the raw message layout from one venue. A better boundary gives that knowledge to an adapter, which translates the venue message into an event with an agreed business meaning. The feature nodes no longer need to know which raw field carried the ask price or how the venue encoded an update.</a:t>
            </a:r>
          </a:p>
          <a:p/>
          <a:p>
            <a:r>
              <a:t>Notice that 'stable' describes the agreement at the boundary, not a promise that the implementation will never evolve. We should keep revisiting the agreement when research reveals genuinely new requirements. Now let us examine the same FX graph as a concrete before-and-after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running example again, but this time I have deliberately made the hidden dependencies visible. It is a very ordinary event-driven FX workflow: market updates, features, a predictor, alpha composition and a decision stage.</a:t>
            </a:r>
          </a:p>
          <a:p/>
          <a:p>
            <a:r>
              <a:t>The issue is not that the graph itself is wrong. The issue is that some components know details they should not need. Features understand a particular raw feed layout. The model depends on an implicit event sequence. Composition reads state that belongs to the model. The decision step contains special handling added for one earlier variation.</a:t>
            </a:r>
          </a:p>
          <a:p/>
          <a:p>
            <a:r>
              <a:t>Now imagine two requests: add a second ECN, and try a new prediction model. Both sound like sensible research tasks. Yet the modifications can travel all the way through the graph. On the next slides, we will use the same business requirements and look at a design where each change has a more natural place to 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add Venue B. A straightforward way to keep that change local is to introduce an adapter that understands Venue B’s message format and produces the market events the rest of the graph already understands.</a:t>
            </a:r>
          </a:p>
          <a:p/>
          <a:p>
            <a:r>
              <a:t>Of course, this only works if the event really has a compatible business meaning. A snapshot, a delta, and an already reconstructed book state are not interchangeable just because their fields look similar. When the semantics differ, the adapter or the shared event definition must make that difference explicit.</a:t>
            </a:r>
          </a:p>
          <a:p/>
          <a:p>
            <a:r>
              <a:t>With a sound contract, however, the feature graph is insulated from venue-specific encoding. We can maintain and test each adapter without rewriting the predictor or alpha construction merely because another data source has arrived. This is the first concrete benefit of a boundary chosen around a likely change.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likely change is a new predictor. Perhaps V2 uses a different estimator, different parameters or different private state. Those are legitimate implementation differences, and we want researchers to explore them freely.</a:t>
            </a:r>
          </a:p>
          <a:p/>
          <a:p>
            <a:r>
              <a:t>If both versions produce compatible estimates under the same agreed contract, we can replace the relevant model subgraph without copying the surrounding feed, feature and decision pipeline. In practice this can be composition at graph construction time; there is no need to add unnecessary runtime overhead to a hot event loop.</a:t>
            </a:r>
          </a:p>
          <a:p/>
          <a:p>
            <a:r>
              <a:t>One important detail: a replaceable node does not have to be stateless. It may hold rolling windows or internal estimates. The useful property is that the state belongs to that node or subgraph and does not secretly couple it to its neighbours. Let us spell that out on the next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CEP systems, many useful components are stateful. A model may hold rolling estimates; a liquidity filter may maintain a window; a business operation may need to remember what it has already processed. We should not confuse replaceability with the absence of state.</a:t>
            </a:r>
          </a:p>
          <a:p/>
          <a:p>
            <a:r>
              <a:t>Consider two designs. In the first, a subgraph owns its internal state, has an explicit reset and recovery behaviour, and communicates through defined inputs and outputs. In the second, a different node reaches into its internal buffers or the subgraph changes unrelated shared state. The second is much harder to replace independently.</a:t>
            </a:r>
          </a:p>
          <a:p/>
          <a:p>
            <a:r>
              <a:t>The principle is straightforward: keep variation behind the boundary, including the state and its lifecycle. Deliberate effects outside the boundary can exist, but they must be part of the explicit operation contract. We can then test the replacement against clear expectations rather than chasing hidden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it mean, practically, to have a dependable boundary? It is more than a matching Java method. We need to agree which events may enter, what the outputs mean, how state is initialised or reset, and what effects the component is allowed to have outside itself.</a:t>
            </a:r>
          </a:p>
          <a:p/>
          <a:p>
            <a:r>
              <a:t>For a replaceable alpha-construction subgraph, that agreement might define valid feature events, their clocks and units, the prediction horizon, and the response to resets or gaps. Within that boundary, researchers are free to try different implementations without quietly changing these shared commitments.</a:t>
            </a:r>
          </a:p>
          <a:p/>
          <a:p>
            <a:r>
              <a:t>An additional benefit is testing. The same contract gives us a clear list of behaviours to check, and compatible replacement implementations can run through the same boundary tests and event fixtures. We still need tests of the full graph, because components can interact in meaningful ways. But we no longer need to rediscover the test questions from scratch every time. We will return to this in the testing section.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useful limit to the earlier examples. Suppose V1 and V2 shared the same feature timing and prediction meaning, but V3 needs a different event clock or a different prediction horizon. We have learned something new about the research space.</a:t>
            </a:r>
          </a:p>
          <a:p/>
          <a:p>
            <a:r>
              <a:t>It would be unhelpful to force V3 through an unsuitable contract merely because we have already built one. We can revisit which stages are genuinely shared and where the new difference should be represented. Some of the workflow might still be reusable; another part might need a different boundary.</a:t>
            </a:r>
          </a:p>
          <a:p/>
          <a:p>
            <a:r>
              <a:t>Designing for change therefore does not mean predicting every future model, or preserving today's framework forever. It means being clear about what is stable enough to share now and being ready to improve that organisation as our research teaches us more.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have used technical examples: a market-data adapter, a model implementation, and the state owned by a subgraph. But the principle is not limited to software components.</a:t>
            </a:r>
          </a:p>
          <a:p/>
          <a:p>
            <a:r>
              <a:t>A quant strategy is also a composition of business operations. We produce estimates, combine them, decide when to act, assess risk and potentially send an order. Research often changes the choices and combinations among these operations.</a:t>
            </a:r>
          </a:p>
          <a:p/>
          <a:p>
            <a:r>
              <a:t>If each new experiment requires copying the entire business process, we recreate the same long-term difficulty at a higher level. Instead, we can establish dependable meanings for useful business operations and allow the workflow that combines them to vary. The next slides show that extension using familiar research ideas.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deliberately simplified business workflow. We produce an estimate, combine estimates, propose an action, assess risk and potentially send an order. We all know the actual trading system has more detail. For today, the useful point is the distinction between operations and the way we connect them.</a:t>
            </a:r>
          </a:p>
          <a:p/>
          <a:p>
            <a:r>
              <a:t>An operation represents a business capability. It has inputs, a result and perhaps an intentional state or external effect. A workflow chooses which operation to apply, under which conditions, and what to do with its output.</a:t>
            </a:r>
          </a:p>
          <a:p/>
          <a:p>
            <a:r>
              <a:t>We want to be able to change that organisation when we test new hypotheses. But we do not want to make the meaning of an estimate, a proposal or a risk decision uncertain each time. Having shared business definitions is what makes the next part of the story possible.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we want to try three ways of combining estimates: fixed weights, weighting that responds to liquidity, and a regime-dependent choice of composition. None is guaranteed to make money. That is precisely why we want to try them.</a:t>
            </a:r>
          </a:p>
          <a:p/>
          <a:p>
            <a:r>
              <a:t>If the eligible inputs and output contract have a shared business meaning, the composition rule becomes an experimental part of the workflow. We can build different candidates, run them under comparable conditions and see what we learn. The common surrounding work does not need to be copied for each idea.</a:t>
            </a:r>
          </a:p>
          <a:p/>
          <a:p>
            <a:r>
              <a:t>We should still account for real interactions, and a new method may genuinely require a different input or horizon. The point is to share what is actually common, while giving different business ideas room to be different.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reasoning applies beyond alpha composition. Suppose one research idea proposes an action whenever a signal exceeds a threshold. Another adds a liquidity condition; a third changes the way inventory affects the proposal.</a:t>
            </a:r>
          </a:p>
          <a:p/>
          <a:p>
            <a:r>
              <a:t>Those are differences in business workflow, not merely differences in the mathematical predictor. We should be able to explain which operations are used and in what circumstances, without turning the whole system into an unrelated pipeline for each version.</a:t>
            </a:r>
          </a:p>
          <a:p/>
          <a:p>
            <a:r>
              <a:t>Some operations naturally affect external state, so not every order is interchangeable. The benefit comes from knowing those effects and conditions accurately. We can then make deliberate changes to the business process while still understanding what each constituent operation means.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designs we should be careful about. The first creates a complete copy of the processing workflow whenever we want a new variation. That can get the first experiment out quickly, but fixes and definitions gradually drift apart as we maintain more copies.</a:t>
            </a:r>
          </a:p>
          <a:p/>
          <a:p>
            <a:r>
              <a:t>The second tries to absorb every possible variant into one universal framework with many switches and special modes. This can become difficult to reason about for a different reason: the interactions between all those options.</a:t>
            </a:r>
          </a:p>
          <a:p/>
          <a:p>
            <a:r>
              <a:t>I do not think there is a magic rule that says all duplication is bad or all reuse is good. We want a sensible shared structure where the business behaviour is genuinely common, and independent pieces where it is not. The question is what makes our next series of experiments easier to implement and test.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made the case for flexible technical components and flexible business workflows. Now we come to the other half of the design: the agreements that allow those workflows to change without creating confusion around them.</a:t>
            </a:r>
          </a:p>
          <a:p/>
          <a:p>
            <a:r>
              <a:t>I want to focus on how our software classes, the instances of those classes, and our operations correspond to the business concepts we really work with. This is not just about choosing good names. It is about whether the definition has enough information to describe the object accurately and whether an operation is applied only when it genuinely makes sense.</a:t>
            </a:r>
          </a:p>
          <a:p/>
          <a:p>
            <a:r>
              <a:t>When these definitions are incomplete or misleading, downstream code starts compensating with special cases. Let us use two small examples to illustrate what I mean.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distinguish three related things. First, the business concept: what kind of observation, estimate or action do we intend to represent? Second, the software object: does a particular class and its instances actually preserve the distinctions that matter? Third, the operation: when can we apply it, what does it produce and what is it allowed to change?</a:t>
            </a:r>
          </a:p>
          <a:p/>
          <a:p>
            <a:r>
              <a:t>A method taking two doubles and a timestamp can compile perfectly while leaving very important questions unanswered. Are we handling a snapshot or an incremental change? Does the timestamp describe the event or when it became usable to the strategy? Are the prices valid, and for which instrument?</a:t>
            </a:r>
          </a:p>
          <a:p/>
          <a:p>
            <a:r>
              <a:t>This is not a request for an enormous type hierarchy. It is a request for definitions that are sufficiently complete and accurate for the work the objects and operations are expected to do. The next two slides are familiar illustrations, not a lesson in market-data basics.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here knows that a book snapshot and a delta are different. That is not the point I want to teach. The example is what can happen if our own software representation does not preserve that known business distinction.</a:t>
            </a:r>
          </a:p>
          <a:p/>
          <a:p>
            <a:r>
              <a:t>Suppose every update arrives as a generic MarketUpdate, and each feature node has to guess whether it already represents a complete current state or still needs to be applied to an existing book. We can add flags and warnings to individual consumers, but that means the same ambiguity is repeatedly interpreted throughout the graph.</a:t>
            </a:r>
          </a:p>
          <a:p/>
          <a:p>
            <a:r>
              <a:t>Alternatively, let incoming snapshot and delta events keep their distinct definitions, and give a state-building component clear responsibility for assembling a valid book state. A consumer that needs such a state receives exactly that kind of object. Notice that the snapshot and delta are alternative event forms feeding the builder; the diagram does not imply a fixed snapshot-then-delta sequence. We have improved the representation so less special-case logic is needed downstream.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illustration concerns a target position. Everyone knows an explicit target of zero is different from the absence of a new target. The architectural question is what happens if the software loses that distinction.</a:t>
            </a:r>
          </a:p>
          <a:p/>
          <a:p>
            <a:r>
              <a:t>If both conditions are represented by the same numeric zero, a downstream operation has to reconstruct the intent from other signals or special flags. One consumer might treat zero as an instruction to flatten; another might treat it as 'nothing new happened'. Those interpretations have very different consequences.</a:t>
            </a:r>
          </a:p>
          <a:p/>
          <a:p>
            <a:r>
              <a:t>A better definition records whether the workflow received an explicit target or no applicable target event. Operations then have clear applicability conditions. In the second case, the target-adjustment trigger chain may simply not fire. That does not mean the event is necessarily rejected as an error. It means we have preserved the business distinction in the software, where it can be used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talked about objects and instances. Operations deserve the same care. Two methods can have similar signatures while having very different responsibilities.</a:t>
            </a:r>
          </a:p>
          <a:p/>
          <a:p>
            <a:r>
              <a:t>For example, calculating a prediction is not the same business action as reserving risk capacity. One may produce information while the other deliberately updates owned state. Sending an order has an explicit external effect. Those effects are not flaws; they are part of what these operations mean.</a:t>
            </a:r>
          </a:p>
          <a:p/>
          <a:p>
            <a:r>
              <a:t>The difficulty begins when an operation sounds like a pure check but also modifies unrelated state, or when its preconditions are hidden from the workflow that invokes it. Clear definitions tell us what can be combined and when. In a system designed for change, this clarity helps us introduce new sequences or replacements without repeatedly discovering what every operation secretly does.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clear definitions improve workflow flexibility. When a business event arrives, the question is not simply whether its Java structure fits a method signature. We need to know whether this is an event to which the operation is applicable.</a:t>
            </a:r>
          </a:p>
          <a:p/>
          <a:p>
            <a:r>
              <a:t>An event may be perfectly valid for the system and yet irrelevant to a particular trigger chain. In that case, the chain does not run. That is different from rejecting the event, and it is different from reporting a genuine invalid input.</a:t>
            </a:r>
          </a:p>
          <a:p/>
          <a:p>
            <a:r>
              <a:t>A more accurate definition reduces the chance that an operation is applied to something that looks compatible but is not, in business terms. We can then build and change workflows with more confidence, because the connections are based on declared meaning rather than scattered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awkward edge cases are not exceptional events in the market. They are situations that our own representation has made ambiguous. Two consumers take the same generic object but assume different things about its state or intended meaning.</a:t>
            </a:r>
          </a:p>
          <a:p/>
          <a:p>
            <a:r>
              <a:t>We then add a special condition in one place, a flag in another and a warning somewhere else. Each small fix looks economical in isolation. But now every future change has to take those extra paths into account. The surrounding graph becomes harder to understand and experiment with.</a:t>
            </a:r>
          </a:p>
          <a:p/>
          <a:p>
            <a:r>
              <a:t>A more direct solution may be to improve the object or operation definition so that the difference becomes explicit at the right boundary. This can simplify downstream code instead of adding another layer of protection. The key is to diagnose why the edge case exists before deciding how to treat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keep this discussion proportionate. There really are rare external anomalies, such as a clearly defined venue feed occasionally producing a gap. If we can detect and contain one safely, a simple alert and recovery procedure may be the right solution.</a:t>
            </a:r>
          </a:p>
          <a:p/>
          <a:p>
            <a:r>
              <a:t>But that is different from a case where the object or operation is ambiguously defined and several components are compensating for it. Adding one more warning may leave the source of confusion in place. Clarifying the shared definition could be both safer and simpler over the life of the system.</a:t>
            </a:r>
          </a:p>
          <a:p/>
          <a:p>
            <a:r>
              <a:t>The design principle is not 'always refactor' or 'always generalise'. It is to understand where the complexity is coming from and choose the smallest solution that solves the actual problem. That judgement matters because we want architecture to help delivery, not become another burden.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spent time with small FX examples. It is reasonable to ask whether these concerns matter outside the classroom. They do, and history gives us some sobering cases.</a:t>
            </a:r>
          </a:p>
          <a:p/>
          <a:p>
            <a:r>
              <a:t>I will use three incidents rather than a long catalogue. Mars Climate Orbiter illustrates incompatible interpretations across an interface. Ariane 5 shows what can happen when reused implementation carries assumptions from a different environment. Knight Capital shows hidden dependencies and operational controls in a trading setting.</a:t>
            </a:r>
          </a:p>
          <a:p/>
          <a:p>
            <a:r>
              <a:t>None of these incidents is proof that a particular Java abstraction would have prevented the failure. The value is in seeing why we should make assumptions, meanings and dependencies visible, and why testing must address the whole operating context.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1999, NASA lost the Mars Climate Orbiter. The investigation identified a mismatch between imperial units used by one part of the process and metric units expected by another. The numerical values crossed an interface without a consistent interpretation of what they represented.</a:t>
            </a:r>
          </a:p>
          <a:p/>
          <a:p>
            <a:r>
              <a:t>The numbers were not inherently invalid as numbers. The failure was in the agreement about their meaning, and in the system checks that should have identified the mismatch. That connects directly to our discussion of complete business definitions.</a:t>
            </a:r>
          </a:p>
          <a:p/>
          <a:p>
            <a:r>
              <a:t>In a quant graph, a double might represent a price, an amount, a basis-point change or a target position. We do not want a consumer to infer meaning only from compatible numeric types. We want the relevant units and semantics represented and checked in the place where the data enters an operation.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Ariane 5 Flight 501 is another useful case. Part of the inertial reference software was reused from Ariane 4. A conversion that had been safe under the earlier operating conditions overflowed in Ariane 5's different flight environment, and the response contributed to loss of guidance.</a:t>
            </a:r>
          </a:p>
          <a:p/>
          <a:p>
            <a:r>
              <a:t>The lesson is not that reusing code was inherently wrong. Reuse is valuable, but the assumptions that make reuse valid must be understood. A familiar implementation can be operated outside the domain for which it was designed.</a:t>
            </a:r>
          </a:p>
          <a:p/>
          <a:p>
            <a:r>
              <a:t>In our FX system, reusing a model or workflow depends on the meaning and conditions of its inputs and outputs, not on the fact that it compiled successfully elsewhere. A clear boundary helps reveal what is promised and what still needs to be established in a new context.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Knight Capital is the case closest to our industry. In August 2012, a deployment involving a new routing feature interacted with legacy behaviour and inconsistent installation across servers. The result was a cascade of unintended orders and losses exceeding four hundred and sixty million dollars.</a:t>
            </a:r>
          </a:p>
          <a:p/>
          <a:p>
            <a:r>
              <a:t>The SEC's findings identify failures extending beyond code organisation, including deployment procedures and risk controls. We should not pretend that changing one interface would have solved the incident.</a:t>
            </a:r>
          </a:p>
          <a:p/>
          <a:p>
            <a:r>
              <a:t>For our purposes, the case illustrates the danger of interactions that are not visible in the local change being made. When technical flags, legacy code and operational state carry assumptions across boundaries, a small intended modification can have a much wider effect. That is why we need clear responsibilities, and why the next part of the talk places testing and simulation alongside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incidents remind us that good design and verification belong together. I would like to make one extra connection to the architectural boundaries we discussed earlier: a boundary is not just a convenient place to make a change. It can also give us a much clearer place to test that change.</a:t>
            </a:r>
          </a:p>
          <a:p/>
          <a:p>
            <a:r>
              <a:t>When inputs, outputs, state ownership and permitted effects have well-defined meanings, we can write useful tests against those promises. A candidate implementation can be replaced without writing a completely new approach to testing every time.</a:t>
            </a:r>
          </a:p>
          <a:p/>
          <a:p>
            <a:r>
              <a:t>This does not mean that isolated component tests are sufficient. We still need a trustworthy production-style simulator and system regression. The important benefit is that tests become more systematic, reusable and easier to interpret as our research generates more variants.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talked a lot about how good boundaries make implementation changes more local. There is another equally valuable consequence: they can make testing much easier to design. Without a dependable boundary, we may need to construct a large part of the graph just to exercise one business rule. We also have to work out which other components and hidden state are relevant to the outcome.</a:t>
            </a:r>
          </a:p>
          <a:p/>
          <a:p>
            <a:r>
              <a:t>With a clear subgraph contract, we can formulate repeatable questions. Given an eligible event sequence, what output is promised? How should reset and recovery behave? Which state belongs inside the subgraph, and what external effects are allowed? Every replacement claiming the same contract can face that same suite of tests and common event fixtures.</a:t>
            </a:r>
          </a:p>
          <a:p/>
          <a:p>
            <a:r>
              <a:t>We then add tests for what is intentionally different in this particular experiment. Finally, we exercise the resulting graph through production-style event replay and full regression, because even independently well-behaved components can interact. This is not an argument for testing only a small part of the system. It is an argument for clearer, more reusable tests at each level.</a:t>
            </a:r>
          </a:p>
          <a:p/>
          <a:p>
            <a:r>
              <a:t>As the number of candidate ideas grows, this becomes economically important. More experimental implementations do not need to imply the same growth in manual test design. And as we use coding agents for more implementation and review, the contracts and independent test evidence provide an increasingly practical basis for reliable automation.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each component in isolation is valuable, but the behaviour that matters to our business emerges when events pass through the whole graph. That is why a production-faithful simulator is such an important part of this approach.</a:t>
            </a:r>
          </a:p>
          <a:p/>
          <a:p>
            <a:r>
              <a:t>By replay, I mean a specified sequence of production-style events—including ordering, event time, gaps, reset and recovery—processed through the relevant business graph under controlled conditions. We can compare a baseline with a proposed change, checking both the differences we intended and the shared behaviours that should remain dependable.</a:t>
            </a:r>
          </a:p>
          <a:p/>
          <a:p>
            <a:r>
              <a:t>Clear component boundaries help us choose targeted contract tests, while the simulator helps us verify the composition. We need both. A good simulator also makes failures repeatable, so a colleague or an AI agent can investigate the same sequence without relying on a changing UAT environment.</a:t>
            </a:r>
          </a:p>
          <a:p/>
          <a:p>
            <a:r>
              <a:t>UAT continues to matter for deployment, integration, connectivity and operational experience, but it should not be the primary place we discover ordinary business-logic errors. Nor does passing regression establish that an idea will make money; research evaluation remains a separate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consider the two kinds of work we routinely undertake: improving the shared framework and implementing a new feature or business rule. Both deserve tests from the start, but the questions are slightly different.</a:t>
            </a:r>
          </a:p>
          <a:p/>
          <a:p>
            <a:r>
              <a:t>For the framework, we test the business behaviour we want any compliant component to preserve: routing, ordering, state lifecycle, the meaning of inputs and outputs and the permitted external effects. These are natural candidates for reusable contract suites. When another model or workflow component implements the same contract, much of this verification work is ready to run again.</a:t>
            </a:r>
          </a:p>
          <a:p/>
          <a:p>
            <a:r>
              <a:t>For a new feature, we add tests that express the intended difference. Suppose we replace a fixed alpha blend with a liquidity-aware composition. The new business rule needs its own examples and edge conditions, while the existing framework contract should remain satisfied. Finally, simulator-based regression tests the full graph, including genuine interactions between components.</a:t>
            </a:r>
          </a:p>
          <a:p/>
          <a:p>
            <a:r>
              <a:t>This is one of the reasons to treat testing with the same priority as development. A clean boundary makes the next test easier to specify, and the tests in turn help us keep that boundary dependable. Statistical evaluation of research value remains a separate task.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have the central ingredients: boundaries that keep variation local, definitions that preserve business distinctions, and tests that make continued change trustworthy.</a:t>
            </a:r>
          </a:p>
          <a:p/>
          <a:p>
            <a:r>
              <a:t>The remaining question is judgement. How much design is worth doing for a particular problem, and when should we improve a structure that already works? We should not choose between architecture and delivery as if they were enemies. We need the engineering approach that allows us to deliver repeatedly as the research changes.</a:t>
            </a:r>
          </a:p>
          <a:p/>
          <a:p>
            <a:r>
              <a:t>Let us look at the economics of repeated experiments, the cost of unnecessary complexity and the XP idea of improving design continuously as part of delivery.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deliberately illustrative figures, not a measurement of our team. One option starts quickly by copying and rewiring the graph. Another spends somewhat more time putting repeated variation behind a sound boundary. Over twenty subsequent experiments, the cumulative work can become very different.</a:t>
            </a:r>
          </a:p>
          <a:p/>
          <a:p>
            <a:r>
              <a:t>The exact numbers are not what matters. The principle is that a decision should be evaluated over the changes we reasonably expect, not only over its first implementation. A low-cost initial shortcut can be the right choice for a throwaway test. But a shared workflow that we change every week deserves another calculation.</a:t>
            </a:r>
          </a:p>
          <a:p/>
          <a:p>
            <a:r>
              <a:t>There is also an invisible cost: the ideas we never test because changing the system looks too disruptive. That is especially important in systematic trading, where the research process itself is a source of competitive advantage.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also want to be clear about what this principle does not demand. It does not tell us to build a general framework for every one-off experiment. For a short-lived research idea, a small independent implementation may be perfectly sensible.</a:t>
            </a:r>
          </a:p>
          <a:p/>
          <a:p>
            <a:r>
              <a:t>Likewise, a genuinely rare external anomaly may need a simple detector, containment and an alert rather than a complicated recovery framework. On the other hand, repeated experiments over the same business workflow are a good reason to invest in clearer concepts and replaceable components.</a:t>
            </a:r>
          </a:p>
          <a:p/>
          <a:p>
            <a:r>
              <a:t>We should compare the cost of the design with the complexity it removes or introduces over time. Good engineering is not maximum abstraction. It is choosing a level of structure that keeps both current work and likely future work manageable.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principle I find particularly useful from Extreme Programming is that improving the design is a continuous part of delivering software. It is not something we promise to do only when all business requirements have stopped arriving.</a:t>
            </a:r>
          </a:p>
          <a:p/>
          <a:p>
            <a:r>
              <a:t>We can start with a simple first implementation, learn from the next few variations, notice which differences recur and refine the boundaries. Automated testing and continuous integration make those changes more dependable. This is different from repeatedly adding local exceptions and hoping the system remains easy to understand.</a:t>
            </a:r>
          </a:p>
          <a:p/>
          <a:p>
            <a:r>
              <a:t>We also should not turn this into a dogma. An interface that worked for two early models might not fit the fifth. When the evidence changes, the architecture should change too. That is very consistent with the business reality that our research hypotheses continue to evolve.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like to finish this section with a practical discussion. Imagine we have one working FX strategy. Over the next few months, we want to try twenty variations: different estimators, different alpha-composition rules, different applicability conditions and perhaps another market-data venue.</a:t>
            </a:r>
          </a:p>
          <a:p/>
          <a:p>
            <a:r>
              <a:t>Which parts of the system are genuinely common? Which business decisions are likely to vary? What objects and operations need clearer definitions? How would we test a candidate and preserve confidence in the rest of the workflow?</a:t>
            </a:r>
          </a:p>
          <a:p/>
          <a:p>
            <a:r>
              <a:t>There is not one correct drawing. The exercise is to make the trade-offs visible. We want a framework that makes feature implementation and verification easier over repeated experiments, without building an elaborate universal solution before we understand the variations. That is the engineering judgement we have been discussing.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finishing, let us consider how the value of these design principles might change as AI takes on a larger share of coding and review. You can think about which stage best describes your own workflow today. This is an invitation to reflect, not a scorecard.</a:t>
            </a:r>
          </a:p>
          <a:p/>
          <a:p>
            <a:r>
              <a:t>These four stages are working scenarios, not a forecast of when any organisation must reach them. For Stages 3 and 4, we assume model capability, the stability of our software, and the maturity of independent simulation and testing have all advanced together to support the proposed degree of automation safely.</a:t>
            </a:r>
          </a:p>
          <a:p/>
          <a:p>
            <a:r>
              <a:t>That last part connects directly to our testing discussion. Dependable boundaries give us testable promises. Swappable components let the same automated contract checks run against many candidate implementations. A production-faithful simulator then verifies the composed system. As agents become more capable, these are useful building blocks for trusted AI coding, review and eventually automated signoff.</a:t>
            </a:r>
          </a:p>
          <a:p/>
          <a:p>
            <a:r>
              <a:t>Now let us look at the distinct business value of the same principles at each stage, rather than assuming their value must always increase in exactly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start with Stage 1, where people implement and review the code. Clear boundaries allow a developer to change the intended part of a strategy without continually rebuilding the surrounding graph. Accurate business definitions reduce the amount of interpretation the next colleague has to repeat.</a:t>
            </a:r>
          </a:p>
          <a:p/>
          <a:p>
            <a:r>
              <a:t>They also give us a better way to test. Once the inputs, outputs and lifecycle of a reusable subgraph are clear, we can maintain a common test suite for that contract. Each new feature still gets its own tests, and we still run system regression, but we do not need to invent the whole testing approach with every model variant.</a:t>
            </a:r>
          </a:p>
          <a:p/>
          <a:p>
            <a:r>
              <a:t>This is valuable even before any AI coding: it shortens the journey from a research question to an implementation whose behaviour we can explain and verify.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Stage 2, AI starts producing part of the implementation while people still spend substantial time on review and approval. At this stage, a clear boundary gives both people and the coding assistant a well-defined problem. We can ask it to change one business operation or subgraph without accidentally broadening the task into unrelated workflows.</a:t>
            </a:r>
          </a:p>
          <a:p/>
          <a:p>
            <a:r>
              <a:t>The testing benefit is equally practical. Before the implementation begins, we can agree on contract checks and representative event cases. After the change, a human reviewer can inspect not just the code but a clear account of what was intended to change, which behaviours remain agreed and what was observed in deterministic replay.</a:t>
            </a:r>
          </a:p>
          <a:p/>
          <a:p>
            <a:r>
              <a:t>That makes AI-generated work easier to understand and judge on its business merits. We are not depending on AI being unable to handle complex systems; we are reducing the amount of unrelated complexity introduced into each experiment.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3 is a future scenario in which AI writes all the code. In our example, thirty percent of changes receive full human review, while the remaining seventy percent receive mature AI review and human signoff. By assumption, model capability, platform stability and our independent test systems have reached the level needed for this division of responsibility.</a:t>
            </a:r>
          </a:p>
          <a:p/>
          <a:p>
            <a:r>
              <a:t>This is where good boundaries can pay off in a different way. They give the automation a set of reusable, executable acceptance criteria. A new subgraph may be internally very different, but if it claims the same business contract, it can run against the same lifecycle, input/output and side-effect tests. The feature-specific tests then express the new research idea.</a:t>
            </a:r>
          </a:p>
          <a:p/>
          <a:p>
            <a:r>
              <a:t>The simulator and regression framework provide independent evidence about how the candidate behaves inside the full event graph. Human reviewers can focus on business decisions and on understanding that evidence rather than re-deriving every expectation from arbitrary implementation details.</a:t>
            </a:r>
          </a:p>
          <a:p/>
          <a:p>
            <a:r>
              <a:t>So the architecture does not merely make coding faster. It makes test design and automated verification more systematic. That is one important enabler for safely transferring more coding and review work to capable agents. It also helps several agents explore different variants with less unnecessary integration work.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4 is our further future scenario. We assume AI can safely implement, review and sign off changes using mature automated verification; people participate through UAT. We are not trying to forecast when that becomes possible. We are asking what our design principles contribute once it is possible.</a:t>
            </a:r>
          </a:p>
          <a:p/>
          <a:p>
            <a:r>
              <a:t>I think one of the largest benefits is the quality and efficiency of controlled experimentation. Suppose AI wants to compare fixed alpha weights, liquidity-aware composition and regime-dependent composition. If the variant lives behind a dependable subgraph boundary, we can specify exactly which business rule changes. We can keep the relevant event inputs, timing conventions, cost assumptions and simulator setup comparable, and reset state consistently. Differences that genuinely require another workflow can still be modelled explicitly rather than squeezed into a false common shape.</a:t>
            </a:r>
          </a:p>
          <a:p/>
          <a:p>
            <a:r>
              <a:t>The same boundary contracts and reusable tests check each compatible candidate. Full event replay then examines its interactions with the rest of the business workflow. As autonomous agents propose more experiments, the testing approach can scale without being invented again each time.</a:t>
            </a:r>
          </a:p>
          <a:p/>
          <a:p>
            <a:r>
              <a:t>This does something important for research knowledge. Each experiment can record the hypothesis, changed operations, data window, configuration, simulator version, tests and observed outcomes. We can reproduce comparisons and build new ideas on earlier evidence. That does not automatically make a result statistically trustworthy: multiple testing, selection effects and independent out-of-sample validation still matter. But it provides a much better foundation for accurate, repeatable and cumulative learning.</a:t>
            </a:r>
          </a:p>
          <a:p/>
          <a:p>
            <a:r>
              <a:t>The eventual value is not that AI needs simpler code. It is that the business can explore more genuinely different ideas, with clearer experimental controls and less repeated engineering work, while retaining what it has learned.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finish by returning to the question that brought us here. In systematic trading, we do not know in advance which research ideas will make money. We need to try many ideas, evaluate them carefully, and take promising ones towards production under appropriate controls. The competitive advantage is our ability to keep doing that efficiently as markets and our research evolve.</a:t>
            </a:r>
          </a:p>
          <a:p/>
          <a:p>
            <a:r>
              <a:t>The first principle is to keep changes local. When a venue adapter, a model, or the way we combine business operations is likely to change, a dependable boundary means the surrounding system does not need to be rebuilt for every experiment. For a stateful subgraph, that also means being explicit about the state it owns and the effects it may have outside its boundary.</a:t>
            </a:r>
          </a:p>
          <a:p/>
          <a:p>
            <a:r>
              <a:t>The second is to define our business concepts carefully. Our classes, instances and operations should accurately represent the business distinctions we rely on. If two events merely look compatible but mean different things, they should not silently activate the same business operation. Precise definitions often remove the need for special handling in downstream nodes rather than adding yet another warning or branch.</a:t>
            </a:r>
          </a:p>
          <a:p/>
          <a:p>
            <a:r>
              <a:t>Third, we should treat testing with the same priority as implementation. Stable boundaries give us behaviours we can test and reuse across compatible implementations. A new feature has its own intended differences, and our production-faithful event simulator and full regression tests help us verify the combined workflow. This makes ongoing refactoring and AI-generated changes easier to understand and assess, without pretending that a passing software test establishes a profitable strategy.</a:t>
            </a:r>
          </a:p>
          <a:p/>
          <a:p>
            <a:r>
              <a:t>And fourth, improving the design is part of delivering software. We should invest where repeated change makes that investment worthwhile. For a genuinely rare external anomaly, detection and containment may be enough; for repeated ambiguity caused by our object or workflow definitions, improving the definition may be the simpler long-term solution. This is engineering judgement, not a call for more abstraction everywhere.</a:t>
            </a:r>
          </a:p>
          <a:p/>
          <a:p>
            <a:r>
              <a:t>These foundations remain useful as capable AI agents take on more implementation and review. They allow more controlled comparisons of business ideas, more reusable verification, and better accumulation of research knowledge. The outcome we want is a team that can implement the next meaningful experiment, understand what changed, test it reliably, and use the evidence to decide what deserves to move forward. Thank you.</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main references behind the talk. The Parnas papers provide the historical foundations for organising modules around changes and identifying shared structure across program families. Martin Fowler's discussion of evolutionary design and Extreme Programming supports the idea of continuous design improvement as part of delivery.</a:t>
            </a:r>
          </a:p>
          <a:p/>
          <a:p>
            <a:r>
              <a:t>The NASA, ESA and SEC materials document the three engineering incidents. I have used each incident to illuminate particular kinds of failure, rather than to claim that one design pattern would have prevented it. Our FX/CEP examples are simplified teaching cases, not descriptions of any one proprietary strategy. The illustrative engineering-time comparison is not a measured productivity claim, and the AI stages are conditional future scenarios rather than predictions.</a:t>
            </a:r>
          </a:p>
          <a:p/>
          <a:p>
            <a:r>
              <a:t>The references are provided for anyone who would like to explore the original design literature or the incident reports after the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658368"/>
            <a:ext cx="5120640" cy="228600"/>
          </a:xfrm>
          <a:prstGeom prst="rect">
            <a:avLst/>
          </a:prstGeom>
          <a:noFill/>
        </p:spPr>
        <p:txBody>
          <a:bodyPr wrap="square" anchor="t" lIns="27432" rIns="27432" tIns="27432" bIns="27432">
            <a:spAutoFit/>
          </a:bodyPr>
          <a:lstStyle/>
          <a:p>
            <a:pPr algn="l">
              <a:spcBef>
                <a:spcPts val="0"/>
              </a:spcBef>
              <a:spcAft>
                <a:spcPts val="0"/>
              </a:spcAft>
              <a:defRPr sz="1000" b="1" i="0">
                <a:solidFill>
                  <a:srgbClr val="2D63DA"/>
                </a:solidFill>
                <a:latin typeface="Arial"/>
              </a:defRPr>
            </a:pPr>
            <a:r>
              <a:t>FROM RESEARCH IDEAS TO RELIABLE PRODUCTION</a:t>
            </a:r>
          </a:p>
        </p:txBody>
      </p:sp>
      <p:sp>
        <p:nvSpPr>
          <p:cNvPr id="3" name="TextBox 2"/>
          <p:cNvSpPr txBox="1"/>
          <p:nvPr/>
        </p:nvSpPr>
        <p:spPr>
          <a:xfrm>
            <a:off x="502920" y="1078992"/>
            <a:ext cx="6537960" cy="1371600"/>
          </a:xfrm>
          <a:prstGeom prst="rect">
            <a:avLst/>
          </a:prstGeom>
          <a:noFill/>
        </p:spPr>
        <p:txBody>
          <a:bodyPr wrap="square" anchor="t" lIns="27432" rIns="27432" tIns="27432" bIns="27432">
            <a:spAutoFit/>
          </a:bodyPr>
          <a:lstStyle/>
          <a:p>
            <a:pPr algn="l">
              <a:spcBef>
                <a:spcPts val="0"/>
              </a:spcBef>
              <a:spcAft>
                <a:spcPts val="0"/>
              </a:spcAft>
              <a:defRPr sz="3400" b="0" i="0">
                <a:solidFill>
                  <a:srgbClr val="2D63DA"/>
                </a:solidFill>
                <a:latin typeface="Arial"/>
              </a:defRPr>
            </a:pPr>
            <a:r>
              <a:t>Designing Quant</a:t>
            </a:r>
          </a:p>
          <a:p>
            <a:pPr algn="l">
              <a:spcBef>
                <a:spcPts val="0"/>
              </a:spcBef>
              <a:spcAft>
                <a:spcPts val="0"/>
              </a:spcAft>
              <a:defRPr sz="3400" b="0" i="0">
                <a:solidFill>
                  <a:srgbClr val="2D63DA"/>
                </a:solidFill>
                <a:latin typeface="Arial"/>
              </a:defRPr>
            </a:pPr>
            <a:r>
              <a:t>Systems for Change</a:t>
            </a:r>
          </a:p>
        </p:txBody>
      </p:sp>
      <p:sp>
        <p:nvSpPr>
          <p:cNvPr id="4" name="TextBox 3"/>
          <p:cNvSpPr txBox="1"/>
          <p:nvPr/>
        </p:nvSpPr>
        <p:spPr>
          <a:xfrm>
            <a:off x="530352" y="2532888"/>
            <a:ext cx="5577840" cy="749808"/>
          </a:xfrm>
          <a:prstGeom prst="rect">
            <a:avLst/>
          </a:prstGeom>
          <a:noFill/>
        </p:spPr>
        <p:txBody>
          <a:bodyPr wrap="square" anchor="t" lIns="27432" rIns="27432" tIns="27432" bIns="27432">
            <a:spAutoFit/>
          </a:bodyPr>
          <a:lstStyle/>
          <a:p>
            <a:pPr algn="l">
              <a:spcBef>
                <a:spcPts val="0"/>
              </a:spcBef>
              <a:spcAft>
                <a:spcPts val="0"/>
              </a:spcAft>
              <a:defRPr sz="1600" b="0" i="0">
                <a:solidFill>
                  <a:srgbClr val="6F757C"/>
                </a:solidFill>
                <a:latin typeface="Arial"/>
              </a:defRPr>
            </a:pPr>
            <a:r>
              <a:t>Flexible business workflows. Clear, dependable business concepts. Faster, risk-controlled experimentation.</a:t>
            </a:r>
          </a:p>
        </p:txBody>
      </p:sp>
      <p:cxnSp>
        <p:nvCxnSpPr>
          <p:cNvPr id="5" name="Connector 4"/>
          <p:cNvCxnSpPr/>
          <p:nvPr/>
        </p:nvCxnSpPr>
        <p:spPr>
          <a:xfrm>
            <a:off x="7726679" y="1298448"/>
            <a:ext cx="1005841" cy="987552"/>
          </a:xfrm>
          <a:prstGeom prst="line">
            <a:avLst/>
          </a:prstGeom>
          <a:ln w="15240">
            <a:solidFill>
              <a:srgbClr val="AAD9F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32520" y="2286000"/>
            <a:ext cx="1005840" cy="0"/>
          </a:xfrm>
          <a:prstGeom prst="line">
            <a:avLst/>
          </a:prstGeom>
          <a:ln w="15240">
            <a:solidFill>
              <a:srgbClr val="AAD9F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9738360" y="1298448"/>
            <a:ext cx="1005840" cy="987552"/>
          </a:xfrm>
          <a:prstGeom prst="line">
            <a:avLst/>
          </a:prstGeom>
          <a:ln w="15240">
            <a:solidFill>
              <a:srgbClr val="AAD9F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732520" y="2286000"/>
            <a:ext cx="0" cy="1371600"/>
          </a:xfrm>
          <a:prstGeom prst="line">
            <a:avLst/>
          </a:prstGeom>
          <a:ln w="15240">
            <a:solidFill>
              <a:srgbClr val="AAD9F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738360" y="2286000"/>
            <a:ext cx="0" cy="1371600"/>
          </a:xfrm>
          <a:prstGeom prst="line">
            <a:avLst/>
          </a:prstGeom>
          <a:ln w="15240">
            <a:solidFill>
              <a:srgbClr val="AAD9F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732520" y="3657600"/>
            <a:ext cx="1005840" cy="0"/>
          </a:xfrm>
          <a:prstGeom prst="line">
            <a:avLst/>
          </a:prstGeom>
          <a:ln w="15240">
            <a:solidFill>
              <a:srgbClr val="AAD9F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738360" y="3154680"/>
            <a:ext cx="1005840" cy="502920"/>
          </a:xfrm>
          <a:prstGeom prst="line">
            <a:avLst/>
          </a:prstGeom>
          <a:ln w="15240">
            <a:solidFill>
              <a:srgbClr val="AAD9F1"/>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653527" y="1225295"/>
            <a:ext cx="146304" cy="146304"/>
          </a:xfrm>
          <a:prstGeom prst="ellipse">
            <a:avLst/>
          </a:prstGeom>
          <a:solidFill>
            <a:srgbClr val="6FB7EC"/>
          </a:solidFill>
          <a:ln w="13970">
            <a:solidFill>
              <a:srgbClr val="122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59368" y="2212848"/>
            <a:ext cx="146304" cy="146304"/>
          </a:xfrm>
          <a:prstGeom prst="ellipse">
            <a:avLst/>
          </a:prstGeom>
          <a:solidFill>
            <a:srgbClr val="6FB7EC"/>
          </a:solidFill>
          <a:ln w="13970">
            <a:solidFill>
              <a:srgbClr val="122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65208" y="2212848"/>
            <a:ext cx="146304" cy="146304"/>
          </a:xfrm>
          <a:prstGeom prst="ellipse">
            <a:avLst/>
          </a:prstGeom>
          <a:solidFill>
            <a:srgbClr val="6FB7EC"/>
          </a:solidFill>
          <a:ln w="13970">
            <a:solidFill>
              <a:srgbClr val="122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671048" y="1225295"/>
            <a:ext cx="146304" cy="146304"/>
          </a:xfrm>
          <a:prstGeom prst="ellipse">
            <a:avLst/>
          </a:prstGeom>
          <a:solidFill>
            <a:srgbClr val="6FB7EC"/>
          </a:solidFill>
          <a:ln w="13970">
            <a:solidFill>
              <a:srgbClr val="122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59368" y="3584448"/>
            <a:ext cx="146304" cy="146304"/>
          </a:xfrm>
          <a:prstGeom prst="ellipse">
            <a:avLst/>
          </a:prstGeom>
          <a:solidFill>
            <a:srgbClr val="6FB7EC"/>
          </a:solidFill>
          <a:ln w="13970">
            <a:solidFill>
              <a:srgbClr val="122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65208" y="3584448"/>
            <a:ext cx="146304" cy="146304"/>
          </a:xfrm>
          <a:prstGeom prst="ellipse">
            <a:avLst/>
          </a:prstGeom>
          <a:solidFill>
            <a:srgbClr val="6FB7EC"/>
          </a:solidFill>
          <a:ln w="13970">
            <a:solidFill>
              <a:srgbClr val="122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71048" y="3081528"/>
            <a:ext cx="146304" cy="146304"/>
          </a:xfrm>
          <a:prstGeom prst="ellipse">
            <a:avLst/>
          </a:prstGeom>
          <a:solidFill>
            <a:srgbClr val="6FB7EC"/>
          </a:solidFill>
          <a:ln w="13970">
            <a:solidFill>
              <a:srgbClr val="122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4297680"/>
            <a:ext cx="5669280" cy="640080"/>
          </a:xfrm>
          <a:prstGeom prst="rect">
            <a:avLst/>
          </a:prstGeom>
          <a:noFill/>
        </p:spPr>
        <p:txBody>
          <a:bodyPr wrap="square" anchor="t" lIns="27432" rIns="27432" tIns="27432" bIns="27432">
            <a:spAutoFit/>
          </a:bodyPr>
          <a:lstStyle/>
          <a:p>
            <a:pPr algn="l">
              <a:spcBef>
                <a:spcPts val="0"/>
              </a:spcBef>
              <a:spcAft>
                <a:spcPts val="0"/>
              </a:spcAft>
              <a:defRPr sz="1350" b="0" i="0">
                <a:solidFill>
                  <a:srgbClr val="252A30"/>
                </a:solidFill>
                <a:latin typeface="Arial"/>
              </a:defRPr>
            </a:pPr>
            <a:r>
              <a:t>In trading, we cannot know which ideas will work next. The ability to try, learn and adapt is part of our competitive edge.</a:t>
            </a:r>
          </a:p>
        </p:txBody>
      </p:sp>
      <p:sp>
        <p:nvSpPr>
          <p:cNvPr id="20" name="TextBox 19"/>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RESEARCH AGILITY</a:t>
            </a:r>
          </a:p>
        </p:txBody>
      </p:sp>
      <p:sp>
        <p:nvSpPr>
          <p:cNvPr id="21" name="TextBox 20"/>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01 / RESEARCH AGILITY</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2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Research agility is a competitive capability</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2624328" y="2386584"/>
            <a:ext cx="621792"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458968" y="2386584"/>
            <a:ext cx="621792"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293608" y="2386584"/>
            <a:ext cx="621792"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11480" y="1856232"/>
            <a:ext cx="2212848" cy="109728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400" b="1">
                <a:solidFill>
                  <a:srgbClr val="122D5B"/>
                </a:solidFill>
                <a:latin typeface="Arial"/>
              </a:defRPr>
            </a:pPr>
            <a:r>
              <a:rPr sz="1350" b="1">
                <a:solidFill>
                  <a:srgbClr val="091F4E"/>
                </a:solidFill>
                <a:latin typeface="Arial"/>
              </a:rPr>
              <a:t>Research hypothesis</a:t>
            </a:r>
          </a:p>
          <a:p>
            <a:pPr algn="l">
              <a:spcBef>
                <a:spcPts val="0"/>
              </a:spcBef>
              <a:spcAft>
                <a:spcPts val="200"/>
              </a:spcAft>
            </a:pPr>
            <a:r>
              <a:rPr sz="960" b="0">
                <a:solidFill>
                  <a:srgbClr val="233045"/>
                </a:solidFill>
                <a:latin typeface="Arial"/>
              </a:rPr>
              <a:t>Predictor, filter, rule or new market</a:t>
            </a:r>
          </a:p>
        </p:txBody>
      </p:sp>
      <p:sp>
        <p:nvSpPr>
          <p:cNvPr id="10" name="Rectangle 9"/>
          <p:cNvSpPr/>
          <p:nvPr/>
        </p:nvSpPr>
        <p:spPr>
          <a:xfrm>
            <a:off x="3246120" y="1856232"/>
            <a:ext cx="2212848" cy="109728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400" b="1">
                <a:solidFill>
                  <a:srgbClr val="122D5B"/>
                </a:solidFill>
                <a:latin typeface="Arial"/>
              </a:defRPr>
            </a:pPr>
            <a:r>
              <a:rPr sz="1350" b="1">
                <a:solidFill>
                  <a:srgbClr val="091F4E"/>
                </a:solidFill>
                <a:latin typeface="Arial"/>
              </a:rPr>
              <a:t>Implement &amp; simulate</a:t>
            </a:r>
          </a:p>
          <a:p>
            <a:pPr algn="l">
              <a:spcBef>
                <a:spcPts val="0"/>
              </a:spcBef>
              <a:spcAft>
                <a:spcPts val="200"/>
              </a:spcAft>
            </a:pPr>
            <a:r>
              <a:rPr sz="960" b="0">
                <a:solidFill>
                  <a:srgbClr val="233045"/>
                </a:solidFill>
                <a:latin typeface="Arial"/>
              </a:rPr>
              <a:t>Reproduce intended event behaviour</a:t>
            </a:r>
          </a:p>
        </p:txBody>
      </p:sp>
      <p:sp>
        <p:nvSpPr>
          <p:cNvPr id="11" name="Rectangle 10"/>
          <p:cNvSpPr/>
          <p:nvPr/>
        </p:nvSpPr>
        <p:spPr>
          <a:xfrm>
            <a:off x="6080760" y="1856232"/>
            <a:ext cx="2212848" cy="109728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400" b="1">
                <a:solidFill>
                  <a:srgbClr val="122D5B"/>
                </a:solidFill>
                <a:latin typeface="Arial"/>
              </a:defRPr>
            </a:pPr>
            <a:r>
              <a:rPr sz="1350" b="1">
                <a:solidFill>
                  <a:srgbClr val="091F4E"/>
                </a:solidFill>
                <a:latin typeface="Arial"/>
              </a:rPr>
              <a:t>Evaluate the evidence</a:t>
            </a:r>
          </a:p>
          <a:p>
            <a:pPr algn="l">
              <a:spcBef>
                <a:spcPts val="0"/>
              </a:spcBef>
              <a:spcAft>
                <a:spcPts val="200"/>
              </a:spcAft>
            </a:pPr>
            <a:r>
              <a:rPr sz="960" b="0">
                <a:solidFill>
                  <a:srgbClr val="233045"/>
                </a:solidFill>
                <a:latin typeface="Arial"/>
              </a:rPr>
              <a:t>OOS, costs, stability and capacity</a:t>
            </a:r>
          </a:p>
        </p:txBody>
      </p:sp>
      <p:sp>
        <p:nvSpPr>
          <p:cNvPr id="12" name="Rectangle 11"/>
          <p:cNvSpPr/>
          <p:nvPr/>
        </p:nvSpPr>
        <p:spPr>
          <a:xfrm>
            <a:off x="8915400" y="1856232"/>
            <a:ext cx="2212848" cy="109728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400" b="1">
                <a:solidFill>
                  <a:srgbClr val="122D5B"/>
                </a:solidFill>
                <a:latin typeface="Arial"/>
              </a:defRPr>
            </a:pPr>
            <a:r>
              <a:rPr sz="1350" b="1">
                <a:solidFill>
                  <a:srgbClr val="091F4E"/>
                </a:solidFill>
                <a:latin typeface="Arial"/>
              </a:rPr>
              <a:t>Learn &amp; decide</a:t>
            </a:r>
          </a:p>
          <a:p>
            <a:pPr algn="l">
              <a:spcBef>
                <a:spcPts val="0"/>
              </a:spcBef>
              <a:spcAft>
                <a:spcPts val="200"/>
              </a:spcAft>
            </a:pPr>
            <a:r>
              <a:rPr sz="960" b="0">
                <a:solidFill>
                  <a:srgbClr val="233045"/>
                </a:solidFill>
                <a:latin typeface="Arial"/>
              </a:rPr>
              <a:t>Discard, refine or validate further</a:t>
            </a:r>
          </a:p>
        </p:txBody>
      </p:sp>
      <p:sp>
        <p:nvSpPr>
          <p:cNvPr id="13" name="Rectangle 12"/>
          <p:cNvSpPr/>
          <p:nvPr/>
        </p:nvSpPr>
        <p:spPr>
          <a:xfrm>
            <a:off x="411480" y="3273552"/>
            <a:ext cx="5440680" cy="153619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RESEARCH VALUE</a:t>
            </a:r>
          </a:p>
          <a:p>
            <a:pPr algn="l">
              <a:spcBef>
                <a:spcPts val="0"/>
              </a:spcBef>
              <a:spcAft>
                <a:spcPts val="500"/>
              </a:spcAft>
            </a:pPr>
            <a:r>
              <a:rPr sz="1550" b="1">
                <a:solidFill>
                  <a:srgbClr val="091F4E"/>
                </a:solidFill>
                <a:latin typeface="Arial"/>
              </a:rPr>
              <a:t>When the idea disappoints</a:t>
            </a:r>
          </a:p>
          <a:p>
            <a:pPr algn="l">
              <a:spcBef>
                <a:spcPts val="0"/>
              </a:spcBef>
              <a:spcAft>
                <a:spcPts val="220"/>
              </a:spcAft>
            </a:pPr>
            <a:r>
              <a:rPr sz="1110" b="0">
                <a:solidFill>
                  <a:srgbClr val="233045"/>
                </a:solidFill>
                <a:latin typeface="Arial"/>
              </a:rPr>
              <a:t>We want to learn quickly and move on without rebuilding a large part of the system.</a:t>
            </a:r>
          </a:p>
        </p:txBody>
      </p:sp>
      <p:sp>
        <p:nvSpPr>
          <p:cNvPr id="14" name="Rectangle 13"/>
          <p:cNvSpPr/>
          <p:nvPr/>
        </p:nvSpPr>
        <p:spPr>
          <a:xfrm>
            <a:off x="6053328" y="3273552"/>
            <a:ext cx="5715000" cy="153619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TRADING VALUE</a:t>
            </a:r>
          </a:p>
          <a:p>
            <a:pPr algn="l">
              <a:spcBef>
                <a:spcPts val="0"/>
              </a:spcBef>
              <a:spcAft>
                <a:spcPts val="500"/>
              </a:spcAft>
            </a:pPr>
            <a:r>
              <a:rPr sz="1550" b="1">
                <a:solidFill>
                  <a:srgbClr val="091F4E"/>
                </a:solidFill>
                <a:latin typeface="Arial"/>
              </a:rPr>
              <a:t>When the idea looks promising</a:t>
            </a:r>
          </a:p>
          <a:p>
            <a:pPr algn="l">
              <a:spcBef>
                <a:spcPts val="0"/>
              </a:spcBef>
              <a:spcAft>
                <a:spcPts val="220"/>
              </a:spcAft>
            </a:pPr>
            <a:r>
              <a:rPr sz="1110" b="0">
                <a:solidFill>
                  <a:srgbClr val="233045"/>
                </a:solidFill>
                <a:latin typeface="Arial"/>
              </a:rPr>
              <a:t>We want a credible path to further validation and controlled production.</a:t>
            </a:r>
          </a:p>
        </p:txBody>
      </p:sp>
      <p:sp>
        <p:nvSpPr>
          <p:cNvPr id="15" name="Rectangle 14"/>
          <p:cNvSpPr/>
          <p:nvPr/>
        </p:nvSpPr>
        <p:spPr>
          <a:xfrm>
            <a:off x="411480" y="5056632"/>
            <a:ext cx="11356848" cy="603504"/>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400" b="1">
                <a:solidFill>
                  <a:srgbClr val="122D5B"/>
                </a:solidFill>
                <a:latin typeface="Arial"/>
              </a:defRPr>
            </a:pPr>
            <a:r>
              <a:t>The goal is a shorter idea-to-reliable-production cycle—not a shorter validation standard.</a:t>
            </a:r>
          </a:p>
        </p:txBody>
      </p:sp>
      <p:sp>
        <p:nvSpPr>
          <p:cNvPr id="16" name="TextBox 15"/>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RESEARCH AGILITY</a:t>
            </a:r>
          </a:p>
        </p:txBody>
      </p:sp>
      <p:sp>
        <p:nvSpPr>
          <p:cNvPr id="17" name="TextBox 16"/>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01 / RESEARCH AGILITY</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3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Why can a small change take longer than the first version?</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440680" cy="196596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ILLUSTRATIVE · LIMITED SCOPE</a:t>
            </a:r>
          </a:p>
          <a:p>
            <a:pPr algn="l">
              <a:spcBef>
                <a:spcPts val="0"/>
              </a:spcBef>
              <a:spcAft>
                <a:spcPts val="500"/>
              </a:spcAft>
            </a:pPr>
            <a:r>
              <a:rPr sz="1550" b="1">
                <a:solidFill>
                  <a:srgbClr val="091F4E"/>
                </a:solidFill>
                <a:latin typeface="Arial"/>
              </a:rPr>
              <a:t>2 days First implementation</a:t>
            </a:r>
          </a:p>
          <a:p>
            <a:pPr algn="l">
              <a:spcBef>
                <a:spcPts val="0"/>
              </a:spcBef>
              <a:spcAft>
                <a:spcPts val="220"/>
              </a:spcAft>
            </a:pPr>
            <a:r>
              <a:rPr sz="1110" b="0">
                <a:solidFill>
                  <a:srgbClr val="233045"/>
                </a:solidFill>
                <a:latin typeface="Arial"/>
              </a:rPr>
              <a:t>One venue, one model, clearly known inputs, and a relatively small graph.</a:t>
            </a:r>
          </a:p>
        </p:txBody>
      </p:sp>
      <p:sp>
        <p:nvSpPr>
          <p:cNvPr id="7" name="Rectangle 6"/>
          <p:cNvSpPr/>
          <p:nvPr/>
        </p:nvSpPr>
        <p:spPr>
          <a:xfrm>
            <a:off x="6199632" y="1828800"/>
            <a:ext cx="5532120" cy="196596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ILLUSTRATIVE · ESTABLISHED SYSTEM</a:t>
            </a:r>
          </a:p>
          <a:p>
            <a:pPr algn="l">
              <a:spcBef>
                <a:spcPts val="0"/>
              </a:spcBef>
              <a:spcAft>
                <a:spcPts val="500"/>
              </a:spcAft>
            </a:pPr>
            <a:r>
              <a:rPr sz="1550" b="1">
                <a:solidFill>
                  <a:srgbClr val="091F4E"/>
                </a:solidFill>
                <a:latin typeface="Arial"/>
              </a:rPr>
              <a:t>2 weeks Six months later</a:t>
            </a:r>
          </a:p>
          <a:p>
            <a:pPr algn="l">
              <a:spcBef>
                <a:spcPts val="0"/>
              </a:spcBef>
              <a:spcAft>
                <a:spcPts val="220"/>
              </a:spcAft>
            </a:pPr>
            <a:r>
              <a:rPr sz="1110" b="0">
                <a:solidFill>
                  <a:srgbClr val="233045"/>
                </a:solidFill>
                <a:latin typeface="Arial"/>
              </a:rPr>
              <a:t>A small variation may involve event meanings, several nodes, older assumptions and regression tests.</a:t>
            </a:r>
          </a:p>
        </p:txBody>
      </p:sp>
      <p:sp>
        <p:nvSpPr>
          <p:cNvPr id="8" name="Rectangle 7"/>
          <p:cNvSpPr/>
          <p:nvPr/>
        </p:nvSpPr>
        <p:spPr>
          <a:xfrm>
            <a:off x="457200" y="4142232"/>
            <a:ext cx="11274552" cy="713232"/>
          </a:xfrm>
          <a:prstGeom prst="rect">
            <a:avLst/>
          </a:prstGeom>
          <a:solidFill>
            <a:srgbClr val="FBFCFD"/>
          </a:solidFill>
          <a:ln w="10160">
            <a:solidFill>
              <a:srgbClr val="DCE3E9"/>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500" b="1">
                <a:solidFill>
                  <a:srgbClr val="122D5B"/>
                </a:solidFill>
                <a:latin typeface="Arial"/>
              </a:defRPr>
            </a:pPr>
            <a:r>
              <a:t>The difficulty is often not the new formula; it is the surrounding integration and verification.</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RESEARCH AGILITY</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01 / RESEARCH AGILITY</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4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The hidden cost is not only engineering time</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64792"/>
            <a:ext cx="5486400" cy="182880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WE CAN MEASURE</a:t>
            </a:r>
          </a:p>
          <a:p>
            <a:pPr algn="l">
              <a:spcBef>
                <a:spcPts val="0"/>
              </a:spcBef>
              <a:spcAft>
                <a:spcPts val="500"/>
              </a:spcAft>
            </a:pPr>
            <a:r>
              <a:rPr sz="1550" b="1">
                <a:solidFill>
                  <a:srgbClr val="091F4E"/>
                </a:solidFill>
                <a:latin typeface="Arial"/>
              </a:rPr>
              <a:t>Visible cost</a:t>
            </a:r>
          </a:p>
          <a:p>
            <a:pPr algn="l">
              <a:spcBef>
                <a:spcPts val="0"/>
              </a:spcBef>
              <a:spcAft>
                <a:spcPts val="220"/>
              </a:spcAft>
            </a:pPr>
            <a:r>
              <a:rPr sz="1110" b="0">
                <a:solidFill>
                  <a:srgbClr val="233045"/>
                </a:solidFill>
                <a:latin typeface="Arial"/>
              </a:rPr>
              <a:t>Extra implementation, debugging, review and regression work for each change.</a:t>
            </a:r>
          </a:p>
        </p:txBody>
      </p:sp>
      <p:sp>
        <p:nvSpPr>
          <p:cNvPr id="7" name="Rectangle 6"/>
          <p:cNvSpPr/>
          <p:nvPr/>
        </p:nvSpPr>
        <p:spPr>
          <a:xfrm>
            <a:off x="6236208" y="1764792"/>
            <a:ext cx="5486400" cy="182880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WE OFTEN DO NOT MEASURE</a:t>
            </a:r>
          </a:p>
          <a:p>
            <a:pPr algn="l">
              <a:spcBef>
                <a:spcPts val="0"/>
              </a:spcBef>
              <a:spcAft>
                <a:spcPts val="500"/>
              </a:spcAft>
            </a:pPr>
            <a:r>
              <a:rPr sz="1550" b="1">
                <a:solidFill>
                  <a:srgbClr val="091F4E"/>
                </a:solidFill>
                <a:latin typeface="Arial"/>
              </a:rPr>
              <a:t>Less visible cost</a:t>
            </a:r>
          </a:p>
          <a:p>
            <a:pPr algn="l">
              <a:spcBef>
                <a:spcPts val="0"/>
              </a:spcBef>
              <a:spcAft>
                <a:spcPts val="220"/>
              </a:spcAft>
            </a:pPr>
            <a:r>
              <a:rPr sz="1110" b="0">
                <a:solidFill>
                  <a:srgbClr val="233045"/>
                </a:solidFill>
                <a:latin typeface="Arial"/>
              </a:rPr>
              <a:t>Researchers avoid experiments that look expensive or disruptive to the existing graph.</a:t>
            </a:r>
          </a:p>
        </p:txBody>
      </p:sp>
      <p:sp>
        <p:nvSpPr>
          <p:cNvPr id="8" name="TextBox 7"/>
          <p:cNvSpPr txBox="1"/>
          <p:nvPr/>
        </p:nvSpPr>
        <p:spPr>
          <a:xfrm>
            <a:off x="475488" y="3886200"/>
            <a:ext cx="2743200" cy="274320"/>
          </a:xfrm>
          <a:prstGeom prst="rect">
            <a:avLst/>
          </a:prstGeom>
          <a:noFill/>
        </p:spPr>
        <p:txBody>
          <a:bodyPr wrap="square" anchor="t" lIns="27432" rIns="27432" tIns="27432" bIns="27432">
            <a:spAutoFit/>
          </a:bodyPr>
          <a:lstStyle/>
          <a:p>
            <a:pPr algn="l">
              <a:spcBef>
                <a:spcPts val="0"/>
              </a:spcBef>
              <a:spcAft>
                <a:spcPts val="0"/>
              </a:spcAft>
              <a:defRPr sz="1000" b="1" i="0">
                <a:solidFill>
                  <a:srgbClr val="2D63DA"/>
                </a:solidFill>
                <a:latin typeface="Arial"/>
              </a:defRPr>
            </a:pPr>
            <a:r>
              <a:t>Example: a researcher wants to try</a:t>
            </a:r>
          </a:p>
        </p:txBody>
      </p:sp>
      <p:sp>
        <p:nvSpPr>
          <p:cNvPr id="9" name="Rectangle 8"/>
          <p:cNvSpPr/>
          <p:nvPr/>
        </p:nvSpPr>
        <p:spPr>
          <a:xfrm>
            <a:off x="457200" y="4206240"/>
            <a:ext cx="11265408" cy="786384"/>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600" b="1">
                <a:solidFill>
                  <a:srgbClr val="122D5B"/>
                </a:solidFill>
                <a:latin typeface="Arial"/>
              </a:defRPr>
            </a:pPr>
            <a:r>
              <a:t>Architecture affects how many research questions are practical to ask.</a:t>
            </a:r>
          </a:p>
        </p:txBody>
      </p:sp>
      <p:sp>
        <p:nvSpPr>
          <p:cNvPr id="10" name="TextBox 9"/>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RESEARCH AGILITY</a:t>
            </a:r>
          </a:p>
        </p:txBody>
      </p:sp>
      <p:sp>
        <p:nvSpPr>
          <p:cNvPr id="11" name="TextBox 10"/>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914400"/>
            <a:ext cx="2011680" cy="1005840"/>
          </a:xfrm>
          <a:prstGeom prst="rect">
            <a:avLst/>
          </a:prstGeom>
          <a:noFill/>
        </p:spPr>
        <p:txBody>
          <a:bodyPr wrap="square" anchor="t" lIns="27432" rIns="27432" tIns="27432" bIns="27432">
            <a:spAutoFit/>
          </a:bodyPr>
          <a:lstStyle/>
          <a:p>
            <a:pPr algn="l">
              <a:spcBef>
                <a:spcPts val="0"/>
              </a:spcBef>
              <a:spcAft>
                <a:spcPts val="0"/>
              </a:spcAft>
              <a:defRPr sz="6000" b="1" i="0">
                <a:solidFill>
                  <a:srgbClr val="DAE7F6"/>
                </a:solidFill>
                <a:latin typeface="Arial"/>
              </a:defRPr>
            </a:pPr>
            <a:r>
              <a:t>02</a:t>
            </a:r>
          </a:p>
        </p:txBody>
      </p:sp>
      <p:sp>
        <p:nvSpPr>
          <p:cNvPr id="3" name="TextBox 2"/>
          <p:cNvSpPr txBox="1"/>
          <p:nvPr/>
        </p:nvSpPr>
        <p:spPr>
          <a:xfrm>
            <a:off x="2514600" y="1051560"/>
            <a:ext cx="8778240" cy="1097280"/>
          </a:xfrm>
          <a:prstGeom prst="rect">
            <a:avLst/>
          </a:prstGeom>
          <a:noFill/>
        </p:spPr>
        <p:txBody>
          <a:bodyPr wrap="square" anchor="t" lIns="27432" rIns="27432" tIns="27432" bIns="27432">
            <a:spAutoFit/>
          </a:bodyPr>
          <a:lstStyle/>
          <a:p>
            <a:pPr algn="l">
              <a:spcBef>
                <a:spcPts val="0"/>
              </a:spcBef>
              <a:spcAft>
                <a:spcPts val="0"/>
              </a:spcAft>
              <a:defRPr sz="3100" b="0" i="0">
                <a:solidFill>
                  <a:srgbClr val="2D63DA"/>
                </a:solidFill>
                <a:latin typeface="Arial"/>
              </a:defRPr>
            </a:pPr>
            <a:r>
              <a:t>Designing for Change: Components and Business Workflows</a:t>
            </a:r>
          </a:p>
        </p:txBody>
      </p:sp>
      <p:sp>
        <p:nvSpPr>
          <p:cNvPr id="4" name="TextBox 3"/>
          <p:cNvSpPr txBox="1"/>
          <p:nvPr/>
        </p:nvSpPr>
        <p:spPr>
          <a:xfrm>
            <a:off x="2542032" y="2286000"/>
            <a:ext cx="8046720" cy="502920"/>
          </a:xfrm>
          <a:prstGeom prst="rect">
            <a:avLst/>
          </a:prstGeom>
          <a:noFill/>
        </p:spPr>
        <p:txBody>
          <a:bodyPr wrap="square" anchor="t" lIns="27432" rIns="27432" tIns="27432" bIns="27432">
            <a:spAutoFit/>
          </a:bodyPr>
          <a:lstStyle/>
          <a:p>
            <a:pPr algn="l">
              <a:spcBef>
                <a:spcPts val="0"/>
              </a:spcBef>
              <a:spcAft>
                <a:spcPts val="0"/>
              </a:spcAft>
              <a:defRPr sz="1600" b="0" i="0">
                <a:solidFill>
                  <a:srgbClr val="6F757C"/>
                </a:solidFill>
                <a:latin typeface="Arial"/>
              </a:defRPr>
            </a:pPr>
            <a:r>
              <a:t>Designing for change  •  research agility</a:t>
            </a:r>
          </a:p>
        </p:txBody>
      </p:sp>
      <p:sp>
        <p:nvSpPr>
          <p:cNvPr id="5" name="Rectangle 4"/>
          <p:cNvSpPr/>
          <p:nvPr/>
        </p:nvSpPr>
        <p:spPr>
          <a:xfrm>
            <a:off x="2542032" y="3090672"/>
            <a:ext cx="7772400" cy="25603"/>
          </a:xfrm>
          <a:prstGeom prst="rect">
            <a:avLst/>
          </a:prstGeom>
          <a:solidFill>
            <a:srgbClr val="2D6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5486400" cy="201168"/>
          </a:xfrm>
          <a:prstGeom prst="rect">
            <a:avLst/>
          </a:prstGeom>
          <a:noFill/>
        </p:spPr>
        <p:txBody>
          <a:bodyPr wrap="square" anchor="t" lIns="27432" rIns="27432" tIns="27432" bIns="27432">
            <a:spAutoFit/>
          </a:bodyPr>
          <a:lstStyle/>
          <a:p>
            <a:pPr algn="l">
              <a:spcBef>
                <a:spcPts val="0"/>
              </a:spcBef>
              <a:spcAft>
                <a:spcPts val="0"/>
              </a:spcAft>
              <a:defRPr sz="900" b="1" i="0">
                <a:solidFill>
                  <a:srgbClr val="6F757C"/>
                </a:solidFill>
                <a:latin typeface="Arial"/>
              </a:defRPr>
            </a:pPr>
            <a:r>
              <a:t>02 / DESIGNING FOR CHANGE</a:t>
            </a:r>
          </a:p>
        </p:txBody>
      </p:sp>
      <p:sp>
        <p:nvSpPr>
          <p:cNvPr id="7" name="TextBox 6"/>
          <p:cNvSpPr txBox="1"/>
          <p:nvPr/>
        </p:nvSpPr>
        <p:spPr>
          <a:xfrm>
            <a:off x="11384280" y="6510528"/>
            <a:ext cx="411480" cy="201168"/>
          </a:xfrm>
          <a:prstGeom prst="rect">
            <a:avLst/>
          </a:prstGeom>
          <a:noFill/>
        </p:spPr>
        <p:txBody>
          <a:bodyPr wrap="square" anchor="t" lIns="27432" rIns="27432" tIns="27432" bIns="27432">
            <a:spAutoFit/>
          </a:bodyPr>
          <a:lstStyle/>
          <a:p>
            <a:pPr algn="r">
              <a:spcBef>
                <a:spcPts val="0"/>
              </a:spcBef>
              <a:spcAft>
                <a:spcPts val="0"/>
              </a:spcAft>
              <a:defRPr sz="900" b="0" i="0">
                <a:solidFill>
                  <a:srgbClr val="6F757C"/>
                </a:solidFill>
                <a:latin typeface="Aria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6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A graph can look modular while its nodes remain tightly coupled</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VISIBLE EVENT FLOW</a:t>
            </a:r>
          </a:p>
          <a:p>
            <a:pPr algn="l">
              <a:spcBef>
                <a:spcPts val="0"/>
              </a:spcBef>
              <a:spcAft>
                <a:spcPts val="500"/>
              </a:spcAft>
            </a:pPr>
            <a:r>
              <a:rPr sz="1550" b="1">
                <a:solidFill>
                  <a:srgbClr val="091F4E"/>
                </a:solidFill>
                <a:latin typeface="Arial"/>
              </a:rPr>
              <a:t>Separate boxes</a:t>
            </a:r>
          </a:p>
          <a:p>
            <a:pPr algn="l">
              <a:spcBef>
                <a:spcPts val="0"/>
              </a:spcBef>
              <a:spcAft>
                <a:spcPts val="220"/>
              </a:spcAft>
            </a:pPr>
            <a:r>
              <a:rPr sz="1110" b="0">
                <a:solidFill>
                  <a:srgbClr val="233045"/>
                </a:solidFill>
                <a:latin typeface="Arial"/>
              </a:rPr>
              <a:t>Feed → Features → Model → Signal. The diagram is clear, but that alone does not establish independent components.</a:t>
            </a:r>
          </a:p>
        </p:txBody>
      </p:sp>
      <p:sp>
        <p:nvSpPr>
          <p:cNvPr id="7" name="Rectangle 6"/>
          <p:cNvSpPr/>
          <p:nvPr/>
        </p:nvSpPr>
        <p:spPr>
          <a:xfrm>
            <a:off x="6199632"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HIDDEN DEPENDENCIES</a:t>
            </a:r>
          </a:p>
          <a:p>
            <a:pPr algn="l">
              <a:spcBef>
                <a:spcPts val="0"/>
              </a:spcBef>
              <a:spcAft>
                <a:spcPts val="500"/>
              </a:spcAft>
            </a:pPr>
            <a:r>
              <a:rPr sz="1550" b="1">
                <a:solidFill>
                  <a:srgbClr val="091F4E"/>
                </a:solidFill>
                <a:latin typeface="Arial"/>
              </a:rPr>
              <a:t>Changes spread</a:t>
            </a:r>
          </a:p>
          <a:p>
            <a:pPr algn="l">
              <a:spcBef>
                <a:spcPts val="0"/>
              </a:spcBef>
              <a:spcAft>
                <a:spcPts val="220"/>
              </a:spcAft>
            </a:pPr>
            <a:r>
              <a:rPr sz="1110" b="0">
                <a:solidFill>
                  <a:srgbClr val="233045"/>
                </a:solidFill>
                <a:latin typeface="Arial"/>
              </a:rPr>
              <a:t>The feature node knows Venue A’s field layout; the model assumes a specific update sequence; another node reads private model state.</a:t>
            </a:r>
          </a:p>
        </p:txBody>
      </p:sp>
      <p:sp>
        <p:nvSpPr>
          <p:cNvPr id="8" name="Rectangle 7"/>
          <p:cNvSpPr/>
          <p:nvPr/>
        </p:nvSpPr>
        <p:spPr>
          <a:xfrm>
            <a:off x="457200" y="4535424"/>
            <a:ext cx="11265408" cy="694944"/>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450" b="1">
                <a:solidFill>
                  <a:srgbClr val="122D5B"/>
                </a:solidFill>
                <a:latin typeface="Arial"/>
              </a:defRPr>
            </a:pPr>
            <a:r>
              <a:t>Several boxes may still need to change together when one design decision changes.</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7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Information hiding: keep volatile decisions behind stable interfaces</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IMPLEMENTATION DETAILS SPREAD</a:t>
            </a:r>
          </a:p>
          <a:p>
            <a:pPr algn="l">
              <a:spcBef>
                <a:spcPts val="0"/>
              </a:spcBef>
              <a:spcAft>
                <a:spcPts val="500"/>
              </a:spcAft>
            </a:pPr>
            <a:r>
              <a:rPr sz="1550" b="1">
                <a:solidFill>
                  <a:srgbClr val="091F4E"/>
                </a:solidFill>
                <a:latin typeface="Arial"/>
              </a:rPr>
              <a:t>Less useful boundary</a:t>
            </a:r>
          </a:p>
          <a:p>
            <a:pPr algn="l">
              <a:spcBef>
                <a:spcPts val="0"/>
              </a:spcBef>
              <a:spcAft>
                <a:spcPts val="220"/>
              </a:spcAft>
            </a:pPr>
            <a:r>
              <a:rPr sz="1110" b="0">
                <a:solidFill>
                  <a:srgbClr val="233045"/>
                </a:solidFill>
                <a:latin typeface="Arial"/>
              </a:rPr>
              <a:t>Several downstream nodes depend directly on the venue-specific quote layout.</a:t>
            </a:r>
          </a:p>
        </p:txBody>
      </p:sp>
      <p:sp>
        <p:nvSpPr>
          <p:cNvPr id="7" name="Rectangle 6"/>
          <p:cNvSpPr/>
          <p:nvPr/>
        </p:nvSpPr>
        <p:spPr>
          <a:xfrm>
            <a:off x="6199632"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VENUE DETAIL REMAINS LOCAL</a:t>
            </a:r>
          </a:p>
          <a:p>
            <a:pPr algn="l">
              <a:spcBef>
                <a:spcPts val="0"/>
              </a:spcBef>
              <a:spcAft>
                <a:spcPts val="500"/>
              </a:spcAft>
            </a:pPr>
            <a:r>
              <a:rPr sz="1550" b="1">
                <a:solidFill>
                  <a:srgbClr val="091F4E"/>
                </a:solidFill>
                <a:latin typeface="Arial"/>
              </a:rPr>
              <a:t>More useful boundary</a:t>
            </a:r>
          </a:p>
          <a:p>
            <a:pPr algn="l">
              <a:spcBef>
                <a:spcPts val="0"/>
              </a:spcBef>
              <a:spcAft>
                <a:spcPts val="220"/>
              </a:spcAft>
            </a:pPr>
            <a:r>
              <a:rPr sz="1110" b="0">
                <a:solidFill>
                  <a:srgbClr val="233045"/>
                </a:solidFill>
                <a:latin typeface="Arial"/>
              </a:rPr>
              <a:t>An adapter understands the venue; downstream components consume a well-defined market event.</a:t>
            </a:r>
          </a:p>
        </p:txBody>
      </p:sp>
      <p:sp>
        <p:nvSpPr>
          <p:cNvPr id="8" name="Rectangle 7"/>
          <p:cNvSpPr/>
          <p:nvPr/>
        </p:nvSpPr>
        <p:spPr>
          <a:xfrm>
            <a:off x="457200" y="4462272"/>
            <a:ext cx="11265408" cy="822960"/>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64008" bIns="73152"/>
          <a:lstStyle/>
          <a:p>
            <a:pPr algn="r">
              <a:spcBef>
                <a:spcPts val="0"/>
              </a:spcBef>
              <a:spcAft>
                <a:spcPts val="700"/>
              </a:spcAft>
              <a:defRPr sz="1450" b="1">
                <a:solidFill>
                  <a:srgbClr val="122D5B"/>
                </a:solidFill>
                <a:latin typeface="Arial"/>
              </a:defRPr>
            </a:pPr>
            <a:r>
              <a:rPr sz="780" b="1">
                <a:solidFill>
                  <a:srgbClr val="1857CA"/>
                </a:solidFill>
                <a:latin typeface="Arial"/>
              </a:rPr>
              <a:t>DESIGN PRINCIPLE</a:t>
            </a:r>
          </a:p>
          <a:p>
            <a:pPr algn="l">
              <a:spcBef>
                <a:spcPts val="0"/>
              </a:spcBef>
              <a:spcAft>
                <a:spcPts val="200"/>
              </a:spcAft>
            </a:pPr>
            <a:r>
              <a:rPr sz="1200" b="1">
                <a:solidFill>
                  <a:srgbClr val="091F4E"/>
                </a:solidFill>
                <a:latin typeface="Arial"/>
              </a:rPr>
              <a:t>A change to the implementation should not require unrelated components to change their understanding of the business event.</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8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Before: one FX graph with dependencies spread across its nodes</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029968"/>
            <a:ext cx="3840480" cy="219456"/>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ILLUSTRATIVE · COUPLED IMPLEMENTATION</a:t>
            </a:r>
          </a:p>
        </p:txBody>
      </p:sp>
      <p:cxnSp>
        <p:nvCxnSpPr>
          <p:cNvPr id="7" name="Connector 6"/>
          <p:cNvCxnSpPr/>
          <p:nvPr/>
        </p:nvCxnSpPr>
        <p:spPr>
          <a:xfrm>
            <a:off x="2286000" y="3072384"/>
            <a:ext cx="438912"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507992" y="3072384"/>
            <a:ext cx="448056"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739128" y="3072384"/>
            <a:ext cx="448056"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970264" y="3072384"/>
            <a:ext cx="448056"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02920" y="2532888"/>
            <a:ext cx="1783080" cy="1078992"/>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50" b="1">
                <a:solidFill>
                  <a:srgbClr val="091F4E"/>
                </a:solidFill>
                <a:latin typeface="Arial"/>
              </a:rPr>
              <a:t>Venue A feed</a:t>
            </a:r>
          </a:p>
          <a:p>
            <a:pPr algn="l">
              <a:spcBef>
                <a:spcPts val="0"/>
              </a:spcBef>
              <a:spcAft>
                <a:spcPts val="200"/>
              </a:spcAft>
            </a:pPr>
            <a:r>
              <a:rPr sz="960" b="0">
                <a:solidFill>
                  <a:srgbClr val="233045"/>
                </a:solidFill>
                <a:latin typeface="Arial"/>
              </a:rPr>
              <a:t>Raw quote layout</a:t>
            </a:r>
          </a:p>
        </p:txBody>
      </p:sp>
      <p:sp>
        <p:nvSpPr>
          <p:cNvPr id="12" name="Rectangle 11"/>
          <p:cNvSpPr/>
          <p:nvPr/>
        </p:nvSpPr>
        <p:spPr>
          <a:xfrm>
            <a:off x="2724912" y="2532888"/>
            <a:ext cx="1783080" cy="1078992"/>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50" b="1">
                <a:solidFill>
                  <a:srgbClr val="091F4E"/>
                </a:solidFill>
                <a:latin typeface="Arial"/>
              </a:rPr>
              <a:t>Features</a:t>
            </a:r>
          </a:p>
          <a:p>
            <a:pPr algn="l">
              <a:spcBef>
                <a:spcPts val="0"/>
              </a:spcBef>
              <a:spcAft>
                <a:spcPts val="200"/>
              </a:spcAft>
            </a:pPr>
            <a:r>
              <a:rPr sz="960" b="0">
                <a:solidFill>
                  <a:srgbClr val="233045"/>
                </a:solidFill>
                <a:latin typeface="Arial"/>
              </a:rPr>
              <a:t>Depend on Venue A fields</a:t>
            </a:r>
          </a:p>
        </p:txBody>
      </p:sp>
      <p:sp>
        <p:nvSpPr>
          <p:cNvPr id="13" name="Rectangle 12"/>
          <p:cNvSpPr/>
          <p:nvPr/>
        </p:nvSpPr>
        <p:spPr>
          <a:xfrm>
            <a:off x="4956048" y="2532888"/>
            <a:ext cx="1783080" cy="1078992"/>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50" b="1">
                <a:solidFill>
                  <a:srgbClr val="091F4E"/>
                </a:solidFill>
                <a:latin typeface="Arial"/>
              </a:rPr>
              <a:t>Model</a:t>
            </a:r>
          </a:p>
          <a:p>
            <a:pPr algn="l">
              <a:spcBef>
                <a:spcPts val="0"/>
              </a:spcBef>
              <a:spcAft>
                <a:spcPts val="200"/>
              </a:spcAft>
            </a:pPr>
            <a:r>
              <a:rPr sz="960" b="0">
                <a:solidFill>
                  <a:srgbClr val="233045"/>
                </a:solidFill>
                <a:latin typeface="Arial"/>
              </a:rPr>
              <a:t>Assumes event sequence</a:t>
            </a:r>
          </a:p>
        </p:txBody>
      </p:sp>
      <p:sp>
        <p:nvSpPr>
          <p:cNvPr id="14" name="Rectangle 13"/>
          <p:cNvSpPr/>
          <p:nvPr/>
        </p:nvSpPr>
        <p:spPr>
          <a:xfrm>
            <a:off x="7187184" y="2532888"/>
            <a:ext cx="1783080" cy="1078992"/>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50" b="1">
                <a:solidFill>
                  <a:srgbClr val="091F4E"/>
                </a:solidFill>
                <a:latin typeface="Arial"/>
              </a:rPr>
              <a:t>Composition</a:t>
            </a:r>
          </a:p>
          <a:p>
            <a:pPr algn="l">
              <a:spcBef>
                <a:spcPts val="0"/>
              </a:spcBef>
              <a:spcAft>
                <a:spcPts val="200"/>
              </a:spcAft>
            </a:pPr>
            <a:r>
              <a:rPr sz="960" b="0">
                <a:solidFill>
                  <a:srgbClr val="233045"/>
                </a:solidFill>
                <a:latin typeface="Arial"/>
              </a:rPr>
              <a:t>Reads model state</a:t>
            </a:r>
          </a:p>
        </p:txBody>
      </p:sp>
      <p:sp>
        <p:nvSpPr>
          <p:cNvPr id="15" name="Rectangle 14"/>
          <p:cNvSpPr/>
          <p:nvPr/>
        </p:nvSpPr>
        <p:spPr>
          <a:xfrm>
            <a:off x="9418320" y="2532888"/>
            <a:ext cx="1783080" cy="1078992"/>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50" b="1">
                <a:solidFill>
                  <a:srgbClr val="091F4E"/>
                </a:solidFill>
                <a:latin typeface="Arial"/>
              </a:rPr>
              <a:t>Decision</a:t>
            </a:r>
          </a:p>
          <a:p>
            <a:pPr algn="l">
              <a:spcBef>
                <a:spcPts val="0"/>
              </a:spcBef>
              <a:spcAft>
                <a:spcPts val="200"/>
              </a:spcAft>
            </a:pPr>
            <a:r>
              <a:rPr sz="960" b="0">
                <a:solidFill>
                  <a:srgbClr val="233045"/>
                </a:solidFill>
                <a:latin typeface="Arial"/>
              </a:rPr>
              <a:t>Special handling</a:t>
            </a:r>
          </a:p>
        </p:txBody>
      </p:sp>
      <p:sp>
        <p:nvSpPr>
          <p:cNvPr id="16" name="Rectangle 15"/>
          <p:cNvSpPr/>
          <p:nvPr/>
        </p:nvSpPr>
        <p:spPr>
          <a:xfrm>
            <a:off x="502920" y="4041648"/>
            <a:ext cx="5440680" cy="1481328"/>
          </a:xfrm>
          <a:prstGeom prst="rect">
            <a:avLst/>
          </a:prstGeom>
          <a:solidFill>
            <a:srgbClr val="FDF7F6"/>
          </a:solidFill>
          <a:ln w="10160">
            <a:solidFill>
              <a:srgbClr val="F1CFCC"/>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D9261C"/>
                </a:solidFill>
                <a:latin typeface="Arial"/>
              </a:defRPr>
            </a:pPr>
            <a:r>
              <a:rPr sz="750" b="1">
                <a:solidFill>
                  <a:srgbClr val="1857CA"/>
                </a:solidFill>
                <a:latin typeface="Arial"/>
              </a:rPr>
              <a:t>NEXT REQUEST</a:t>
            </a:r>
          </a:p>
          <a:p>
            <a:pPr algn="l">
              <a:spcBef>
                <a:spcPts val="0"/>
              </a:spcBef>
              <a:spcAft>
                <a:spcPts val="500"/>
              </a:spcAft>
            </a:pPr>
            <a:r>
              <a:rPr sz="1550" b="1">
                <a:solidFill>
                  <a:srgbClr val="091F4E"/>
                </a:solidFill>
                <a:latin typeface="Arial"/>
              </a:rPr>
              <a:t>Add Venue B</a:t>
            </a:r>
          </a:p>
          <a:p>
            <a:pPr algn="l">
              <a:spcBef>
                <a:spcPts val="0"/>
              </a:spcBef>
              <a:spcAft>
                <a:spcPts val="220"/>
              </a:spcAft>
            </a:pPr>
            <a:r>
              <a:rPr sz="1110" b="0">
                <a:solidFill>
                  <a:srgbClr val="233045"/>
                </a:solidFill>
                <a:latin typeface="Arial"/>
              </a:rPr>
              <a:t>Field mapping and time assumptions may need to change across several downstream nodes.</a:t>
            </a:r>
          </a:p>
        </p:txBody>
      </p:sp>
      <p:sp>
        <p:nvSpPr>
          <p:cNvPr id="17" name="Rectangle 16"/>
          <p:cNvSpPr/>
          <p:nvPr/>
        </p:nvSpPr>
        <p:spPr>
          <a:xfrm>
            <a:off x="6217920" y="4041648"/>
            <a:ext cx="5440680" cy="1481328"/>
          </a:xfrm>
          <a:prstGeom prst="rect">
            <a:avLst/>
          </a:prstGeom>
          <a:solidFill>
            <a:srgbClr val="FDF7F6"/>
          </a:solidFill>
          <a:ln w="10160">
            <a:solidFill>
              <a:srgbClr val="F1CFCC"/>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D9261C"/>
                </a:solidFill>
                <a:latin typeface="Arial"/>
              </a:defRPr>
            </a:pPr>
            <a:r>
              <a:rPr sz="750" b="1">
                <a:solidFill>
                  <a:srgbClr val="1857CA"/>
                </a:solidFill>
                <a:latin typeface="Arial"/>
              </a:rPr>
              <a:t>ANOTHER REQUEST</a:t>
            </a:r>
          </a:p>
          <a:p>
            <a:pPr algn="l">
              <a:spcBef>
                <a:spcPts val="0"/>
              </a:spcBef>
              <a:spcAft>
                <a:spcPts val="500"/>
              </a:spcAft>
            </a:pPr>
            <a:r>
              <a:rPr sz="1550" b="1">
                <a:solidFill>
                  <a:srgbClr val="091F4E"/>
                </a:solidFill>
                <a:latin typeface="Arial"/>
              </a:rPr>
              <a:t>Replace the model</a:t>
            </a:r>
          </a:p>
          <a:p>
            <a:pPr algn="l">
              <a:spcBef>
                <a:spcPts val="0"/>
              </a:spcBef>
              <a:spcAft>
                <a:spcPts val="220"/>
              </a:spcAft>
            </a:pPr>
            <a:r>
              <a:rPr sz="1110" b="0">
                <a:solidFill>
                  <a:srgbClr val="233045"/>
                </a:solidFill>
                <a:latin typeface="Arial"/>
              </a:rPr>
              <a:t>Changes to private state or prediction interpretation may require edits outside the model itself.</a:t>
            </a:r>
          </a:p>
        </p:txBody>
      </p:sp>
      <p:sp>
        <p:nvSpPr>
          <p:cNvPr id="18" name="TextBox 17"/>
          <p:cNvSpPr txBox="1"/>
          <p:nvPr/>
        </p:nvSpPr>
        <p:spPr>
          <a:xfrm>
            <a:off x="530352" y="5733288"/>
            <a:ext cx="10972800" cy="411480"/>
          </a:xfrm>
          <a:prstGeom prst="rect">
            <a:avLst/>
          </a:prstGeom>
          <a:noFill/>
        </p:spPr>
        <p:txBody>
          <a:bodyPr wrap="square" anchor="t" lIns="27432" rIns="27432" tIns="27432" bIns="27432">
            <a:spAutoFit/>
          </a:bodyPr>
          <a:lstStyle/>
          <a:p>
            <a:pPr algn="l">
              <a:spcBef>
                <a:spcPts val="0"/>
              </a:spcBef>
              <a:spcAft>
                <a:spcPts val="0"/>
              </a:spcAft>
              <a:defRPr sz="1350" b="1" i="0">
                <a:solidFill>
                  <a:srgbClr val="122D5B"/>
                </a:solidFill>
                <a:latin typeface="Arial"/>
              </a:defRPr>
            </a:pPr>
            <a:r>
              <a:t>The next two slides show how to keep these variations within more dependable boundaries.</a:t>
            </a:r>
          </a:p>
        </p:txBody>
      </p:sp>
      <p:sp>
        <p:nvSpPr>
          <p:cNvPr id="19" name="TextBox 1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20" name="TextBox 1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9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After: a new ECN can be handled at the data-source boundary</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93392"/>
            <a:ext cx="2743200" cy="201168"/>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ADAPTER BOUNDARY</a:t>
            </a:r>
          </a:p>
        </p:txBody>
      </p:sp>
      <p:cxnSp>
        <p:nvCxnSpPr>
          <p:cNvPr id="7" name="Connector 6"/>
          <p:cNvCxnSpPr/>
          <p:nvPr/>
        </p:nvCxnSpPr>
        <p:spPr>
          <a:xfrm>
            <a:off x="2286000" y="2944368"/>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617720" y="2944368"/>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49440" y="2944368"/>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57200" y="2441448"/>
            <a:ext cx="1828800" cy="100584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Venue A</a:t>
            </a:r>
          </a:p>
          <a:p>
            <a:pPr algn="l">
              <a:spcBef>
                <a:spcPts val="0"/>
              </a:spcBef>
              <a:spcAft>
                <a:spcPts val="200"/>
              </a:spcAft>
            </a:pPr>
            <a:r>
              <a:rPr sz="960" b="0">
                <a:solidFill>
                  <a:srgbClr val="233045"/>
                </a:solidFill>
                <a:latin typeface="Arial"/>
              </a:rPr>
              <a:t>Own format</a:t>
            </a:r>
          </a:p>
        </p:txBody>
      </p:sp>
      <p:sp>
        <p:nvSpPr>
          <p:cNvPr id="11" name="Rectangle 10"/>
          <p:cNvSpPr/>
          <p:nvPr/>
        </p:nvSpPr>
        <p:spPr>
          <a:xfrm>
            <a:off x="2788920" y="2441448"/>
            <a:ext cx="1828800" cy="100584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Adapter A</a:t>
            </a:r>
          </a:p>
          <a:p>
            <a:pPr algn="l">
              <a:spcBef>
                <a:spcPts val="0"/>
              </a:spcBef>
              <a:spcAft>
                <a:spcPts val="200"/>
              </a:spcAft>
            </a:pPr>
            <a:r>
              <a:rPr sz="960" b="0">
                <a:solidFill>
                  <a:srgbClr val="233045"/>
                </a:solidFill>
                <a:latin typeface="Arial"/>
              </a:rPr>
              <a:t>Map and validate</a:t>
            </a:r>
          </a:p>
        </p:txBody>
      </p:sp>
      <p:sp>
        <p:nvSpPr>
          <p:cNvPr id="12" name="Rectangle 11"/>
          <p:cNvSpPr/>
          <p:nvPr/>
        </p:nvSpPr>
        <p:spPr>
          <a:xfrm>
            <a:off x="5120640" y="2441448"/>
            <a:ext cx="1828800" cy="100584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Market-event contract</a:t>
            </a:r>
          </a:p>
          <a:p>
            <a:pPr algn="l">
              <a:spcBef>
                <a:spcPts val="0"/>
              </a:spcBef>
              <a:spcAft>
                <a:spcPts val="200"/>
              </a:spcAft>
            </a:pPr>
            <a:r>
              <a:rPr sz="960" b="0">
                <a:solidFill>
                  <a:srgbClr val="233045"/>
                </a:solidFill>
                <a:latin typeface="Arial"/>
              </a:rPr>
              <a:t>Time, identity, meaning</a:t>
            </a:r>
          </a:p>
        </p:txBody>
      </p:sp>
      <p:sp>
        <p:nvSpPr>
          <p:cNvPr id="13" name="Rectangle 12"/>
          <p:cNvSpPr/>
          <p:nvPr/>
        </p:nvSpPr>
        <p:spPr>
          <a:xfrm>
            <a:off x="7452360" y="2441448"/>
            <a:ext cx="1828800" cy="100584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Feature graph</a:t>
            </a:r>
          </a:p>
          <a:p>
            <a:pPr algn="l">
              <a:spcBef>
                <a:spcPts val="0"/>
              </a:spcBef>
              <a:spcAft>
                <a:spcPts val="200"/>
              </a:spcAft>
            </a:pPr>
            <a:r>
              <a:rPr sz="960" b="0">
                <a:solidFill>
                  <a:srgbClr val="233045"/>
                </a:solidFill>
                <a:latin typeface="Arial"/>
              </a:rPr>
              <a:t>Venue-independent logic</a:t>
            </a:r>
          </a:p>
        </p:txBody>
      </p:sp>
      <p:sp>
        <p:nvSpPr>
          <p:cNvPr id="14" name="TextBox 13"/>
          <p:cNvSpPr txBox="1"/>
          <p:nvPr/>
        </p:nvSpPr>
        <p:spPr>
          <a:xfrm>
            <a:off x="457200" y="3813048"/>
            <a:ext cx="2743200" cy="201168"/>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ADDING VENUE B</a:t>
            </a:r>
          </a:p>
        </p:txBody>
      </p:sp>
      <p:cxnSp>
        <p:nvCxnSpPr>
          <p:cNvPr id="15" name="Connector 14"/>
          <p:cNvCxnSpPr/>
          <p:nvPr/>
        </p:nvCxnSpPr>
        <p:spPr>
          <a:xfrm>
            <a:off x="2286000" y="4727448"/>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617720" y="4727448"/>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49440" y="4727448"/>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57200" y="4224528"/>
            <a:ext cx="1828800" cy="1005840"/>
          </a:xfrm>
          <a:prstGeom prst="rect">
            <a:avLst/>
          </a:prstGeom>
          <a:solidFill>
            <a:srgbClr val="F7F9FB"/>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Venue B</a:t>
            </a:r>
          </a:p>
          <a:p>
            <a:pPr algn="l">
              <a:spcBef>
                <a:spcPts val="0"/>
              </a:spcBef>
              <a:spcAft>
                <a:spcPts val="200"/>
              </a:spcAft>
            </a:pPr>
            <a:r>
              <a:rPr sz="960" b="0">
                <a:solidFill>
                  <a:srgbClr val="233045"/>
                </a:solidFill>
                <a:latin typeface="Arial"/>
              </a:rPr>
              <a:t>New format</a:t>
            </a:r>
          </a:p>
        </p:txBody>
      </p:sp>
      <p:sp>
        <p:nvSpPr>
          <p:cNvPr id="19" name="Rectangle 18"/>
          <p:cNvSpPr/>
          <p:nvPr/>
        </p:nvSpPr>
        <p:spPr>
          <a:xfrm>
            <a:off x="2788920" y="4224528"/>
            <a:ext cx="1828800" cy="1005840"/>
          </a:xfrm>
          <a:prstGeom prst="rect">
            <a:avLst/>
          </a:prstGeom>
          <a:solidFill>
            <a:srgbClr val="F7F9FB"/>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Adapter B</a:t>
            </a:r>
          </a:p>
          <a:p>
            <a:pPr algn="l">
              <a:spcBef>
                <a:spcPts val="0"/>
              </a:spcBef>
              <a:spcAft>
                <a:spcPts val="200"/>
              </a:spcAft>
            </a:pPr>
            <a:r>
              <a:rPr sz="960" b="0">
                <a:solidFill>
                  <a:srgbClr val="233045"/>
                </a:solidFill>
                <a:latin typeface="Arial"/>
              </a:rPr>
              <a:t>New implementation</a:t>
            </a:r>
          </a:p>
        </p:txBody>
      </p:sp>
      <p:sp>
        <p:nvSpPr>
          <p:cNvPr id="20" name="Rectangle 19"/>
          <p:cNvSpPr/>
          <p:nvPr/>
        </p:nvSpPr>
        <p:spPr>
          <a:xfrm>
            <a:off x="5120640" y="4224528"/>
            <a:ext cx="1828800" cy="100584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Same event meaning</a:t>
            </a:r>
          </a:p>
          <a:p>
            <a:pPr algn="l">
              <a:spcBef>
                <a:spcPts val="0"/>
              </a:spcBef>
              <a:spcAft>
                <a:spcPts val="200"/>
              </a:spcAft>
            </a:pPr>
            <a:r>
              <a:rPr sz="960" b="0">
                <a:solidFill>
                  <a:srgbClr val="233045"/>
                </a:solidFill>
                <a:latin typeface="Arial"/>
              </a:rPr>
              <a:t>If semantics are compatible</a:t>
            </a:r>
          </a:p>
        </p:txBody>
      </p:sp>
      <p:sp>
        <p:nvSpPr>
          <p:cNvPr id="21" name="Rectangle 20"/>
          <p:cNvSpPr/>
          <p:nvPr/>
        </p:nvSpPr>
        <p:spPr>
          <a:xfrm>
            <a:off x="7452360" y="4224528"/>
            <a:ext cx="1828800" cy="100584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Same feature graph</a:t>
            </a:r>
          </a:p>
          <a:p>
            <a:pPr algn="l">
              <a:spcBef>
                <a:spcPts val="0"/>
              </a:spcBef>
              <a:spcAft>
                <a:spcPts val="200"/>
              </a:spcAft>
            </a:pPr>
            <a:r>
              <a:rPr sz="960" b="0">
                <a:solidFill>
                  <a:srgbClr val="233045"/>
                </a:solidFill>
                <a:latin typeface="Arial"/>
              </a:rPr>
              <a:t>No unnecessary rewrite</a:t>
            </a:r>
          </a:p>
        </p:txBody>
      </p:sp>
      <p:sp>
        <p:nvSpPr>
          <p:cNvPr id="22" name="Rectangle 21"/>
          <p:cNvSpPr/>
          <p:nvPr/>
        </p:nvSpPr>
        <p:spPr>
          <a:xfrm>
            <a:off x="9646920" y="2441448"/>
            <a:ext cx="2011680" cy="2788920"/>
          </a:xfrm>
          <a:prstGeom prst="rect">
            <a:avLst/>
          </a:prstGeom>
          <a:solidFill>
            <a:srgbClr val="F6FAFD"/>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280" b="1">
                <a:solidFill>
                  <a:srgbClr val="122D5B"/>
                </a:solidFill>
                <a:latin typeface="Arial"/>
              </a:defRPr>
            </a:pPr>
            <a:r>
              <a:t>Reuse depends on semantic compatibility—not merely having the same number of fields.</a:t>
            </a:r>
          </a:p>
        </p:txBody>
      </p:sp>
      <p:sp>
        <p:nvSpPr>
          <p:cNvPr id="23" name="TextBox 22"/>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24" name="TextBox 23"/>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10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After: model implementations can change behind a common prediction contract</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29968"/>
            <a:ext cx="1645920" cy="201168"/>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REPLACEABLE</a:t>
            </a:r>
          </a:p>
        </p:txBody>
      </p:sp>
      <p:cxnSp>
        <p:nvCxnSpPr>
          <p:cNvPr id="7" name="Connector 6"/>
          <p:cNvCxnSpPr/>
          <p:nvPr/>
        </p:nvCxnSpPr>
        <p:spPr>
          <a:xfrm>
            <a:off x="2011680" y="2990088"/>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023360" y="2990088"/>
            <a:ext cx="54864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80760" y="2990088"/>
            <a:ext cx="123444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823960" y="2990088"/>
            <a:ext cx="54864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02920" y="2523744"/>
            <a:ext cx="1508760" cy="93268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300" b="1">
                <a:solidFill>
                  <a:srgbClr val="122D5B"/>
                </a:solidFill>
                <a:latin typeface="Arial"/>
              </a:defRPr>
            </a:pPr>
            <a:r>
              <a:t>Market events</a:t>
            </a:r>
          </a:p>
        </p:txBody>
      </p:sp>
      <p:sp>
        <p:nvSpPr>
          <p:cNvPr id="12" name="Rectangle 11"/>
          <p:cNvSpPr/>
          <p:nvPr/>
        </p:nvSpPr>
        <p:spPr>
          <a:xfrm>
            <a:off x="2514600" y="2523744"/>
            <a:ext cx="1508760" cy="93268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300" b="1">
                <a:solidFill>
                  <a:srgbClr val="122D5B"/>
                </a:solidFill>
                <a:latin typeface="Arial"/>
              </a:defRPr>
            </a:pPr>
            <a:r>
              <a:t>Features</a:t>
            </a:r>
          </a:p>
        </p:txBody>
      </p:sp>
      <p:sp>
        <p:nvSpPr>
          <p:cNvPr id="13" name="Rectangle 12"/>
          <p:cNvSpPr/>
          <p:nvPr/>
        </p:nvSpPr>
        <p:spPr>
          <a:xfrm>
            <a:off x="4572000" y="2523744"/>
            <a:ext cx="1508760" cy="932688"/>
          </a:xfrm>
          <a:prstGeom prst="rect">
            <a:avLst/>
          </a:prstGeom>
          <a:solidFill>
            <a:srgbClr val="E1EC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Model A</a:t>
            </a:r>
          </a:p>
          <a:p>
            <a:pPr algn="l">
              <a:spcBef>
                <a:spcPts val="0"/>
              </a:spcBef>
              <a:spcAft>
                <a:spcPts val="200"/>
              </a:spcAft>
            </a:pPr>
            <a:r>
              <a:rPr sz="960" b="0">
                <a:solidFill>
                  <a:srgbClr val="233045"/>
                </a:solidFill>
                <a:latin typeface="Arial"/>
              </a:rPr>
              <a:t>Candidate</a:t>
            </a:r>
          </a:p>
        </p:txBody>
      </p:sp>
      <p:sp>
        <p:nvSpPr>
          <p:cNvPr id="14" name="Rectangle 13"/>
          <p:cNvSpPr/>
          <p:nvPr/>
        </p:nvSpPr>
        <p:spPr>
          <a:xfrm>
            <a:off x="7315200" y="2523744"/>
            <a:ext cx="1508760" cy="93268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300" b="1">
                <a:solidFill>
                  <a:srgbClr val="122D5B"/>
                </a:solidFill>
                <a:latin typeface="Arial"/>
              </a:defRPr>
            </a:pPr>
            <a:r>
              <a:t>Signal contract</a:t>
            </a:r>
          </a:p>
        </p:txBody>
      </p:sp>
      <p:sp>
        <p:nvSpPr>
          <p:cNvPr id="15" name="Rectangle 14"/>
          <p:cNvSpPr/>
          <p:nvPr/>
        </p:nvSpPr>
        <p:spPr>
          <a:xfrm>
            <a:off x="9372600" y="2523744"/>
            <a:ext cx="1508760" cy="93268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300" b="1">
                <a:solidFill>
                  <a:srgbClr val="122D5B"/>
                </a:solidFill>
                <a:latin typeface="Arial"/>
              </a:defRPr>
            </a:pPr>
            <a:r>
              <a:t>Decision</a:t>
            </a:r>
          </a:p>
        </p:txBody>
      </p:sp>
      <p:sp>
        <p:nvSpPr>
          <p:cNvPr id="16" name="Rectangle 15"/>
          <p:cNvSpPr/>
          <p:nvPr/>
        </p:nvSpPr>
        <p:spPr>
          <a:xfrm>
            <a:off x="4572000" y="3813048"/>
            <a:ext cx="1508760" cy="932688"/>
          </a:xfrm>
          <a:prstGeom prst="rect">
            <a:avLst/>
          </a:prstGeom>
          <a:solidFill>
            <a:srgbClr val="E1EC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Model B</a:t>
            </a:r>
          </a:p>
          <a:p>
            <a:pPr algn="l">
              <a:spcBef>
                <a:spcPts val="0"/>
              </a:spcBef>
              <a:spcAft>
                <a:spcPts val="200"/>
              </a:spcAft>
            </a:pPr>
            <a:r>
              <a:rPr sz="960" b="0">
                <a:solidFill>
                  <a:srgbClr val="233045"/>
                </a:solidFill>
                <a:latin typeface="Arial"/>
              </a:rPr>
              <a:t>Replacement</a:t>
            </a:r>
          </a:p>
        </p:txBody>
      </p:sp>
      <p:cxnSp>
        <p:nvCxnSpPr>
          <p:cNvPr id="17" name="Connector 16"/>
          <p:cNvCxnSpPr/>
          <p:nvPr/>
        </p:nvCxnSpPr>
        <p:spPr>
          <a:xfrm flipV="1">
            <a:off x="6080760" y="3154680"/>
            <a:ext cx="1188720" cy="1124712"/>
          </a:xfrm>
          <a:prstGeom prst="line">
            <a:avLst/>
          </a:prstGeom>
          <a:ln w="1651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02920" y="5065776"/>
            <a:ext cx="5440680" cy="107899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500"/>
              </a:spcAft>
              <a:defRPr sz="950" b="1">
                <a:solidFill>
                  <a:srgbClr val="2D63DA"/>
                </a:solidFill>
                <a:latin typeface="Arial"/>
              </a:defRPr>
            </a:pPr>
            <a:r>
              <a:rPr sz="720" b="1">
                <a:solidFill>
                  <a:srgbClr val="1857CA"/>
                </a:solidFill>
                <a:latin typeface="Arial"/>
              </a:rPr>
              <a:t>INSIDE THE BOUNDARY</a:t>
            </a:r>
          </a:p>
          <a:p>
            <a:pPr algn="l">
              <a:spcBef>
                <a:spcPts val="0"/>
              </a:spcBef>
              <a:spcAft>
                <a:spcPts val="300"/>
              </a:spcAft>
            </a:pPr>
            <a:r>
              <a:rPr sz="1500" b="1">
                <a:solidFill>
                  <a:srgbClr val="091F4E"/>
                </a:solidFill>
                <a:latin typeface="Arial"/>
              </a:rPr>
              <a:t>What changes</a:t>
            </a:r>
          </a:p>
          <a:p>
            <a:pPr algn="l">
              <a:spcBef>
                <a:spcPts val="0"/>
              </a:spcBef>
              <a:spcAft>
                <a:spcPts val="220"/>
              </a:spcAft>
            </a:pPr>
            <a:r>
              <a:rPr sz="1050" b="0">
                <a:solidFill>
                  <a:srgbClr val="233045"/>
                </a:solidFill>
                <a:latin typeface="Arial"/>
              </a:rPr>
              <a:t>Estimation algorithm, parameters and private model state.</a:t>
            </a:r>
          </a:p>
        </p:txBody>
      </p:sp>
      <p:sp>
        <p:nvSpPr>
          <p:cNvPr id="19" name="Rectangle 18"/>
          <p:cNvSpPr/>
          <p:nvPr/>
        </p:nvSpPr>
        <p:spPr>
          <a:xfrm>
            <a:off x="6217920" y="5065776"/>
            <a:ext cx="5440680" cy="107899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500"/>
              </a:spcAft>
              <a:defRPr sz="950" b="1">
                <a:solidFill>
                  <a:srgbClr val="2D63DA"/>
                </a:solidFill>
                <a:latin typeface="Arial"/>
              </a:defRPr>
            </a:pPr>
            <a:r>
              <a:rPr sz="720" b="1">
                <a:solidFill>
                  <a:srgbClr val="1857CA"/>
                </a:solidFill>
                <a:latin typeface="Arial"/>
              </a:rPr>
              <a:t>AT THE BOUNDARY</a:t>
            </a:r>
          </a:p>
          <a:p>
            <a:pPr algn="l">
              <a:spcBef>
                <a:spcPts val="0"/>
              </a:spcBef>
              <a:spcAft>
                <a:spcPts val="300"/>
              </a:spcAft>
            </a:pPr>
            <a:r>
              <a:rPr sz="1500" b="1">
                <a:solidFill>
                  <a:srgbClr val="091F4E"/>
                </a:solidFill>
                <a:latin typeface="Arial"/>
              </a:rPr>
              <a:t>What stays dependable</a:t>
            </a:r>
          </a:p>
          <a:p>
            <a:pPr algn="l">
              <a:spcBef>
                <a:spcPts val="0"/>
              </a:spcBef>
              <a:spcAft>
                <a:spcPts val="220"/>
              </a:spcAft>
            </a:pPr>
            <a:r>
              <a:rPr sz="1050" b="0">
                <a:solidFill>
                  <a:srgbClr val="233045"/>
                </a:solidFill>
                <a:latin typeface="Arial"/>
              </a:rPr>
              <a:t>Inputs, output meaning, lifecycle and permitted external effects, where compatible.</a:t>
            </a:r>
          </a:p>
        </p:txBody>
      </p:sp>
      <p:sp>
        <p:nvSpPr>
          <p:cNvPr id="20" name="TextBox 19"/>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21" name="TextBox 20"/>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11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A stateful subgraph can still be independently replaceable</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73352"/>
            <a:ext cx="5486400" cy="155448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REPLACEABLE</a:t>
            </a:r>
          </a:p>
          <a:p>
            <a:pPr algn="l">
              <a:spcBef>
                <a:spcPts val="0"/>
              </a:spcBef>
              <a:spcAft>
                <a:spcPts val="500"/>
              </a:spcAft>
            </a:pPr>
            <a:r>
              <a:rPr sz="1550" b="1">
                <a:solidFill>
                  <a:srgbClr val="091F4E"/>
                </a:solidFill>
                <a:latin typeface="Arial"/>
              </a:rPr>
              <a:t>Contained state</a:t>
            </a:r>
          </a:p>
          <a:p>
            <a:pPr algn="l">
              <a:spcBef>
                <a:spcPts val="0"/>
              </a:spcBef>
              <a:spcAft>
                <a:spcPts val="220"/>
              </a:spcAft>
            </a:pPr>
            <a:r>
              <a:rPr sz="1110" b="0">
                <a:solidFill>
                  <a:srgbClr val="233045"/>
                </a:solidFill>
                <a:latin typeface="Arial"/>
              </a:rPr>
              <a:t>The subgraph owns its buffers, rolling estimates and reset behaviour. Inputs and outputs cross defined boundaries.</a:t>
            </a:r>
          </a:p>
        </p:txBody>
      </p:sp>
      <p:sp>
        <p:nvSpPr>
          <p:cNvPr id="7" name="Rectangle 6"/>
          <p:cNvSpPr/>
          <p:nvPr/>
        </p:nvSpPr>
        <p:spPr>
          <a:xfrm>
            <a:off x="6236208" y="1673352"/>
            <a:ext cx="5486400" cy="1554480"/>
          </a:xfrm>
          <a:prstGeom prst="rect">
            <a:avLst/>
          </a:prstGeom>
          <a:solidFill>
            <a:srgbClr val="FDF7F6"/>
          </a:solidFill>
          <a:ln w="10160">
            <a:solidFill>
              <a:srgbClr val="F1CFCC"/>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D9261C"/>
                </a:solidFill>
                <a:latin typeface="Arial"/>
              </a:defRPr>
            </a:pPr>
            <a:r>
              <a:rPr sz="750" b="1">
                <a:solidFill>
                  <a:srgbClr val="1857CA"/>
                </a:solidFill>
                <a:latin typeface="Arial"/>
              </a:rPr>
              <a:t>HARD TO REPLACE</a:t>
            </a:r>
          </a:p>
          <a:p>
            <a:pPr algn="l">
              <a:spcBef>
                <a:spcPts val="0"/>
              </a:spcBef>
              <a:spcAft>
                <a:spcPts val="500"/>
              </a:spcAft>
            </a:pPr>
            <a:r>
              <a:rPr sz="1550" b="1">
                <a:solidFill>
                  <a:srgbClr val="091F4E"/>
                </a:solidFill>
                <a:latin typeface="Arial"/>
              </a:rPr>
              <a:t>Coupled state</a:t>
            </a:r>
          </a:p>
          <a:p>
            <a:pPr algn="l">
              <a:spcBef>
                <a:spcPts val="0"/>
              </a:spcBef>
              <a:spcAft>
                <a:spcPts val="220"/>
              </a:spcAft>
            </a:pPr>
            <a:r>
              <a:rPr sz="1110" b="0">
                <a:solidFill>
                  <a:srgbClr val="233045"/>
                </a:solidFill>
                <a:latin typeface="Arial"/>
              </a:rPr>
              <a:t>Another node reads or modifies the subgraph’s internal state; replacement changes an unrelated component’s assumptions.</a:t>
            </a:r>
          </a:p>
        </p:txBody>
      </p:sp>
      <p:sp>
        <p:nvSpPr>
          <p:cNvPr id="8" name="TextBox 7"/>
          <p:cNvSpPr txBox="1"/>
          <p:nvPr/>
        </p:nvSpPr>
        <p:spPr>
          <a:xfrm>
            <a:off x="475488" y="3456432"/>
            <a:ext cx="3840480" cy="228600"/>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PRIVATE STATE THROUGH AN EVENT LIFECYCLE</a:t>
            </a:r>
          </a:p>
        </p:txBody>
      </p:sp>
      <p:cxnSp>
        <p:nvCxnSpPr>
          <p:cNvPr id="9" name="Connector 8"/>
          <p:cNvCxnSpPr/>
          <p:nvPr/>
        </p:nvCxnSpPr>
        <p:spPr>
          <a:xfrm>
            <a:off x="2505456" y="4261104"/>
            <a:ext cx="822960" cy="0"/>
          </a:xfrm>
          <a:prstGeom prst="line">
            <a:avLst/>
          </a:prstGeom>
          <a:ln w="1905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266944" y="4261104"/>
            <a:ext cx="822960" cy="0"/>
          </a:xfrm>
          <a:prstGeom prst="line">
            <a:avLst/>
          </a:prstGeom>
          <a:ln w="1905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28432" y="4261104"/>
            <a:ext cx="822960" cy="0"/>
          </a:xfrm>
          <a:prstGeom prst="line">
            <a:avLst/>
          </a:prstGeom>
          <a:ln w="1905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66928" y="3785616"/>
            <a:ext cx="1938528" cy="93268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Init</a:t>
            </a:r>
          </a:p>
          <a:p>
            <a:pPr algn="l">
              <a:spcBef>
                <a:spcPts val="0"/>
              </a:spcBef>
              <a:spcAft>
                <a:spcPts val="200"/>
              </a:spcAft>
            </a:pPr>
            <a:r>
              <a:rPr sz="960" b="0">
                <a:solidFill>
                  <a:srgbClr val="233045"/>
                </a:solidFill>
                <a:latin typeface="Arial"/>
              </a:rPr>
              <a:t>Known starting state</a:t>
            </a:r>
          </a:p>
        </p:txBody>
      </p:sp>
      <p:sp>
        <p:nvSpPr>
          <p:cNvPr id="13" name="Rectangle 12"/>
          <p:cNvSpPr/>
          <p:nvPr/>
        </p:nvSpPr>
        <p:spPr>
          <a:xfrm>
            <a:off x="3328416" y="3785616"/>
            <a:ext cx="1938528" cy="93268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Quote events</a:t>
            </a:r>
          </a:p>
          <a:p>
            <a:pPr algn="l">
              <a:spcBef>
                <a:spcPts val="0"/>
              </a:spcBef>
              <a:spcAft>
                <a:spcPts val="200"/>
              </a:spcAft>
            </a:pPr>
            <a:r>
              <a:rPr sz="960" b="0">
                <a:solidFill>
                  <a:srgbClr val="233045"/>
                </a:solidFill>
                <a:latin typeface="Arial"/>
              </a:rPr>
              <a:t>Update private state</a:t>
            </a:r>
          </a:p>
        </p:txBody>
      </p:sp>
      <p:sp>
        <p:nvSpPr>
          <p:cNvPr id="14" name="Rectangle 13"/>
          <p:cNvSpPr/>
          <p:nvPr/>
        </p:nvSpPr>
        <p:spPr>
          <a:xfrm>
            <a:off x="6089904" y="3785616"/>
            <a:ext cx="1938528" cy="93268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Signal events</a:t>
            </a:r>
          </a:p>
          <a:p>
            <a:pPr algn="l">
              <a:spcBef>
                <a:spcPts val="0"/>
              </a:spcBef>
              <a:spcAft>
                <a:spcPts val="200"/>
              </a:spcAft>
            </a:pPr>
            <a:r>
              <a:rPr sz="960" b="0">
                <a:solidFill>
                  <a:srgbClr val="233045"/>
                </a:solidFill>
                <a:latin typeface="Arial"/>
              </a:rPr>
              <a:t>Defined outputs</a:t>
            </a:r>
          </a:p>
        </p:txBody>
      </p:sp>
      <p:sp>
        <p:nvSpPr>
          <p:cNvPr id="15" name="Rectangle 14"/>
          <p:cNvSpPr/>
          <p:nvPr/>
        </p:nvSpPr>
        <p:spPr>
          <a:xfrm>
            <a:off x="8851392" y="3785616"/>
            <a:ext cx="1938528" cy="93268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Reset / restore</a:t>
            </a:r>
          </a:p>
          <a:p>
            <a:pPr algn="l">
              <a:spcBef>
                <a:spcPts val="0"/>
              </a:spcBef>
              <a:spcAft>
                <a:spcPts val="200"/>
              </a:spcAft>
            </a:pPr>
            <a:r>
              <a:rPr sz="960" b="0">
                <a:solidFill>
                  <a:srgbClr val="233045"/>
                </a:solidFill>
                <a:latin typeface="Arial"/>
              </a:rPr>
              <a:t>Defined lifecycle</a:t>
            </a:r>
          </a:p>
        </p:txBody>
      </p:sp>
      <p:sp>
        <p:nvSpPr>
          <p:cNvPr id="16" name="TextBox 15"/>
          <p:cNvSpPr txBox="1"/>
          <p:nvPr/>
        </p:nvSpPr>
        <p:spPr>
          <a:xfrm>
            <a:off x="566928" y="5029200"/>
            <a:ext cx="10972800" cy="411480"/>
          </a:xfrm>
          <a:prstGeom prst="rect">
            <a:avLst/>
          </a:prstGeom>
          <a:noFill/>
        </p:spPr>
        <p:txBody>
          <a:bodyPr wrap="square" anchor="t" lIns="27432" rIns="27432" tIns="27432" bIns="27432">
            <a:spAutoFit/>
          </a:bodyPr>
          <a:lstStyle/>
          <a:p>
            <a:pPr algn="l">
              <a:spcBef>
                <a:spcPts val="0"/>
              </a:spcBef>
              <a:spcAft>
                <a:spcPts val="0"/>
              </a:spcAft>
              <a:defRPr sz="1350" b="1" i="0">
                <a:solidFill>
                  <a:srgbClr val="122D5B"/>
                </a:solidFill>
                <a:latin typeface="Arial"/>
              </a:defRPr>
            </a:pPr>
            <a:r>
              <a:t>Stateful variation can be local when other subgraphs do not depend on hidden internal state.</a:t>
            </a:r>
          </a:p>
        </p:txBody>
      </p:sp>
      <p:sp>
        <p:nvSpPr>
          <p:cNvPr id="17" name="TextBox 16"/>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18" name="TextBox 17"/>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12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A replaceable boundary needs clear behavioural commitments</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94360" y="1764792"/>
          <a:ext cx="10972800" cy="4069080"/>
        </p:xfrm>
        <a:graphic>
          <a:graphicData uri="http://schemas.openxmlformats.org/drawingml/2006/table">
            <a:tbl>
              <a:tblPr firstRow="1" bandRow="1">
                <a:tableStyleId>{5C22544A-7EE6-4342-B048-85BDC9FD1C3A}</a:tableStyleId>
              </a:tblPr>
              <a:tblGrid>
                <a:gridCol w="2743200"/>
                <a:gridCol w="8229600"/>
              </a:tblGrid>
              <a:tr h="678180">
                <a:tc>
                  <a:txBody>
                    <a:bodyPr/>
                    <a:lstStyle/>
                    <a:p>
                      <a:pPr>
                        <a:defRPr sz="1400" b="1">
                          <a:solidFill>
                            <a:srgbClr val="FFFFFF"/>
                          </a:solidFill>
                          <a:latin typeface="Arial"/>
                        </a:defRPr>
                      </a:pPr>
                      <a:r>
                        <a:t>Contract dimension</a:t>
                      </a:r>
                    </a:p>
                  </a:txBody>
                  <a:tcPr marL="91440" marR="91440" marT="64008" marB="64008">
                    <a:solidFill>
                      <a:srgbClr val="2D63DA"/>
                    </a:solidFill>
                  </a:tcPr>
                </a:tc>
                <a:tc>
                  <a:txBody>
                    <a:bodyPr/>
                    <a:lstStyle/>
                    <a:p>
                      <a:pPr>
                        <a:defRPr sz="1400" b="1">
                          <a:solidFill>
                            <a:srgbClr val="FFFFFF"/>
                          </a:solidFill>
                          <a:latin typeface="Arial"/>
                        </a:defRPr>
                      </a:pPr>
                      <a:r>
                        <a:t>An example for an alpha subgraph</a:t>
                      </a:r>
                    </a:p>
                  </a:txBody>
                  <a:tcPr marL="91440" marR="91440" marT="64008" marB="64008">
                    <a:solidFill>
                      <a:srgbClr val="2D63DA"/>
                    </a:solidFill>
                  </a:tcPr>
                </a:tc>
              </a:tr>
              <a:tr h="678180">
                <a:tc>
                  <a:txBody>
                    <a:bodyPr/>
                    <a:lstStyle/>
                    <a:p>
                      <a:pPr>
                        <a:defRPr sz="1350" b="1">
                          <a:solidFill>
                            <a:srgbClr val="122D5B"/>
                          </a:solidFill>
                          <a:latin typeface="Arial"/>
                        </a:defRPr>
                      </a:pPr>
                      <a:r>
                        <a:t>Inputs</a:t>
                      </a:r>
                    </a:p>
                  </a:txBody>
                  <a:tcPr marL="91440" marR="91440" marT="64008" marB="64008">
                    <a:solidFill>
                      <a:srgbClr val="F7F9FB"/>
                    </a:solidFill>
                  </a:tcPr>
                </a:tc>
                <a:tc>
                  <a:txBody>
                    <a:bodyPr/>
                    <a:lstStyle/>
                    <a:p>
                      <a:pPr>
                        <a:defRPr sz="1350" b="0">
                          <a:solidFill>
                            <a:srgbClr val="252A30"/>
                          </a:solidFill>
                          <a:latin typeface="Arial"/>
                        </a:defRPr>
                      </a:pPr>
                      <a:r>
                        <a:t>Eligible feature events; instrument, time, validity and units defined</a:t>
                      </a:r>
                    </a:p>
                  </a:txBody>
                  <a:tcPr marL="91440" marR="91440" marT="64008" marB="64008">
                    <a:solidFill>
                      <a:srgbClr val="F7F9FB"/>
                    </a:solidFill>
                  </a:tcPr>
                </a:tc>
              </a:tr>
              <a:tr h="678180">
                <a:tc>
                  <a:txBody>
                    <a:bodyPr/>
                    <a:lstStyle/>
                    <a:p>
                      <a:pPr>
                        <a:defRPr sz="1350" b="1">
                          <a:solidFill>
                            <a:srgbClr val="122D5B"/>
                          </a:solidFill>
                          <a:latin typeface="Arial"/>
                        </a:defRPr>
                      </a:pPr>
                      <a:r>
                        <a:t>Outputs</a:t>
                      </a:r>
                    </a:p>
                  </a:txBody>
                  <a:tcPr marL="91440" marR="91440" marT="64008" marB="64008">
                    <a:solidFill>
                      <a:srgbClr val="FFFFFF"/>
                    </a:solidFill>
                  </a:tcPr>
                </a:tc>
                <a:tc>
                  <a:txBody>
                    <a:bodyPr/>
                    <a:lstStyle/>
                    <a:p>
                      <a:pPr>
                        <a:defRPr sz="1350" b="0">
                          <a:solidFill>
                            <a:srgbClr val="252A30"/>
                          </a:solidFill>
                          <a:latin typeface="Arial"/>
                        </a:defRPr>
                      </a:pPr>
                      <a:r>
                        <a:t>Alpha estimate with a defined horizon and quality meaning</a:t>
                      </a:r>
                    </a:p>
                  </a:txBody>
                  <a:tcPr marL="91440" marR="91440" marT="64008" marB="64008">
                    <a:solidFill>
                      <a:srgbClr val="FFFFFF"/>
                    </a:solidFill>
                  </a:tcPr>
                </a:tc>
              </a:tr>
              <a:tr h="678180">
                <a:tc>
                  <a:txBody>
                    <a:bodyPr/>
                    <a:lstStyle/>
                    <a:p>
                      <a:pPr>
                        <a:defRPr sz="1350" b="1">
                          <a:solidFill>
                            <a:srgbClr val="122D5B"/>
                          </a:solidFill>
                          <a:latin typeface="Arial"/>
                        </a:defRPr>
                      </a:pPr>
                      <a:r>
                        <a:t>State lifecycle</a:t>
                      </a:r>
                    </a:p>
                  </a:txBody>
                  <a:tcPr marL="91440" marR="91440" marT="64008" marB="64008">
                    <a:solidFill>
                      <a:srgbClr val="F7F9FB"/>
                    </a:solidFill>
                  </a:tcPr>
                </a:tc>
                <a:tc>
                  <a:txBody>
                    <a:bodyPr/>
                    <a:lstStyle/>
                    <a:p>
                      <a:pPr>
                        <a:defRPr sz="1350" b="0">
                          <a:solidFill>
                            <a:srgbClr val="252A30"/>
                          </a:solidFill>
                          <a:latin typeface="Arial"/>
                        </a:defRPr>
                      </a:pPr>
                      <a:r>
                        <a:t>Initialise, reset and restore with repeatable event behaviour</a:t>
                      </a:r>
                    </a:p>
                  </a:txBody>
                  <a:tcPr marL="91440" marR="91440" marT="64008" marB="64008">
                    <a:solidFill>
                      <a:srgbClr val="F7F9FB"/>
                    </a:solidFill>
                  </a:tcPr>
                </a:tc>
              </a:tr>
              <a:tr h="678180">
                <a:tc>
                  <a:txBody>
                    <a:bodyPr/>
                    <a:lstStyle/>
                    <a:p>
                      <a:pPr>
                        <a:defRPr sz="1350" b="1">
                          <a:solidFill>
                            <a:srgbClr val="122D5B"/>
                          </a:solidFill>
                          <a:latin typeface="Arial"/>
                        </a:defRPr>
                      </a:pPr>
                      <a:r>
                        <a:t>Effects</a:t>
                      </a:r>
                    </a:p>
                  </a:txBody>
                  <a:tcPr marL="91440" marR="91440" marT="64008" marB="64008">
                    <a:solidFill>
                      <a:srgbClr val="FFFFFF"/>
                    </a:solidFill>
                  </a:tcPr>
                </a:tc>
                <a:tc>
                  <a:txBody>
                    <a:bodyPr/>
                    <a:lstStyle/>
                    <a:p>
                      <a:pPr>
                        <a:defRPr sz="1350" b="0">
                          <a:solidFill>
                            <a:srgbClr val="252A30"/>
                          </a:solidFill>
                          <a:latin typeface="Arial"/>
                        </a:defRPr>
                      </a:pPr>
                      <a:r>
                        <a:t>Private internal state; no unannounced writes to other subgraphs</a:t>
                      </a:r>
                    </a:p>
                  </a:txBody>
                  <a:tcPr marL="91440" marR="91440" marT="64008" marB="64008">
                    <a:solidFill>
                      <a:srgbClr val="FFFFFF"/>
                    </a:solidFill>
                  </a:tcPr>
                </a:tc>
              </a:tr>
              <a:tr h="678180">
                <a:tc>
                  <a:txBody>
                    <a:bodyPr/>
                    <a:lstStyle/>
                    <a:p>
                      <a:pPr>
                        <a:defRPr sz="1350" b="1">
                          <a:solidFill>
                            <a:srgbClr val="122D5B"/>
                          </a:solidFill>
                          <a:latin typeface="Arial"/>
                        </a:defRPr>
                      </a:pPr>
                      <a:r>
                        <a:t>Allowed variation</a:t>
                      </a:r>
                    </a:p>
                  </a:txBody>
                  <a:tcPr marL="91440" marR="91440" marT="64008" marB="64008">
                    <a:solidFill>
                      <a:srgbClr val="F7F9FB"/>
                    </a:solidFill>
                  </a:tcPr>
                </a:tc>
                <a:tc>
                  <a:txBody>
                    <a:bodyPr/>
                    <a:lstStyle/>
                    <a:p>
                      <a:pPr>
                        <a:defRPr sz="1350" b="0">
                          <a:solidFill>
                            <a:srgbClr val="252A30"/>
                          </a:solidFill>
                          <a:latin typeface="Arial"/>
                        </a:defRPr>
                      </a:pPr>
                      <a:r>
                        <a:t>Weights, gating, composition, model logic and internal states</a:t>
                      </a:r>
                    </a:p>
                  </a:txBody>
                  <a:tcPr marL="91440" marR="91440" marT="64008" marB="64008">
                    <a:solidFill>
                      <a:srgbClr val="F7F9FB"/>
                    </a:solidFill>
                  </a:tcPr>
                </a:tc>
              </a:tr>
            </a:tbl>
          </a:graphicData>
        </a:graphic>
      </p:graphicFrame>
      <p:sp>
        <p:nvSpPr>
          <p:cNvPr id="7" name="TextBox 6"/>
          <p:cNvSpPr txBox="1"/>
          <p:nvPr/>
        </p:nvSpPr>
        <p:spPr>
          <a:xfrm>
            <a:off x="612648" y="6016752"/>
            <a:ext cx="10927080" cy="475488"/>
          </a:xfrm>
          <a:prstGeom prst="rect">
            <a:avLst/>
          </a:prstGeom>
          <a:noFill/>
        </p:spPr>
        <p:txBody>
          <a:bodyPr wrap="square" anchor="t" lIns="27432" rIns="27432" tIns="27432" bIns="27432">
            <a:spAutoFit/>
          </a:bodyPr>
          <a:lstStyle/>
          <a:p>
            <a:pPr algn="l">
              <a:spcBef>
                <a:spcPts val="0"/>
              </a:spcBef>
              <a:spcAft>
                <a:spcPts val="0"/>
              </a:spcAft>
              <a:defRPr sz="1350" b="1" i="0">
                <a:solidFill>
                  <a:srgbClr val="122D5B"/>
                </a:solidFill>
                <a:latin typeface="Arial"/>
              </a:defRPr>
            </a:pPr>
            <a:r>
              <a:t>The implementation may be different; the agreed business meaning at the boundary remains dependable.</a:t>
            </a:r>
          </a:p>
        </p:txBody>
      </p:sp>
      <p:sp>
        <p:nvSpPr>
          <p:cNvPr id="8" name="TextBox 7"/>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9" name="TextBox 8"/>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13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The boundary should evolve when research reveals a genuine new requirement</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73152"/>
          <a:lstStyle/>
          <a:p>
            <a:pPr algn="r">
              <a:spcBef>
                <a:spcPts val="0"/>
              </a:spcBef>
              <a:spcAft>
                <a:spcPts val="900"/>
              </a:spcAft>
              <a:defRPr sz="950" b="1">
                <a:solidFill>
                  <a:srgbClr val="2D63DA"/>
                </a:solidFill>
                <a:latin typeface="Arial"/>
              </a:defRPr>
            </a:pPr>
            <a:r>
              <a:rPr sz="750" b="1">
                <a:solidFill>
                  <a:srgbClr val="1857CA"/>
                </a:solidFill>
                <a:latin typeface="Arial"/>
              </a:rPr>
              <a:t>EVIDENCE</a:t>
            </a:r>
          </a:p>
          <a:p>
            <a:pPr algn="l">
              <a:spcBef>
                <a:spcPts val="0"/>
              </a:spcBef>
              <a:spcAft>
                <a:spcPts val="500"/>
              </a:spcAft>
            </a:pPr>
            <a:r>
              <a:rPr sz="1570" b="1">
                <a:solidFill>
                  <a:srgbClr val="091F4E"/>
                </a:solidFill>
                <a:latin typeface="Arial"/>
              </a:rPr>
              <a:t>What we learned</a:t>
            </a:r>
          </a:p>
          <a:p>
            <a:pPr algn="l">
              <a:spcBef>
                <a:spcPts val="0"/>
              </a:spcBef>
              <a:spcAft>
                <a:spcPts val="220"/>
              </a:spcAft>
            </a:pPr>
            <a:r>
              <a:rPr sz="1100" b="0">
                <a:solidFill>
                  <a:srgbClr val="233045"/>
                </a:solidFill>
                <a:latin typeface="Arial"/>
              </a:rPr>
              <a:t>V1 and V2 shared a feature graph and a prediction contract. V3 has a materially different input workflow.</a:t>
            </a:r>
          </a:p>
        </p:txBody>
      </p:sp>
      <p:sp>
        <p:nvSpPr>
          <p:cNvPr id="7" name="Rectangle 6"/>
          <p:cNvSpPr/>
          <p:nvPr/>
        </p:nvSpPr>
        <p:spPr>
          <a:xfrm>
            <a:off x="6199632"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73152"/>
          <a:lstStyle/>
          <a:p>
            <a:pPr algn="r">
              <a:spcBef>
                <a:spcPts val="0"/>
              </a:spcBef>
              <a:spcAft>
                <a:spcPts val="900"/>
              </a:spcAft>
              <a:defRPr sz="950" b="1">
                <a:solidFill>
                  <a:srgbClr val="2D63DA"/>
                </a:solidFill>
                <a:latin typeface="Arial"/>
              </a:defRPr>
            </a:pPr>
            <a:r>
              <a:rPr sz="750" b="1">
                <a:solidFill>
                  <a:srgbClr val="1857CA"/>
                </a:solidFill>
                <a:latin typeface="Arial"/>
              </a:rPr>
              <a:t>DESIGN UPDATE</a:t>
            </a:r>
          </a:p>
          <a:p>
            <a:pPr algn="l">
              <a:spcBef>
                <a:spcPts val="0"/>
              </a:spcBef>
              <a:spcAft>
                <a:spcPts val="500"/>
              </a:spcAft>
            </a:pPr>
            <a:r>
              <a:rPr sz="1570" b="1">
                <a:solidFill>
                  <a:srgbClr val="091F4E"/>
                </a:solidFill>
                <a:latin typeface="Arial"/>
              </a:rPr>
              <a:t>Reasonable response</a:t>
            </a:r>
          </a:p>
          <a:p>
            <a:pPr algn="l">
              <a:spcBef>
                <a:spcPts val="0"/>
              </a:spcBef>
              <a:spcAft>
                <a:spcPts val="220"/>
              </a:spcAft>
            </a:pPr>
            <a:r>
              <a:rPr sz="1100" b="0">
                <a:solidFill>
                  <a:srgbClr val="233045"/>
                </a:solidFill>
                <a:latin typeface="Arial"/>
              </a:rPr>
              <a:t>Reconsider which part of the graph is shared, and where the new variation should live.</a:t>
            </a:r>
          </a:p>
        </p:txBody>
      </p:sp>
      <p:sp>
        <p:nvSpPr>
          <p:cNvPr id="8" name="Rectangle 7"/>
          <p:cNvSpPr/>
          <p:nvPr/>
        </p:nvSpPr>
        <p:spPr>
          <a:xfrm>
            <a:off x="457200" y="4535424"/>
            <a:ext cx="11265408" cy="694944"/>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450" b="1">
                <a:solidFill>
                  <a:srgbClr val="122D5B"/>
                </a:solidFill>
                <a:latin typeface="Arial"/>
              </a:defRPr>
            </a:pPr>
            <a:r>
              <a:t>The design is there to help us change the business logic—not to force new research ideas through an unsuitable interface.</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14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The same principle applies to business workflows</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55648"/>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SYSTEM ARCHITECTURE</a:t>
            </a:r>
          </a:p>
          <a:p>
            <a:pPr algn="l">
              <a:spcBef>
                <a:spcPts val="0"/>
              </a:spcBef>
              <a:spcAft>
                <a:spcPts val="500"/>
              </a:spcAft>
            </a:pPr>
            <a:r>
              <a:rPr sz="1550" b="1">
                <a:solidFill>
                  <a:srgbClr val="091F4E"/>
                </a:solidFill>
                <a:latin typeface="Arial"/>
              </a:rPr>
              <a:t>Technical change</a:t>
            </a:r>
          </a:p>
          <a:p>
            <a:pPr algn="l">
              <a:spcBef>
                <a:spcPts val="0"/>
              </a:spcBef>
              <a:spcAft>
                <a:spcPts val="220"/>
              </a:spcAft>
            </a:pPr>
            <a:r>
              <a:rPr sz="1110" b="0">
                <a:solidFill>
                  <a:srgbClr val="233045"/>
                </a:solidFill>
                <a:latin typeface="Arial"/>
              </a:rPr>
              <a:t>Replace a market-data adapter or predictor implementation behind an agreed contract.</a:t>
            </a:r>
          </a:p>
        </p:txBody>
      </p:sp>
      <p:sp>
        <p:nvSpPr>
          <p:cNvPr id="7" name="Rectangle 6"/>
          <p:cNvSpPr/>
          <p:nvPr/>
        </p:nvSpPr>
        <p:spPr>
          <a:xfrm>
            <a:off x="6199632" y="1755648"/>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WORKFLOW ARCHITECTURE</a:t>
            </a:r>
          </a:p>
          <a:p>
            <a:pPr algn="l">
              <a:spcBef>
                <a:spcPts val="0"/>
              </a:spcBef>
              <a:spcAft>
                <a:spcPts val="500"/>
              </a:spcAft>
            </a:pPr>
            <a:r>
              <a:rPr sz="1550" b="1">
                <a:solidFill>
                  <a:srgbClr val="091F4E"/>
                </a:solidFill>
                <a:latin typeface="Arial"/>
              </a:rPr>
              <a:t>Business change</a:t>
            </a:r>
          </a:p>
          <a:p>
            <a:pPr algn="l">
              <a:spcBef>
                <a:spcPts val="0"/>
              </a:spcBef>
              <a:spcAft>
                <a:spcPts val="220"/>
              </a:spcAft>
            </a:pPr>
            <a:r>
              <a:rPr sz="1110" b="0">
                <a:solidFill>
                  <a:srgbClr val="233045"/>
                </a:solidFill>
                <a:latin typeface="Arial"/>
              </a:rPr>
              <a:t>Replace a way of combining alpha, handling liquidity or making a trading decision while keeping business operations meaningful.</a:t>
            </a:r>
          </a:p>
        </p:txBody>
      </p:sp>
      <p:sp>
        <p:nvSpPr>
          <p:cNvPr id="8" name="Rectangle 7"/>
          <p:cNvSpPr/>
          <p:nvPr/>
        </p:nvSpPr>
        <p:spPr>
          <a:xfrm>
            <a:off x="457200" y="4041648"/>
            <a:ext cx="11265408" cy="694944"/>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450" b="1">
                <a:solidFill>
                  <a:srgbClr val="122D5B"/>
                </a:solidFill>
                <a:latin typeface="Arial"/>
              </a:defRPr>
            </a:pPr>
            <a:r>
              <a:t>Our next question: can we make business workflows adaptable without making their meaning ambiguous?</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15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A business workflow is a composition of operations</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17904"/>
            <a:ext cx="3108960" cy="201168"/>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ILLUSTRATIVE BUSINESS FLOW</a:t>
            </a:r>
          </a:p>
        </p:txBody>
      </p:sp>
      <p:cxnSp>
        <p:nvCxnSpPr>
          <p:cNvPr id="7" name="Connector 6"/>
          <p:cNvCxnSpPr/>
          <p:nvPr/>
        </p:nvCxnSpPr>
        <p:spPr>
          <a:xfrm>
            <a:off x="2212848" y="2706624"/>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498848" y="2706624"/>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784848" y="2706624"/>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70848" y="2706624"/>
            <a:ext cx="50292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29768" y="2194560"/>
            <a:ext cx="1783080" cy="102412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Produce estimates</a:t>
            </a:r>
          </a:p>
          <a:p>
            <a:pPr algn="l">
              <a:spcBef>
                <a:spcPts val="0"/>
              </a:spcBef>
              <a:spcAft>
                <a:spcPts val="200"/>
              </a:spcAft>
            </a:pPr>
            <a:r>
              <a:rPr sz="960" b="0">
                <a:solidFill>
                  <a:srgbClr val="233045"/>
                </a:solidFill>
                <a:latin typeface="Arial"/>
              </a:rPr>
              <a:t>Forecast and horizon</a:t>
            </a:r>
          </a:p>
        </p:txBody>
      </p:sp>
      <p:sp>
        <p:nvSpPr>
          <p:cNvPr id="12" name="Rectangle 11"/>
          <p:cNvSpPr/>
          <p:nvPr/>
        </p:nvSpPr>
        <p:spPr>
          <a:xfrm>
            <a:off x="2715768" y="2194560"/>
            <a:ext cx="1783080" cy="102412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Compose alpha</a:t>
            </a:r>
          </a:p>
          <a:p>
            <a:pPr algn="l">
              <a:spcBef>
                <a:spcPts val="0"/>
              </a:spcBef>
              <a:spcAft>
                <a:spcPts val="200"/>
              </a:spcAft>
            </a:pPr>
            <a:r>
              <a:rPr sz="960" b="0">
                <a:solidFill>
                  <a:srgbClr val="233045"/>
                </a:solidFill>
                <a:latin typeface="Arial"/>
              </a:rPr>
              <a:t>Combine estimates</a:t>
            </a:r>
          </a:p>
        </p:txBody>
      </p:sp>
      <p:sp>
        <p:nvSpPr>
          <p:cNvPr id="13" name="Rectangle 12"/>
          <p:cNvSpPr/>
          <p:nvPr/>
        </p:nvSpPr>
        <p:spPr>
          <a:xfrm>
            <a:off x="5001768" y="2194560"/>
            <a:ext cx="1783080" cy="102412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Propose action</a:t>
            </a:r>
          </a:p>
          <a:p>
            <a:pPr algn="l">
              <a:spcBef>
                <a:spcPts val="0"/>
              </a:spcBef>
              <a:spcAft>
                <a:spcPts val="200"/>
              </a:spcAft>
            </a:pPr>
            <a:r>
              <a:rPr sz="960" b="0">
                <a:solidFill>
                  <a:srgbClr val="233045"/>
                </a:solidFill>
                <a:latin typeface="Arial"/>
              </a:rPr>
              <a:t>Intended change</a:t>
            </a:r>
          </a:p>
        </p:txBody>
      </p:sp>
      <p:sp>
        <p:nvSpPr>
          <p:cNvPr id="14" name="Rectangle 13"/>
          <p:cNvSpPr/>
          <p:nvPr/>
        </p:nvSpPr>
        <p:spPr>
          <a:xfrm>
            <a:off x="7287768" y="2194560"/>
            <a:ext cx="1783080" cy="102412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Assess risk</a:t>
            </a:r>
          </a:p>
          <a:p>
            <a:pPr algn="l">
              <a:spcBef>
                <a:spcPts val="0"/>
              </a:spcBef>
              <a:spcAft>
                <a:spcPts val="200"/>
              </a:spcAft>
            </a:pPr>
            <a:r>
              <a:rPr sz="960" b="0">
                <a:solidFill>
                  <a:srgbClr val="233045"/>
                </a:solidFill>
                <a:latin typeface="Arial"/>
              </a:rPr>
              <a:t>Permitted action</a:t>
            </a:r>
          </a:p>
        </p:txBody>
      </p:sp>
      <p:sp>
        <p:nvSpPr>
          <p:cNvPr id="15" name="Rectangle 14"/>
          <p:cNvSpPr/>
          <p:nvPr/>
        </p:nvSpPr>
        <p:spPr>
          <a:xfrm>
            <a:off x="9573768" y="2194560"/>
            <a:ext cx="1783080" cy="102412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Send order</a:t>
            </a:r>
          </a:p>
          <a:p>
            <a:pPr algn="l">
              <a:spcBef>
                <a:spcPts val="0"/>
              </a:spcBef>
              <a:spcAft>
                <a:spcPts val="200"/>
              </a:spcAft>
            </a:pPr>
            <a:r>
              <a:rPr sz="960" b="0">
                <a:solidFill>
                  <a:srgbClr val="233045"/>
                </a:solidFill>
                <a:latin typeface="Arial"/>
              </a:rPr>
              <a:t>External effect</a:t>
            </a:r>
          </a:p>
        </p:txBody>
      </p:sp>
      <p:sp>
        <p:nvSpPr>
          <p:cNvPr id="16" name="Rectangle 15"/>
          <p:cNvSpPr/>
          <p:nvPr/>
        </p:nvSpPr>
        <p:spPr>
          <a:xfrm>
            <a:off x="457200" y="3685032"/>
            <a:ext cx="5486400" cy="129844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BUSINESS CAPABILITY</a:t>
            </a:r>
          </a:p>
          <a:p>
            <a:pPr algn="l">
              <a:spcBef>
                <a:spcPts val="0"/>
              </a:spcBef>
              <a:spcAft>
                <a:spcPts val="500"/>
              </a:spcAft>
            </a:pPr>
            <a:r>
              <a:rPr sz="1500" b="1">
                <a:solidFill>
                  <a:srgbClr val="091F4E"/>
                </a:solidFill>
                <a:latin typeface="Arial"/>
              </a:rPr>
              <a:t>Operation meaning</a:t>
            </a:r>
          </a:p>
          <a:p>
            <a:pPr algn="l">
              <a:spcBef>
                <a:spcPts val="0"/>
              </a:spcBef>
              <a:spcAft>
                <a:spcPts val="220"/>
              </a:spcAft>
            </a:pPr>
            <a:r>
              <a:rPr sz="1050" b="0">
                <a:solidFill>
                  <a:srgbClr val="233045"/>
                </a:solidFill>
                <a:latin typeface="Arial"/>
              </a:rPr>
              <a:t>What it accepts, promises to produce and is permitted to change.</a:t>
            </a:r>
          </a:p>
        </p:txBody>
      </p:sp>
      <p:sp>
        <p:nvSpPr>
          <p:cNvPr id="17" name="Rectangle 16"/>
          <p:cNvSpPr/>
          <p:nvPr/>
        </p:nvSpPr>
        <p:spPr>
          <a:xfrm>
            <a:off x="6236208" y="3685032"/>
            <a:ext cx="5486400" cy="129844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RESEARCH DECISION</a:t>
            </a:r>
          </a:p>
          <a:p>
            <a:pPr algn="l">
              <a:spcBef>
                <a:spcPts val="0"/>
              </a:spcBef>
              <a:spcAft>
                <a:spcPts val="500"/>
              </a:spcAft>
            </a:pPr>
            <a:r>
              <a:rPr sz="1500" b="1">
                <a:solidFill>
                  <a:srgbClr val="091F4E"/>
                </a:solidFill>
                <a:latin typeface="Arial"/>
              </a:rPr>
              <a:t>Workflow variation</a:t>
            </a:r>
          </a:p>
          <a:p>
            <a:pPr algn="l">
              <a:spcBef>
                <a:spcPts val="0"/>
              </a:spcBef>
              <a:spcAft>
                <a:spcPts val="220"/>
              </a:spcAft>
            </a:pPr>
            <a:r>
              <a:rPr sz="1050" b="0">
                <a:solidFill>
                  <a:srgbClr val="233045"/>
                </a:solidFill>
                <a:latin typeface="Arial"/>
              </a:rPr>
              <a:t>Which operations are used, in what circumstances, and how their results are connected.</a:t>
            </a:r>
          </a:p>
        </p:txBody>
      </p:sp>
      <p:sp>
        <p:nvSpPr>
          <p:cNvPr id="18" name="TextBox 17"/>
          <p:cNvSpPr txBox="1"/>
          <p:nvPr/>
        </p:nvSpPr>
        <p:spPr>
          <a:xfrm>
            <a:off x="502920" y="5239512"/>
            <a:ext cx="10972800" cy="411480"/>
          </a:xfrm>
          <a:prstGeom prst="rect">
            <a:avLst/>
          </a:prstGeom>
          <a:noFill/>
        </p:spPr>
        <p:txBody>
          <a:bodyPr wrap="square" anchor="t" lIns="27432" rIns="27432" tIns="27432" bIns="27432">
            <a:spAutoFit/>
          </a:bodyPr>
          <a:lstStyle/>
          <a:p>
            <a:pPr algn="l">
              <a:spcBef>
                <a:spcPts val="0"/>
              </a:spcBef>
              <a:spcAft>
                <a:spcPts val="0"/>
              </a:spcAft>
              <a:defRPr sz="1350" b="1" i="0">
                <a:solidFill>
                  <a:srgbClr val="122D5B"/>
                </a:solidFill>
                <a:latin typeface="Arial"/>
              </a:defRPr>
            </a:pPr>
            <a:r>
              <a:t>The workflow can evolve while the meaning of its constituent operations remains dependable.</a:t>
            </a:r>
          </a:p>
        </p:txBody>
      </p:sp>
      <p:sp>
        <p:nvSpPr>
          <p:cNvPr id="19" name="TextBox 1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20" name="TextBox 1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16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Experiment with alpha composition without rebuilding the whole workflow</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56816"/>
            <a:ext cx="6400800" cy="219456"/>
          </a:xfrm>
          <a:prstGeom prst="rect">
            <a:avLst/>
          </a:prstGeom>
          <a:noFill/>
        </p:spPr>
        <p:txBody>
          <a:bodyPr wrap="square" anchor="t" lIns="27432" rIns="27432" tIns="27432" bIns="27432">
            <a:spAutoFit/>
          </a:bodyPr>
          <a:lstStyle/>
          <a:p>
            <a:pPr algn="l">
              <a:spcBef>
                <a:spcPts val="0"/>
              </a:spcBef>
              <a:spcAft>
                <a:spcPts val="0"/>
              </a:spcAft>
              <a:defRPr sz="1000" b="1" i="0">
                <a:solidFill>
                  <a:srgbClr val="2D63DA"/>
                </a:solidFill>
                <a:latin typeface="Arial"/>
              </a:defRPr>
            </a:pPr>
            <a:r>
              <a:t>SAME AVAILABLE ESTIMATES · DIFFERENT COMPOSITION RULES</a:t>
            </a:r>
          </a:p>
        </p:txBody>
      </p:sp>
      <p:sp>
        <p:nvSpPr>
          <p:cNvPr id="7" name="TextBox 6"/>
          <p:cNvSpPr txBox="1"/>
          <p:nvPr/>
        </p:nvSpPr>
        <p:spPr>
          <a:xfrm>
            <a:off x="457200" y="2304288"/>
            <a:ext cx="3657600" cy="219456"/>
          </a:xfrm>
          <a:prstGeom prst="rect">
            <a:avLst/>
          </a:prstGeom>
          <a:noFill/>
        </p:spPr>
        <p:txBody>
          <a:bodyPr wrap="square" anchor="t" lIns="27432" rIns="27432" tIns="27432" bIns="27432">
            <a:spAutoFit/>
          </a:bodyPr>
          <a:lstStyle/>
          <a:p>
            <a:pPr algn="l">
              <a:spcBef>
                <a:spcPts val="0"/>
              </a:spcBef>
              <a:spcAft>
                <a:spcPts val="0"/>
              </a:spcAft>
              <a:defRPr sz="950" b="1" i="0">
                <a:solidFill>
                  <a:srgbClr val="6F757C"/>
                </a:solidFill>
                <a:latin typeface="Arial"/>
              </a:defRPr>
            </a:pPr>
            <a:r>
              <a:t>SHARED WHERE SEMANTICS AGREE</a:t>
            </a:r>
          </a:p>
        </p:txBody>
      </p:sp>
      <p:sp>
        <p:nvSpPr>
          <p:cNvPr id="8" name="Rectangle 7"/>
          <p:cNvSpPr/>
          <p:nvPr/>
        </p:nvSpPr>
        <p:spPr>
          <a:xfrm>
            <a:off x="502920" y="2688336"/>
            <a:ext cx="3246120" cy="14173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91440" bIns="73152"/>
          <a:lstStyle/>
          <a:p>
            <a:pPr algn="l">
              <a:spcBef>
                <a:spcPts val="0"/>
              </a:spcBef>
              <a:spcAft>
                <a:spcPts val="600"/>
              </a:spcAft>
              <a:defRPr sz="950" b="1">
                <a:solidFill>
                  <a:srgbClr val="2D63DA"/>
                </a:solidFill>
                <a:latin typeface="Arial"/>
              </a:defRPr>
            </a:pPr>
            <a:r>
              <a:rPr sz="1600" b="1">
                <a:solidFill>
                  <a:srgbClr val="091F4E"/>
                </a:solidFill>
                <a:latin typeface="Arial"/>
              </a:rPr>
              <a:t>Input meanings</a:t>
            </a:r>
          </a:p>
          <a:p>
            <a:pPr algn="l">
              <a:spcBef>
                <a:spcPts val="0"/>
              </a:spcBef>
              <a:spcAft>
                <a:spcPts val="200"/>
              </a:spcAft>
            </a:pPr>
            <a:r>
              <a:rPr sz="1080" b="0">
                <a:solidFill>
                  <a:srgbClr val="233045"/>
                </a:solidFill>
                <a:latin typeface="Arial"/>
              </a:rPr>
              <a:t>Clock, instrument, validity</a:t>
            </a:r>
          </a:p>
        </p:txBody>
      </p:sp>
      <p:sp>
        <p:nvSpPr>
          <p:cNvPr id="9" name="Rectangle 8"/>
          <p:cNvSpPr/>
          <p:nvPr/>
        </p:nvSpPr>
        <p:spPr>
          <a:xfrm>
            <a:off x="4160520" y="2688336"/>
            <a:ext cx="3246120" cy="14173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91440" bIns="73152"/>
          <a:lstStyle/>
          <a:p>
            <a:pPr algn="l">
              <a:spcBef>
                <a:spcPts val="0"/>
              </a:spcBef>
              <a:spcAft>
                <a:spcPts val="600"/>
              </a:spcAft>
              <a:defRPr sz="950" b="1">
                <a:solidFill>
                  <a:srgbClr val="2D63DA"/>
                </a:solidFill>
                <a:latin typeface="Arial"/>
              </a:defRPr>
            </a:pPr>
            <a:r>
              <a:rPr sz="1600" b="1">
                <a:solidFill>
                  <a:srgbClr val="091F4E"/>
                </a:solidFill>
                <a:latin typeface="Arial"/>
              </a:rPr>
              <a:t>Variant workflow</a:t>
            </a:r>
          </a:p>
          <a:p>
            <a:pPr algn="l">
              <a:spcBef>
                <a:spcPts val="0"/>
              </a:spcBef>
              <a:spcAft>
                <a:spcPts val="200"/>
              </a:spcAft>
            </a:pPr>
            <a:r>
              <a:rPr sz="1080" b="0">
                <a:solidFill>
                  <a:srgbClr val="233045"/>
                </a:solidFill>
                <a:latin typeface="Arial"/>
              </a:rPr>
              <a:t>Different composition logic</a:t>
            </a:r>
          </a:p>
        </p:txBody>
      </p:sp>
      <p:sp>
        <p:nvSpPr>
          <p:cNvPr id="10" name="Rectangle 9"/>
          <p:cNvSpPr/>
          <p:nvPr/>
        </p:nvSpPr>
        <p:spPr>
          <a:xfrm>
            <a:off x="7818120" y="2688336"/>
            <a:ext cx="3246120" cy="14173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91440" bIns="73152"/>
          <a:lstStyle/>
          <a:p>
            <a:pPr algn="l">
              <a:spcBef>
                <a:spcPts val="0"/>
              </a:spcBef>
              <a:spcAft>
                <a:spcPts val="600"/>
              </a:spcAft>
              <a:defRPr sz="950" b="1">
                <a:solidFill>
                  <a:srgbClr val="2D63DA"/>
                </a:solidFill>
                <a:latin typeface="Arial"/>
              </a:defRPr>
            </a:pPr>
            <a:r>
              <a:rPr sz="1600" b="1">
                <a:solidFill>
                  <a:srgbClr val="091F4E"/>
                </a:solidFill>
                <a:latin typeface="Arial"/>
              </a:rPr>
              <a:t>Shared downstream</a:t>
            </a:r>
          </a:p>
          <a:p>
            <a:pPr algn="l">
              <a:spcBef>
                <a:spcPts val="0"/>
              </a:spcBef>
              <a:spcAft>
                <a:spcPts val="200"/>
              </a:spcAft>
            </a:pPr>
            <a:r>
              <a:rPr sz="1080" b="0">
                <a:solidFill>
                  <a:srgbClr val="233045"/>
                </a:solidFill>
                <a:latin typeface="Arial"/>
              </a:rPr>
              <a:t>Alpha with defined horizon; Consistent decisions</a:t>
            </a:r>
          </a:p>
        </p:txBody>
      </p:sp>
      <p:cxnSp>
        <p:nvCxnSpPr>
          <p:cNvPr id="11" name="Connector 10"/>
          <p:cNvCxnSpPr/>
          <p:nvPr/>
        </p:nvCxnSpPr>
        <p:spPr>
          <a:xfrm>
            <a:off x="3749039" y="3401568"/>
            <a:ext cx="411481"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406640" y="3401568"/>
            <a:ext cx="41148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160520" y="4334256"/>
            <a:ext cx="4114800" cy="228600"/>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Example swappable composition rules</a:t>
            </a:r>
          </a:p>
        </p:txBody>
      </p:sp>
      <p:sp>
        <p:nvSpPr>
          <p:cNvPr id="14" name="Rectangle 13"/>
          <p:cNvSpPr/>
          <p:nvPr/>
        </p:nvSpPr>
        <p:spPr>
          <a:xfrm>
            <a:off x="4160520" y="4681728"/>
            <a:ext cx="1600200" cy="713232"/>
          </a:xfrm>
          <a:prstGeom prst="rect">
            <a:avLst/>
          </a:prstGeom>
          <a:solidFill>
            <a:srgbClr val="E5EFFD"/>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spcBef>
                <a:spcPts val="0"/>
              </a:spcBef>
              <a:spcAft>
                <a:spcPts val="0"/>
              </a:spcAft>
              <a:defRPr sz="1200" b="1">
                <a:solidFill>
                  <a:srgbClr val="122D5B"/>
                </a:solidFill>
                <a:latin typeface="Arial"/>
              </a:defRPr>
            </a:pPr>
            <a:r>
              <a:rPr sz="1120" b="1">
                <a:solidFill>
                  <a:srgbClr val="091F4E"/>
                </a:solidFill>
                <a:latin typeface="Arial"/>
              </a:rPr>
              <a:t>Fixed weights</a:t>
            </a:r>
          </a:p>
        </p:txBody>
      </p:sp>
      <p:sp>
        <p:nvSpPr>
          <p:cNvPr id="15" name="Rectangle 14"/>
          <p:cNvSpPr/>
          <p:nvPr/>
        </p:nvSpPr>
        <p:spPr>
          <a:xfrm>
            <a:off x="5989320" y="4681728"/>
            <a:ext cx="1600200" cy="713232"/>
          </a:xfrm>
          <a:prstGeom prst="rect">
            <a:avLst/>
          </a:prstGeom>
          <a:solidFill>
            <a:srgbClr val="E5EFFD"/>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spcBef>
                <a:spcPts val="0"/>
              </a:spcBef>
              <a:spcAft>
                <a:spcPts val="0"/>
              </a:spcAft>
              <a:defRPr sz="1200" b="1">
                <a:solidFill>
                  <a:srgbClr val="122D5B"/>
                </a:solidFill>
                <a:latin typeface="Arial"/>
              </a:defRPr>
            </a:pPr>
            <a:r>
              <a:rPr sz="1120" b="1">
                <a:solidFill>
                  <a:srgbClr val="091F4E"/>
                </a:solidFill>
                <a:latin typeface="Arial"/>
              </a:rPr>
              <a:t>Liquidity-aware</a:t>
            </a:r>
          </a:p>
        </p:txBody>
      </p:sp>
      <p:sp>
        <p:nvSpPr>
          <p:cNvPr id="16" name="Rectangle 15"/>
          <p:cNvSpPr/>
          <p:nvPr/>
        </p:nvSpPr>
        <p:spPr>
          <a:xfrm>
            <a:off x="7818120" y="4681728"/>
            <a:ext cx="1600200" cy="713232"/>
          </a:xfrm>
          <a:prstGeom prst="rect">
            <a:avLst/>
          </a:prstGeom>
          <a:solidFill>
            <a:srgbClr val="E5EFFD"/>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ctr">
              <a:spcBef>
                <a:spcPts val="0"/>
              </a:spcBef>
              <a:spcAft>
                <a:spcPts val="0"/>
              </a:spcAft>
              <a:defRPr sz="1200" b="1">
                <a:solidFill>
                  <a:srgbClr val="122D5B"/>
                </a:solidFill>
                <a:latin typeface="Arial"/>
              </a:defRPr>
            </a:pPr>
            <a:r>
              <a:rPr sz="1120" b="1">
                <a:solidFill>
                  <a:srgbClr val="091F4E"/>
                </a:solidFill>
                <a:latin typeface="Arial"/>
              </a:rPr>
              <a:t>Regime-based</a:t>
            </a:r>
          </a:p>
        </p:txBody>
      </p:sp>
      <p:sp>
        <p:nvSpPr>
          <p:cNvPr id="17" name="TextBox 16"/>
          <p:cNvSpPr txBox="1"/>
          <p:nvPr/>
        </p:nvSpPr>
        <p:spPr>
          <a:xfrm>
            <a:off x="502920" y="5806440"/>
            <a:ext cx="10972800" cy="411480"/>
          </a:xfrm>
          <a:prstGeom prst="rect">
            <a:avLst/>
          </a:prstGeom>
          <a:noFill/>
        </p:spPr>
        <p:txBody>
          <a:bodyPr wrap="square" anchor="t" lIns="27432" rIns="27432" tIns="27432" bIns="27432">
            <a:spAutoFit/>
          </a:bodyPr>
          <a:lstStyle/>
          <a:p>
            <a:pPr algn="l">
              <a:spcBef>
                <a:spcPts val="0"/>
              </a:spcBef>
              <a:spcAft>
                <a:spcPts val="0"/>
              </a:spcAft>
              <a:defRPr sz="1340" b="1" i="0">
                <a:solidFill>
                  <a:srgbClr val="122D5B"/>
                </a:solidFill>
                <a:latin typeface="Arial"/>
              </a:defRPr>
            </a:pPr>
            <a:r>
              <a:t>A new experiment changes the intended business logic; other compatible capabilities can be reused.</a:t>
            </a:r>
          </a:p>
        </p:txBody>
      </p:sp>
      <p:sp>
        <p:nvSpPr>
          <p:cNvPr id="18" name="TextBox 17"/>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19" name="TextBox 18"/>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17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We can also experiment with how business decisions are connected</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194560"/>
            <a:ext cx="5504688" cy="162763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BUSINESS EXPERIMENT</a:t>
            </a:r>
          </a:p>
          <a:p>
            <a:pPr algn="l">
              <a:spcBef>
                <a:spcPts val="0"/>
              </a:spcBef>
              <a:spcAft>
                <a:spcPts val="500"/>
              </a:spcAft>
            </a:pPr>
            <a:r>
              <a:rPr sz="1550" b="1">
                <a:solidFill>
                  <a:srgbClr val="091F4E"/>
                </a:solidFill>
                <a:latin typeface="Arial"/>
              </a:rPr>
              <a:t>Workflow A · Default</a:t>
            </a:r>
          </a:p>
          <a:p>
            <a:pPr algn="l">
              <a:spcBef>
                <a:spcPts val="0"/>
              </a:spcBef>
              <a:spcAft>
                <a:spcPts val="220"/>
              </a:spcAft>
            </a:pPr>
            <a:r>
              <a:rPr sz="1110" b="0">
                <a:solidFill>
                  <a:srgbClr val="233045"/>
                </a:solidFill>
                <a:latin typeface="Arial"/>
              </a:rPr>
              <a:t>Combine estimates, then create a proposal whenever a defined alpha threshold is crossed.</a:t>
            </a:r>
          </a:p>
        </p:txBody>
      </p:sp>
      <p:sp>
        <p:nvSpPr>
          <p:cNvPr id="7" name="Rectangle 6"/>
          <p:cNvSpPr/>
          <p:nvPr/>
        </p:nvSpPr>
        <p:spPr>
          <a:xfrm>
            <a:off x="6217920" y="2194560"/>
            <a:ext cx="5504688" cy="162763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BUSINESS EXPERIMENT</a:t>
            </a:r>
          </a:p>
          <a:p>
            <a:pPr algn="l">
              <a:spcBef>
                <a:spcPts val="0"/>
              </a:spcBef>
              <a:spcAft>
                <a:spcPts val="500"/>
              </a:spcAft>
            </a:pPr>
            <a:r>
              <a:rPr sz="1550" b="1">
                <a:solidFill>
                  <a:srgbClr val="091F4E"/>
                </a:solidFill>
                <a:latin typeface="Arial"/>
              </a:rPr>
              <a:t>Workflow B · Liquidity-aware</a:t>
            </a:r>
          </a:p>
          <a:p>
            <a:pPr algn="l">
              <a:spcBef>
                <a:spcPts val="0"/>
              </a:spcBef>
              <a:spcAft>
                <a:spcPts val="220"/>
              </a:spcAft>
            </a:pPr>
            <a:r>
              <a:rPr sz="1110" b="0">
                <a:solidFill>
                  <a:srgbClr val="233045"/>
                </a:solidFill>
                <a:latin typeface="Arial"/>
              </a:rPr>
              <a:t>Combine estimates, but only create a proposal when the liquidity condition is satisfied.</a:t>
            </a:r>
          </a:p>
        </p:txBody>
      </p:sp>
      <p:sp>
        <p:nvSpPr>
          <p:cNvPr id="8" name="TextBox 7"/>
          <p:cNvSpPr txBox="1"/>
          <p:nvPr/>
        </p:nvSpPr>
        <p:spPr>
          <a:xfrm>
            <a:off x="502920" y="4087368"/>
            <a:ext cx="3657600" cy="228600"/>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WHAT REMAINS UNDERSTANDABLE</a:t>
            </a:r>
          </a:p>
        </p:txBody>
      </p:sp>
      <p:graphicFrame>
        <p:nvGraphicFramePr>
          <p:cNvPr id="9" name="Table 8"/>
          <p:cNvGraphicFramePr>
            <a:graphicFrameLocks noGrp="1"/>
          </p:cNvGraphicFramePr>
          <p:nvPr/>
        </p:nvGraphicFramePr>
        <p:xfrm>
          <a:off x="502920" y="4425696"/>
          <a:ext cx="7498079" cy="1627632"/>
        </p:xfrm>
        <a:graphic>
          <a:graphicData uri="http://schemas.openxmlformats.org/drawingml/2006/table">
            <a:tbl>
              <a:tblPr firstRow="1" bandRow="1">
                <a:tableStyleId>{5C22544A-7EE6-4342-B048-85BDC9FD1C3A}</a:tableStyleId>
              </a:tblPr>
              <a:tblGrid>
                <a:gridCol w="3749039"/>
                <a:gridCol w="3749040"/>
              </a:tblGrid>
              <a:tr h="406908">
                <a:tc>
                  <a:txBody>
                    <a:bodyPr/>
                    <a:lstStyle/>
                    <a:p>
                      <a:pPr>
                        <a:defRPr sz="1250" b="1">
                          <a:solidFill>
                            <a:srgbClr val="122D5B"/>
                          </a:solidFill>
                          <a:latin typeface="Arial"/>
                        </a:defRPr>
                      </a:pPr>
                      <a:r>
                        <a:t>Alpha estimate</a:t>
                      </a:r>
                    </a:p>
                  </a:txBody>
                  <a:tcPr>
                    <a:solidFill>
                      <a:srgbClr val="F7F9FB"/>
                    </a:solidFill>
                  </a:tcPr>
                </a:tc>
                <a:tc>
                  <a:txBody>
                    <a:bodyPr/>
                    <a:lstStyle/>
                    <a:p>
                      <a:pPr>
                        <a:defRPr sz="1250" b="0">
                          <a:solidFill>
                            <a:srgbClr val="252A30"/>
                          </a:solidFill>
                          <a:latin typeface="Arial"/>
                        </a:defRPr>
                      </a:pPr>
                      <a:r>
                        <a:t>A defined prediction</a:t>
                      </a:r>
                    </a:p>
                  </a:txBody>
                  <a:tcPr>
                    <a:solidFill>
                      <a:srgbClr val="F7F9FB"/>
                    </a:solidFill>
                  </a:tcPr>
                </a:tc>
              </a:tr>
              <a:tr h="406908">
                <a:tc>
                  <a:txBody>
                    <a:bodyPr/>
                    <a:lstStyle/>
                    <a:p>
                      <a:pPr>
                        <a:defRPr sz="1250" b="1">
                          <a:solidFill>
                            <a:srgbClr val="122D5B"/>
                          </a:solidFill>
                          <a:latin typeface="Arial"/>
                        </a:defRPr>
                      </a:pPr>
                      <a:r>
                        <a:t>Proposal</a:t>
                      </a:r>
                    </a:p>
                  </a:txBody>
                  <a:tcPr>
                    <a:solidFill>
                      <a:srgbClr val="FFFFFF"/>
                    </a:solidFill>
                  </a:tcPr>
                </a:tc>
                <a:tc>
                  <a:txBody>
                    <a:bodyPr/>
                    <a:lstStyle/>
                    <a:p>
                      <a:pPr>
                        <a:defRPr sz="1250" b="0">
                          <a:solidFill>
                            <a:srgbClr val="252A30"/>
                          </a:solidFill>
                          <a:latin typeface="Arial"/>
                        </a:defRPr>
                      </a:pPr>
                      <a:r>
                        <a:t>An intended action</a:t>
                      </a:r>
                    </a:p>
                  </a:txBody>
                  <a:tcPr>
                    <a:solidFill>
                      <a:srgbClr val="FFFFFF"/>
                    </a:solidFill>
                  </a:tcPr>
                </a:tc>
              </a:tr>
              <a:tr h="406908">
                <a:tc>
                  <a:txBody>
                    <a:bodyPr/>
                    <a:lstStyle/>
                    <a:p>
                      <a:pPr>
                        <a:defRPr sz="1250" b="1">
                          <a:solidFill>
                            <a:srgbClr val="122D5B"/>
                          </a:solidFill>
                          <a:latin typeface="Arial"/>
                        </a:defRPr>
                      </a:pPr>
                      <a:r>
                        <a:t>Risk assessment</a:t>
                      </a:r>
                    </a:p>
                  </a:txBody>
                  <a:tcPr>
                    <a:solidFill>
                      <a:srgbClr val="F7F9FB"/>
                    </a:solidFill>
                  </a:tcPr>
                </a:tc>
                <a:tc>
                  <a:txBody>
                    <a:bodyPr/>
                    <a:lstStyle/>
                    <a:p>
                      <a:pPr>
                        <a:defRPr sz="1250" b="0">
                          <a:solidFill>
                            <a:srgbClr val="252A30"/>
                          </a:solidFill>
                          <a:latin typeface="Arial"/>
                        </a:defRPr>
                      </a:pPr>
                      <a:r>
                        <a:t>Separate decision</a:t>
                      </a:r>
                    </a:p>
                  </a:txBody>
                  <a:tcPr>
                    <a:solidFill>
                      <a:srgbClr val="F7F9FB"/>
                    </a:solidFill>
                  </a:tcPr>
                </a:tc>
              </a:tr>
              <a:tr h="406908">
                <a:tc>
                  <a:txBody>
                    <a:bodyPr/>
                    <a:lstStyle/>
                    <a:p>
                      <a:pPr>
                        <a:defRPr sz="1250" b="1">
                          <a:solidFill>
                            <a:srgbClr val="122D5B"/>
                          </a:solidFill>
                          <a:latin typeface="Arial"/>
                        </a:defRPr>
                      </a:pPr>
                      <a:r>
                        <a:t>Order</a:t>
                      </a:r>
                    </a:p>
                  </a:txBody>
                  <a:tcPr>
                    <a:solidFill>
                      <a:srgbClr val="FFFFFF"/>
                    </a:solidFill>
                  </a:tcPr>
                </a:tc>
                <a:tc>
                  <a:txBody>
                    <a:bodyPr/>
                    <a:lstStyle/>
                    <a:p>
                      <a:pPr>
                        <a:defRPr sz="1250" b="0">
                          <a:solidFill>
                            <a:srgbClr val="252A30"/>
                          </a:solidFill>
                          <a:latin typeface="Arial"/>
                        </a:defRPr>
                      </a:pPr>
                      <a:r>
                        <a:t>Explicit external action</a:t>
                      </a:r>
                    </a:p>
                  </a:txBody>
                  <a:tcPr>
                    <a:solidFill>
                      <a:srgbClr val="FFFFFF"/>
                    </a:solidFill>
                  </a:tcPr>
                </a:tc>
              </a:tr>
            </a:tbl>
          </a:graphicData>
        </a:graphic>
      </p:graphicFrame>
      <p:sp>
        <p:nvSpPr>
          <p:cNvPr id="10" name="Rectangle 9"/>
          <p:cNvSpPr/>
          <p:nvPr/>
        </p:nvSpPr>
        <p:spPr>
          <a:xfrm>
            <a:off x="8275320" y="4425696"/>
            <a:ext cx="3438144" cy="1627632"/>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320" b="1">
                <a:solidFill>
                  <a:srgbClr val="122D5B"/>
                </a:solidFill>
                <a:latin typeface="Arial"/>
              </a:defRPr>
            </a:pPr>
            <a:r>
              <a:t>Flexibility means we can change the way operations are composed while keeping their business commitments explicit.</a:t>
            </a:r>
          </a:p>
        </p:txBody>
      </p:sp>
      <p:sp>
        <p:nvSpPr>
          <p:cNvPr id="11" name="TextBox 10"/>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12" name="TextBox 11"/>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02 / DESIGNING FOR CHANGE</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18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Repeated copying and excessive generalisation can both slow research</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REPEATED PIPELINES</a:t>
            </a:r>
          </a:p>
          <a:p>
            <a:pPr algn="l">
              <a:spcBef>
                <a:spcPts val="0"/>
              </a:spcBef>
              <a:spcAft>
                <a:spcPts val="500"/>
              </a:spcAft>
            </a:pPr>
            <a:r>
              <a:rPr sz="1550" b="1">
                <a:solidFill>
                  <a:srgbClr val="091F4E"/>
                </a:solidFill>
                <a:latin typeface="Arial"/>
              </a:rPr>
              <a:t>Copy each workflow</a:t>
            </a:r>
          </a:p>
          <a:p>
            <a:pPr algn="l">
              <a:spcBef>
                <a:spcPts val="0"/>
              </a:spcBef>
              <a:spcAft>
                <a:spcPts val="220"/>
              </a:spcAft>
            </a:pPr>
            <a:r>
              <a:rPr sz="1110" b="0">
                <a:solidFill>
                  <a:srgbClr val="233045"/>
                </a:solidFill>
                <a:latin typeface="Arial"/>
              </a:rPr>
              <a:t>Each variant gets its own feed, features, decisions and fixes. Similar workflows drift apart.</a:t>
            </a:r>
          </a:p>
        </p:txBody>
      </p:sp>
      <p:sp>
        <p:nvSpPr>
          <p:cNvPr id="7" name="Rectangle 6"/>
          <p:cNvSpPr/>
          <p:nvPr/>
        </p:nvSpPr>
        <p:spPr>
          <a:xfrm>
            <a:off x="6199632"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EXCESSIVE GENERALISATION</a:t>
            </a:r>
          </a:p>
          <a:p>
            <a:pPr algn="l">
              <a:spcBef>
                <a:spcPts val="0"/>
              </a:spcBef>
              <a:spcAft>
                <a:spcPts val="500"/>
              </a:spcAft>
            </a:pPr>
            <a:r>
              <a:rPr sz="1550" b="1">
                <a:solidFill>
                  <a:srgbClr val="091F4E"/>
                </a:solidFill>
                <a:latin typeface="Arial"/>
              </a:rPr>
              <a:t>One universal configurable workflow</a:t>
            </a:r>
          </a:p>
          <a:p>
            <a:pPr algn="l">
              <a:spcBef>
                <a:spcPts val="0"/>
              </a:spcBef>
              <a:spcAft>
                <a:spcPts val="220"/>
              </a:spcAft>
            </a:pPr>
            <a:r>
              <a:rPr sz="1110" b="0">
                <a:solidFill>
                  <a:srgbClr val="233045"/>
                </a:solidFill>
                <a:latin typeface="Arial"/>
              </a:rPr>
              <a:t>More flags, interacting modes and special handling accumulate within the same component.</a:t>
            </a:r>
          </a:p>
        </p:txBody>
      </p:sp>
      <p:sp>
        <p:nvSpPr>
          <p:cNvPr id="8" name="Rectangle 7"/>
          <p:cNvSpPr/>
          <p:nvPr/>
        </p:nvSpPr>
        <p:spPr>
          <a:xfrm>
            <a:off x="457200" y="4535424"/>
            <a:ext cx="11265408" cy="694944"/>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450" b="1">
                <a:solidFill>
                  <a:srgbClr val="122D5B"/>
                </a:solidFill>
                <a:latin typeface="Arial"/>
              </a:defRPr>
            </a:pPr>
            <a:r>
              <a:t>A good design is not the one with the fewest classes; it is the one that makes repeated business changes understandable.</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DESIGNING FOR CHANGE</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914400"/>
            <a:ext cx="2011680" cy="1005840"/>
          </a:xfrm>
          <a:prstGeom prst="rect">
            <a:avLst/>
          </a:prstGeom>
          <a:noFill/>
        </p:spPr>
        <p:txBody>
          <a:bodyPr wrap="square" anchor="t" lIns="27432" rIns="27432" tIns="27432" bIns="27432">
            <a:spAutoFit/>
          </a:bodyPr>
          <a:lstStyle/>
          <a:p>
            <a:pPr algn="l">
              <a:spcBef>
                <a:spcPts val="0"/>
              </a:spcBef>
              <a:spcAft>
                <a:spcPts val="0"/>
              </a:spcAft>
              <a:defRPr sz="6000" b="1" i="0">
                <a:solidFill>
                  <a:srgbClr val="DAE7F6"/>
                </a:solidFill>
                <a:latin typeface="Arial"/>
              </a:defRPr>
            </a:pPr>
            <a:r>
              <a:t>03</a:t>
            </a:r>
          </a:p>
        </p:txBody>
      </p:sp>
      <p:sp>
        <p:nvSpPr>
          <p:cNvPr id="3" name="TextBox 2"/>
          <p:cNvSpPr txBox="1"/>
          <p:nvPr/>
        </p:nvSpPr>
        <p:spPr>
          <a:xfrm>
            <a:off x="2514600" y="1051560"/>
            <a:ext cx="8778240" cy="1097280"/>
          </a:xfrm>
          <a:prstGeom prst="rect">
            <a:avLst/>
          </a:prstGeom>
          <a:noFill/>
        </p:spPr>
        <p:txBody>
          <a:bodyPr wrap="square" anchor="t" lIns="27432" rIns="27432" tIns="27432" bIns="27432">
            <a:spAutoFit/>
          </a:bodyPr>
          <a:lstStyle/>
          <a:p>
            <a:pPr algn="l">
              <a:spcBef>
                <a:spcPts val="0"/>
              </a:spcBef>
              <a:spcAft>
                <a:spcPts val="0"/>
              </a:spcAft>
              <a:defRPr sz="3100" b="0" i="0">
                <a:solidFill>
                  <a:srgbClr val="2D63DA"/>
                </a:solidFill>
                <a:latin typeface="Arial"/>
              </a:defRPr>
            </a:pPr>
            <a:r>
              <a:t>Aligning Software Objects and Operations with Business Definitions</a:t>
            </a:r>
          </a:p>
        </p:txBody>
      </p:sp>
      <p:sp>
        <p:nvSpPr>
          <p:cNvPr id="4" name="TextBox 3"/>
          <p:cNvSpPr txBox="1"/>
          <p:nvPr/>
        </p:nvSpPr>
        <p:spPr>
          <a:xfrm>
            <a:off x="2542032" y="2286000"/>
            <a:ext cx="8046720" cy="502920"/>
          </a:xfrm>
          <a:prstGeom prst="rect">
            <a:avLst/>
          </a:prstGeom>
          <a:noFill/>
        </p:spPr>
        <p:txBody>
          <a:bodyPr wrap="square" anchor="t" lIns="27432" rIns="27432" tIns="27432" bIns="27432">
            <a:spAutoFit/>
          </a:bodyPr>
          <a:lstStyle/>
          <a:p>
            <a:pPr algn="l">
              <a:spcBef>
                <a:spcPts val="0"/>
              </a:spcBef>
              <a:spcAft>
                <a:spcPts val="0"/>
              </a:spcAft>
              <a:defRPr sz="1600" b="0" i="0">
                <a:solidFill>
                  <a:srgbClr val="6F757C"/>
                </a:solidFill>
                <a:latin typeface="Arial"/>
              </a:defRPr>
            </a:pPr>
            <a:r>
              <a:t>Designing for change  •  research agility</a:t>
            </a:r>
          </a:p>
        </p:txBody>
      </p:sp>
      <p:sp>
        <p:nvSpPr>
          <p:cNvPr id="5" name="Rectangle 4"/>
          <p:cNvSpPr/>
          <p:nvPr/>
        </p:nvSpPr>
        <p:spPr>
          <a:xfrm>
            <a:off x="2542032" y="3090672"/>
            <a:ext cx="7772400" cy="25603"/>
          </a:xfrm>
          <a:prstGeom prst="rect">
            <a:avLst/>
          </a:prstGeom>
          <a:solidFill>
            <a:srgbClr val="2D6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5486400" cy="201168"/>
          </a:xfrm>
          <a:prstGeom prst="rect">
            <a:avLst/>
          </a:prstGeom>
          <a:noFill/>
        </p:spPr>
        <p:txBody>
          <a:bodyPr wrap="square" anchor="t" lIns="27432" rIns="27432" tIns="27432" bIns="27432">
            <a:spAutoFit/>
          </a:bodyPr>
          <a:lstStyle/>
          <a:p>
            <a:pPr algn="l">
              <a:spcBef>
                <a:spcPts val="0"/>
              </a:spcBef>
              <a:spcAft>
                <a:spcPts val="0"/>
              </a:spcAft>
              <a:defRPr sz="900" b="1" i="0">
                <a:solidFill>
                  <a:srgbClr val="6F757C"/>
                </a:solidFill>
                <a:latin typeface="Arial"/>
              </a:defRPr>
            </a:pPr>
            <a:r>
              <a:t>03 / BUSINESS DEFINITIONS</a:t>
            </a:r>
          </a:p>
        </p:txBody>
      </p:sp>
      <p:sp>
        <p:nvSpPr>
          <p:cNvPr id="7" name="TextBox 6"/>
          <p:cNvSpPr txBox="1"/>
          <p:nvPr/>
        </p:nvSpPr>
        <p:spPr>
          <a:xfrm>
            <a:off x="11384280" y="6510528"/>
            <a:ext cx="411480" cy="201168"/>
          </a:xfrm>
          <a:prstGeom prst="rect">
            <a:avLst/>
          </a:prstGeom>
          <a:noFill/>
        </p:spPr>
        <p:txBody>
          <a:bodyPr wrap="square" anchor="t" lIns="27432" rIns="27432" tIns="27432" bIns="27432">
            <a:spAutoFit/>
          </a:bodyPr>
          <a:lstStyle/>
          <a:p>
            <a:pPr algn="r">
              <a:spcBef>
                <a:spcPts val="0"/>
              </a:spcBef>
              <a:spcAft>
                <a:spcPts val="0"/>
              </a:spcAft>
              <a:defRPr sz="900" b="0" i="0">
                <a:solidFill>
                  <a:srgbClr val="6F757C"/>
                </a:solidFill>
                <a:latin typeface="Aria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03 / BUSINESS DEFINITIONS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20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A Java type is not yet a complete business definition</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19072"/>
            <a:ext cx="11247120" cy="640080"/>
          </a:xfrm>
          <a:prstGeom prst="rect">
            <a:avLst/>
          </a:prstGeom>
          <a:solidFill>
            <a:srgbClr val="F9FAFC"/>
          </a:solidFill>
          <a:ln w="1016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350" b="1">
                <a:solidFill>
                  <a:srgbClr val="122D5B"/>
                </a:solidFill>
                <a:latin typeface="Arial"/>
              </a:defRPr>
            </a:pPr>
            <a:r>
              <a:t>A METHOD SIGNATURE TELLS ONLY PART OF THE STORY</a:t>
            </a:r>
          </a:p>
        </p:txBody>
      </p:sp>
      <p:sp>
        <p:nvSpPr>
          <p:cNvPr id="7" name="Rectangle 6"/>
          <p:cNvSpPr/>
          <p:nvPr/>
        </p:nvSpPr>
        <p:spPr>
          <a:xfrm>
            <a:off x="457200" y="2615184"/>
            <a:ext cx="3310128" cy="21031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73152"/>
          <a:lstStyle/>
          <a:p>
            <a:pPr algn="r">
              <a:spcBef>
                <a:spcPts val="0"/>
              </a:spcBef>
              <a:spcAft>
                <a:spcPts val="900"/>
              </a:spcAft>
              <a:defRPr sz="950" b="1">
                <a:solidFill>
                  <a:srgbClr val="2D63DA"/>
                </a:solidFill>
                <a:latin typeface="Arial"/>
              </a:defRPr>
            </a:pPr>
            <a:r>
              <a:rPr sz="750" b="1">
                <a:solidFill>
                  <a:srgbClr val="1857CA"/>
                </a:solidFill>
                <a:latin typeface="Arial"/>
              </a:rPr>
              <a:t>OBJECT / INSTANCE</a:t>
            </a:r>
          </a:p>
          <a:p>
            <a:pPr algn="l">
              <a:spcBef>
                <a:spcPts val="0"/>
              </a:spcBef>
              <a:spcAft>
                <a:spcPts val="500"/>
              </a:spcAft>
            </a:pPr>
            <a:r>
              <a:rPr sz="1570" b="1">
                <a:solidFill>
                  <a:srgbClr val="091F4E"/>
                </a:solidFill>
                <a:latin typeface="Arial"/>
              </a:rPr>
              <a:t>What does it represent?</a:t>
            </a:r>
          </a:p>
          <a:p>
            <a:pPr algn="l">
              <a:spcBef>
                <a:spcPts val="0"/>
              </a:spcBef>
              <a:spcAft>
                <a:spcPts val="220"/>
              </a:spcAft>
            </a:pPr>
            <a:r>
              <a:rPr sz="1100" b="0">
                <a:solidFill>
                  <a:srgbClr val="233045"/>
                </a:solidFill>
                <a:latin typeface="Arial"/>
              </a:rPr>
              <a:t>A full book snapshot, a delta or a validated current book state? The instance must carry the right distinction.</a:t>
            </a:r>
          </a:p>
        </p:txBody>
      </p:sp>
      <p:sp>
        <p:nvSpPr>
          <p:cNvPr id="8" name="Rectangle 7"/>
          <p:cNvSpPr/>
          <p:nvPr/>
        </p:nvSpPr>
        <p:spPr>
          <a:xfrm>
            <a:off x="4224528" y="2615184"/>
            <a:ext cx="3310128" cy="21031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73152"/>
          <a:lstStyle/>
          <a:p>
            <a:pPr algn="r">
              <a:spcBef>
                <a:spcPts val="0"/>
              </a:spcBef>
              <a:spcAft>
                <a:spcPts val="900"/>
              </a:spcAft>
              <a:defRPr sz="950" b="1">
                <a:solidFill>
                  <a:srgbClr val="2D63DA"/>
                </a:solidFill>
                <a:latin typeface="Arial"/>
              </a:defRPr>
            </a:pPr>
            <a:r>
              <a:rPr sz="750" b="1">
                <a:solidFill>
                  <a:srgbClr val="1857CA"/>
                </a:solidFill>
                <a:latin typeface="Arial"/>
              </a:rPr>
              <a:t>DATA DEFINITION</a:t>
            </a:r>
          </a:p>
          <a:p>
            <a:pPr algn="l">
              <a:spcBef>
                <a:spcPts val="0"/>
              </a:spcBef>
              <a:spcAft>
                <a:spcPts val="500"/>
              </a:spcAft>
            </a:pPr>
            <a:r>
              <a:rPr sz="1570" b="1">
                <a:solidFill>
                  <a:srgbClr val="091F4E"/>
                </a:solidFill>
                <a:latin typeface="Arial"/>
              </a:rPr>
              <a:t>What do values mean?</a:t>
            </a:r>
          </a:p>
          <a:p>
            <a:pPr algn="l">
              <a:spcBef>
                <a:spcPts val="0"/>
              </a:spcBef>
              <a:spcAft>
                <a:spcPts val="220"/>
              </a:spcAft>
            </a:pPr>
            <a:r>
              <a:rPr sz="1100" b="0">
                <a:solidFill>
                  <a:srgbClr val="233045"/>
                </a:solidFill>
                <a:latin typeface="Arial"/>
              </a:rPr>
              <a:t>Instrument, units, event time, availability, validity and update semantics all matter.</a:t>
            </a:r>
          </a:p>
        </p:txBody>
      </p:sp>
      <p:sp>
        <p:nvSpPr>
          <p:cNvPr id="9" name="Rectangle 8"/>
          <p:cNvSpPr/>
          <p:nvPr/>
        </p:nvSpPr>
        <p:spPr>
          <a:xfrm>
            <a:off x="7991856" y="2615184"/>
            <a:ext cx="3310128" cy="21031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73152"/>
          <a:lstStyle/>
          <a:p>
            <a:pPr algn="r">
              <a:spcBef>
                <a:spcPts val="0"/>
              </a:spcBef>
              <a:spcAft>
                <a:spcPts val="900"/>
              </a:spcAft>
              <a:defRPr sz="950" b="1">
                <a:solidFill>
                  <a:srgbClr val="2D63DA"/>
                </a:solidFill>
                <a:latin typeface="Arial"/>
              </a:defRPr>
            </a:pPr>
            <a:r>
              <a:rPr sz="750" b="1">
                <a:solidFill>
                  <a:srgbClr val="1857CA"/>
                </a:solidFill>
                <a:latin typeface="Arial"/>
              </a:rPr>
              <a:t>OPERATION</a:t>
            </a:r>
          </a:p>
          <a:p>
            <a:pPr algn="l">
              <a:spcBef>
                <a:spcPts val="0"/>
              </a:spcBef>
              <a:spcAft>
                <a:spcPts val="500"/>
              </a:spcAft>
            </a:pPr>
            <a:r>
              <a:rPr sz="1570" b="1">
                <a:solidFill>
                  <a:srgbClr val="091F4E"/>
                </a:solidFill>
                <a:latin typeface="Arial"/>
              </a:rPr>
              <a:t>When can it be applied?</a:t>
            </a:r>
          </a:p>
          <a:p>
            <a:pPr algn="l">
              <a:spcBef>
                <a:spcPts val="0"/>
              </a:spcBef>
              <a:spcAft>
                <a:spcPts val="220"/>
              </a:spcAft>
            </a:pPr>
            <a:r>
              <a:rPr sz="1100" b="0">
                <a:solidFill>
                  <a:srgbClr val="233045"/>
                </a:solidFill>
                <a:latin typeface="Arial"/>
              </a:rPr>
              <a:t>Defined preconditions, resulting meaning and the state or external effects it may cause.</a:t>
            </a:r>
          </a:p>
        </p:txBody>
      </p:sp>
      <p:sp>
        <p:nvSpPr>
          <p:cNvPr id="10" name="TextBox 9"/>
          <p:cNvSpPr txBox="1"/>
          <p:nvPr/>
        </p:nvSpPr>
        <p:spPr>
          <a:xfrm>
            <a:off x="530352" y="5029200"/>
            <a:ext cx="10972800" cy="438912"/>
          </a:xfrm>
          <a:prstGeom prst="rect">
            <a:avLst/>
          </a:prstGeom>
          <a:noFill/>
        </p:spPr>
        <p:txBody>
          <a:bodyPr wrap="square" anchor="t" lIns="27432" rIns="27432" tIns="27432" bIns="27432">
            <a:spAutoFit/>
          </a:bodyPr>
          <a:lstStyle/>
          <a:p>
            <a:pPr algn="l">
              <a:spcBef>
                <a:spcPts val="0"/>
              </a:spcBef>
              <a:spcAft>
                <a:spcPts val="0"/>
              </a:spcAft>
              <a:defRPr sz="1350" b="1" i="0">
                <a:solidFill>
                  <a:srgbClr val="122D5B"/>
                </a:solidFill>
                <a:latin typeface="Arial"/>
              </a:defRPr>
            </a:pPr>
            <a:r>
              <a:t>The goal is not more elaborate types. It is less ambiguity between our software representation and the business we intend.</a:t>
            </a:r>
          </a:p>
        </p:txBody>
      </p:sp>
      <p:sp>
        <p:nvSpPr>
          <p:cNvPr id="11" name="TextBox 10"/>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BUSINESS DEFINITIONS</a:t>
            </a:r>
          </a:p>
        </p:txBody>
      </p:sp>
      <p:sp>
        <p:nvSpPr>
          <p:cNvPr id="12" name="TextBox 11"/>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03 / BUSINESS DEFINITIONS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21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Illustration 1: incomplete market-event definitions create special cases</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139696"/>
            <a:ext cx="5486400" cy="1664208"/>
          </a:xfrm>
          <a:prstGeom prst="rect">
            <a:avLst/>
          </a:prstGeom>
          <a:solidFill>
            <a:srgbClr val="FDF7F6"/>
          </a:solidFill>
          <a:ln w="10160">
            <a:solidFill>
              <a:srgbClr val="F1CFCC"/>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D9261C"/>
                </a:solidFill>
                <a:latin typeface="Arial"/>
              </a:defRPr>
            </a:pPr>
            <a:r>
              <a:rPr sz="750" b="1">
                <a:solidFill>
                  <a:srgbClr val="1857CA"/>
                </a:solidFill>
                <a:latin typeface="Arial"/>
              </a:rPr>
              <a:t>AMBIGUOUS REPRESENTATION</a:t>
            </a:r>
          </a:p>
          <a:p>
            <a:pPr algn="l">
              <a:spcBef>
                <a:spcPts val="0"/>
              </a:spcBef>
              <a:spcAft>
                <a:spcPts val="500"/>
              </a:spcAft>
            </a:pPr>
            <a:r>
              <a:rPr sz="1550" b="1">
                <a:solidFill>
                  <a:srgbClr val="091F4E"/>
                </a:solidFill>
                <a:latin typeface="Arial"/>
              </a:rPr>
              <a:t>One generic MarketUpdate</a:t>
            </a:r>
          </a:p>
          <a:p>
            <a:pPr algn="l">
              <a:spcBef>
                <a:spcPts val="0"/>
              </a:spcBef>
              <a:spcAft>
                <a:spcPts val="220"/>
              </a:spcAft>
            </a:pPr>
            <a:r>
              <a:rPr sz="1110" b="0">
                <a:solidFill>
                  <a:srgbClr val="233045"/>
                </a:solidFill>
                <a:latin typeface="Arial"/>
              </a:rPr>
              <a:t>Downstream consumers must infer whether an instance is a snapshot, delta or valid reconstructed state. Special flags and checks proliferate.</a:t>
            </a:r>
          </a:p>
        </p:txBody>
      </p:sp>
      <p:sp>
        <p:nvSpPr>
          <p:cNvPr id="7" name="Rectangle 6"/>
          <p:cNvSpPr/>
          <p:nvPr/>
        </p:nvSpPr>
        <p:spPr>
          <a:xfrm>
            <a:off x="6236208" y="2139696"/>
            <a:ext cx="5486400" cy="166420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BETTER-ALIGNED DEFINITIONS</a:t>
            </a:r>
          </a:p>
          <a:p>
            <a:pPr algn="l">
              <a:spcBef>
                <a:spcPts val="0"/>
              </a:spcBef>
              <a:spcAft>
                <a:spcPts val="500"/>
              </a:spcAft>
            </a:pPr>
            <a:r>
              <a:rPr sz="1550" b="1">
                <a:solidFill>
                  <a:srgbClr val="091F4E"/>
                </a:solidFill>
                <a:latin typeface="Arial"/>
              </a:rPr>
              <a:t>Explicit event and book-state roles</a:t>
            </a:r>
          </a:p>
          <a:p>
            <a:pPr algn="l">
              <a:spcBef>
                <a:spcPts val="0"/>
              </a:spcBef>
              <a:spcAft>
                <a:spcPts val="220"/>
              </a:spcAft>
            </a:pPr>
            <a:r>
              <a:rPr sz="1110" b="0">
                <a:solidFill>
                  <a:srgbClr val="233045"/>
                </a:solidFill>
                <a:latin typeface="Arial"/>
              </a:rPr>
              <a:t>Snapshot and delta events enter a state builder according to their definitions. Consumers requiring a valid book state receive one.</a:t>
            </a:r>
          </a:p>
        </p:txBody>
      </p:sp>
      <p:sp>
        <p:nvSpPr>
          <p:cNvPr id="8" name="TextBox 7"/>
          <p:cNvSpPr txBox="1"/>
          <p:nvPr/>
        </p:nvSpPr>
        <p:spPr>
          <a:xfrm>
            <a:off x="484632" y="4050791"/>
            <a:ext cx="4572000" cy="219456"/>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ILLUSTRATIVE · BUSINESS DEFINITIONS IN THE EVENT FLOW</a:t>
            </a:r>
          </a:p>
        </p:txBody>
      </p:sp>
      <p:sp>
        <p:nvSpPr>
          <p:cNvPr id="9" name="Rectangle 8"/>
          <p:cNvSpPr/>
          <p:nvPr/>
        </p:nvSpPr>
        <p:spPr>
          <a:xfrm>
            <a:off x="731520" y="4498848"/>
            <a:ext cx="1920240" cy="82296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250" b="1">
                <a:solidFill>
                  <a:srgbClr val="122D5B"/>
                </a:solidFill>
                <a:latin typeface="Arial"/>
              </a:defRPr>
            </a:pPr>
            <a:r>
              <a:rPr sz="1300" b="1">
                <a:solidFill>
                  <a:srgbClr val="091F4E"/>
                </a:solidFill>
                <a:latin typeface="Arial"/>
              </a:rPr>
              <a:t>BookSnapshot</a:t>
            </a:r>
          </a:p>
          <a:p>
            <a:pPr algn="l">
              <a:spcBef>
                <a:spcPts val="0"/>
              </a:spcBef>
              <a:spcAft>
                <a:spcPts val="200"/>
              </a:spcAft>
            </a:pPr>
            <a:r>
              <a:rPr sz="960" b="0">
                <a:solidFill>
                  <a:srgbClr val="233045"/>
                </a:solidFill>
                <a:latin typeface="Arial"/>
              </a:rPr>
              <a:t>Distinct event</a:t>
            </a:r>
          </a:p>
        </p:txBody>
      </p:sp>
      <p:sp>
        <p:nvSpPr>
          <p:cNvPr id="10" name="Rectangle 9"/>
          <p:cNvSpPr/>
          <p:nvPr/>
        </p:nvSpPr>
        <p:spPr>
          <a:xfrm>
            <a:off x="731520" y="5486400"/>
            <a:ext cx="1920240" cy="82296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250" b="1">
                <a:solidFill>
                  <a:srgbClr val="122D5B"/>
                </a:solidFill>
                <a:latin typeface="Arial"/>
              </a:defRPr>
            </a:pPr>
            <a:r>
              <a:rPr sz="1300" b="1">
                <a:solidFill>
                  <a:srgbClr val="091F4E"/>
                </a:solidFill>
                <a:latin typeface="Arial"/>
              </a:rPr>
              <a:t>BookDelta</a:t>
            </a:r>
          </a:p>
          <a:p>
            <a:pPr algn="l">
              <a:spcBef>
                <a:spcPts val="0"/>
              </a:spcBef>
              <a:spcAft>
                <a:spcPts val="200"/>
              </a:spcAft>
            </a:pPr>
            <a:r>
              <a:rPr sz="960" b="0">
                <a:solidFill>
                  <a:srgbClr val="233045"/>
                </a:solidFill>
                <a:latin typeface="Arial"/>
              </a:rPr>
              <a:t>Distinct event</a:t>
            </a:r>
          </a:p>
        </p:txBody>
      </p:sp>
      <p:cxnSp>
        <p:nvCxnSpPr>
          <p:cNvPr id="11" name="Connector 10"/>
          <p:cNvCxnSpPr/>
          <p:nvPr/>
        </p:nvCxnSpPr>
        <p:spPr>
          <a:xfrm>
            <a:off x="2651760" y="4910328"/>
            <a:ext cx="1188720" cy="228600"/>
          </a:xfrm>
          <a:prstGeom prst="line">
            <a:avLst/>
          </a:prstGeom>
          <a:ln w="1778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651760" y="5294376"/>
            <a:ext cx="1188720" cy="603504"/>
          </a:xfrm>
          <a:prstGeom prst="line">
            <a:avLst/>
          </a:prstGeom>
          <a:ln w="1778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840480" y="4773168"/>
            <a:ext cx="2331720" cy="1097280"/>
          </a:xfrm>
          <a:prstGeom prst="rect">
            <a:avLst/>
          </a:prstGeom>
          <a:solidFill>
            <a:srgbClr val="E6EF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50" b="1">
                <a:solidFill>
                  <a:srgbClr val="091F4E"/>
                </a:solidFill>
                <a:latin typeface="Arial"/>
              </a:rPr>
              <a:t>State builder</a:t>
            </a:r>
          </a:p>
          <a:p>
            <a:pPr algn="l">
              <a:spcBef>
                <a:spcPts val="0"/>
              </a:spcBef>
              <a:spcAft>
                <a:spcPts val="200"/>
              </a:spcAft>
            </a:pPr>
            <a:r>
              <a:rPr sz="960" b="0">
                <a:solidFill>
                  <a:srgbClr val="233045"/>
                </a:solidFill>
                <a:latin typeface="Arial"/>
              </a:rPr>
              <a:t>Owns order, validity and reset</a:t>
            </a:r>
          </a:p>
        </p:txBody>
      </p:sp>
      <p:cxnSp>
        <p:nvCxnSpPr>
          <p:cNvPr id="14" name="Connector 13"/>
          <p:cNvCxnSpPr/>
          <p:nvPr/>
        </p:nvCxnSpPr>
        <p:spPr>
          <a:xfrm>
            <a:off x="6172200" y="5321808"/>
            <a:ext cx="1325879"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98079" y="4773168"/>
            <a:ext cx="2331720" cy="109728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50" b="1">
                <a:solidFill>
                  <a:srgbClr val="091F4E"/>
                </a:solidFill>
                <a:latin typeface="Arial"/>
              </a:rPr>
              <a:t>ValidBookState</a:t>
            </a:r>
          </a:p>
          <a:p>
            <a:pPr algn="l">
              <a:spcBef>
                <a:spcPts val="0"/>
              </a:spcBef>
              <a:spcAft>
                <a:spcPts val="200"/>
              </a:spcAft>
            </a:pPr>
            <a:r>
              <a:rPr sz="960" b="0">
                <a:solidFill>
                  <a:srgbClr val="233045"/>
                </a:solidFill>
                <a:latin typeface="Arial"/>
              </a:rPr>
              <a:t>Defined downstream input</a:t>
            </a:r>
          </a:p>
        </p:txBody>
      </p:sp>
      <p:sp>
        <p:nvSpPr>
          <p:cNvPr id="16" name="TextBox 15"/>
          <p:cNvSpPr txBox="1"/>
          <p:nvPr/>
        </p:nvSpPr>
        <p:spPr>
          <a:xfrm>
            <a:off x="10012680" y="4681728"/>
            <a:ext cx="1691640" cy="1325880"/>
          </a:xfrm>
          <a:prstGeom prst="rect">
            <a:avLst/>
          </a:prstGeom>
          <a:noFill/>
        </p:spPr>
        <p:txBody>
          <a:bodyPr wrap="square" anchor="t" lIns="27432" rIns="27432" tIns="27432" bIns="27432">
            <a:spAutoFit/>
          </a:bodyPr>
          <a:lstStyle/>
          <a:p>
            <a:pPr algn="l">
              <a:spcBef>
                <a:spcPts val="0"/>
              </a:spcBef>
              <a:spcAft>
                <a:spcPts val="0"/>
              </a:spcAft>
              <a:defRPr sz="1220" b="1" i="0">
                <a:solidFill>
                  <a:srgbClr val="122D5B"/>
                </a:solidFill>
                <a:latin typeface="Arial"/>
              </a:defRPr>
            </a:pPr>
            <a:r>
              <a:t>A clear definition can remove several downstream special cases rather than merely detect them.</a:t>
            </a:r>
          </a:p>
        </p:txBody>
      </p:sp>
      <p:sp>
        <p:nvSpPr>
          <p:cNvPr id="17" name="TextBox 16"/>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BUSINESS DEFINITIONS</a:t>
            </a:r>
          </a:p>
        </p:txBody>
      </p:sp>
      <p:sp>
        <p:nvSpPr>
          <p:cNvPr id="18" name="TextBox 17"/>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03 / BUSINESS DEFINITIONS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22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Illustration 2: an ambiguous target definition can trigger the wrong workflow</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139696"/>
            <a:ext cx="5486400" cy="1554480"/>
          </a:xfrm>
          <a:prstGeom prst="rect">
            <a:avLst/>
          </a:prstGeom>
          <a:solidFill>
            <a:srgbClr val="FDF7F6"/>
          </a:solidFill>
          <a:ln w="10160">
            <a:solidFill>
              <a:srgbClr val="F1CFCC"/>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D9261C"/>
                </a:solidFill>
                <a:latin typeface="Arial"/>
              </a:defRPr>
            </a:pPr>
            <a:r>
              <a:rPr sz="750" b="1">
                <a:solidFill>
                  <a:srgbClr val="1857CA"/>
                </a:solidFill>
                <a:latin typeface="Arial"/>
              </a:rPr>
              <a:t>AMBIGUOUS REPRESENTATION</a:t>
            </a:r>
          </a:p>
          <a:p>
            <a:pPr algn="l">
              <a:spcBef>
                <a:spcPts val="0"/>
              </a:spcBef>
              <a:spcAft>
                <a:spcPts val="500"/>
              </a:spcAft>
            </a:pPr>
            <a:r>
              <a:rPr sz="1550" b="1">
                <a:solidFill>
                  <a:srgbClr val="091F4E"/>
                </a:solidFill>
                <a:latin typeface="Arial"/>
              </a:rPr>
              <a:t>One numeric value: 0</a:t>
            </a:r>
          </a:p>
          <a:p>
            <a:pPr algn="l">
              <a:spcBef>
                <a:spcPts val="0"/>
              </a:spcBef>
              <a:spcAft>
                <a:spcPts val="220"/>
              </a:spcAft>
            </a:pPr>
            <a:r>
              <a:rPr sz="1110" b="0">
                <a:solidFill>
                  <a:srgbClr val="233045"/>
                </a:solidFill>
                <a:latin typeface="Arial"/>
              </a:rPr>
              <a:t>Does the instance mean “move to a flat position”, or does it mean “this event generated no new target”? Different consumers may assume different things.</a:t>
            </a:r>
          </a:p>
        </p:txBody>
      </p:sp>
      <p:sp>
        <p:nvSpPr>
          <p:cNvPr id="7" name="Rectangle 6"/>
          <p:cNvSpPr/>
          <p:nvPr/>
        </p:nvSpPr>
        <p:spPr>
          <a:xfrm>
            <a:off x="6236208" y="2139696"/>
            <a:ext cx="5486400" cy="155448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PRECISE BUSINESS DEFINITIONS</a:t>
            </a:r>
          </a:p>
          <a:p>
            <a:pPr algn="l">
              <a:spcBef>
                <a:spcPts val="0"/>
              </a:spcBef>
              <a:spcAft>
                <a:spcPts val="500"/>
              </a:spcAft>
            </a:pPr>
            <a:r>
              <a:rPr sz="1550" b="1">
                <a:solidFill>
                  <a:srgbClr val="091F4E"/>
                </a:solidFill>
                <a:latin typeface="Arial"/>
              </a:rPr>
              <a:t>Two different business cases</a:t>
            </a:r>
          </a:p>
          <a:p>
            <a:pPr algn="l">
              <a:spcBef>
                <a:spcPts val="0"/>
              </a:spcBef>
              <a:spcAft>
                <a:spcPts val="220"/>
              </a:spcAft>
            </a:pPr>
            <a:r>
              <a:rPr sz="1110" b="0">
                <a:solidFill>
                  <a:srgbClr val="233045"/>
                </a:solidFill>
                <a:latin typeface="Arial"/>
              </a:rPr>
              <a:t>TargetPosition(0): an explicit desired position. NoNewTarget: no new target event for this workflow.</a:t>
            </a:r>
          </a:p>
        </p:txBody>
      </p:sp>
      <p:sp>
        <p:nvSpPr>
          <p:cNvPr id="8" name="TextBox 7"/>
          <p:cNvSpPr txBox="1"/>
          <p:nvPr/>
        </p:nvSpPr>
        <p:spPr>
          <a:xfrm>
            <a:off x="493776" y="3931920"/>
            <a:ext cx="3474720" cy="219456"/>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WORKFLOW APPLICABILITY</a:t>
            </a:r>
          </a:p>
        </p:txBody>
      </p:sp>
      <p:cxnSp>
        <p:nvCxnSpPr>
          <p:cNvPr id="9" name="Connector 8"/>
          <p:cNvCxnSpPr/>
          <p:nvPr/>
        </p:nvCxnSpPr>
        <p:spPr>
          <a:xfrm>
            <a:off x="3200400" y="4846320"/>
            <a:ext cx="137160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4846320"/>
            <a:ext cx="137160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14400" y="4407408"/>
            <a:ext cx="2286000" cy="86868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Defined input</a:t>
            </a:r>
          </a:p>
          <a:p>
            <a:pPr algn="l">
              <a:spcBef>
                <a:spcPts val="0"/>
              </a:spcBef>
              <a:spcAft>
                <a:spcPts val="200"/>
              </a:spcAft>
            </a:pPr>
            <a:r>
              <a:rPr sz="960" b="0">
                <a:solidFill>
                  <a:srgbClr val="233045"/>
                </a:solidFill>
                <a:latin typeface="Arial"/>
              </a:rPr>
              <a:t>Business distinction retained</a:t>
            </a:r>
          </a:p>
        </p:txBody>
      </p:sp>
      <p:sp>
        <p:nvSpPr>
          <p:cNvPr id="12" name="Rectangle 11"/>
          <p:cNvSpPr/>
          <p:nvPr/>
        </p:nvSpPr>
        <p:spPr>
          <a:xfrm>
            <a:off x="4572000" y="4407408"/>
            <a:ext cx="2286000" cy="86868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Applicable operation?</a:t>
            </a:r>
          </a:p>
          <a:p>
            <a:pPr algn="l">
              <a:spcBef>
                <a:spcPts val="0"/>
              </a:spcBef>
              <a:spcAft>
                <a:spcPts val="200"/>
              </a:spcAft>
            </a:pPr>
            <a:r>
              <a:rPr sz="960" b="0">
                <a:solidFill>
                  <a:srgbClr val="233045"/>
                </a:solidFill>
                <a:latin typeface="Arial"/>
              </a:rPr>
              <a:t>Match its conditions</a:t>
            </a:r>
          </a:p>
        </p:txBody>
      </p:sp>
      <p:sp>
        <p:nvSpPr>
          <p:cNvPr id="13" name="Rectangle 12"/>
          <p:cNvSpPr/>
          <p:nvPr/>
        </p:nvSpPr>
        <p:spPr>
          <a:xfrm>
            <a:off x="8229600" y="4407408"/>
            <a:ext cx="2286000" cy="86868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Run or do not trigger</a:t>
            </a:r>
          </a:p>
          <a:p>
            <a:pPr algn="l">
              <a:spcBef>
                <a:spcPts val="0"/>
              </a:spcBef>
              <a:spcAft>
                <a:spcPts val="200"/>
              </a:spcAft>
            </a:pPr>
            <a:r>
              <a:rPr sz="960" b="0">
                <a:solidFill>
                  <a:srgbClr val="233045"/>
                </a:solidFill>
                <a:latin typeface="Arial"/>
              </a:rPr>
              <a:t>No false action</a:t>
            </a:r>
          </a:p>
        </p:txBody>
      </p:sp>
      <p:sp>
        <p:nvSpPr>
          <p:cNvPr id="14" name="TextBox 13"/>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BUSINESS DEFINITIONS</a:t>
            </a:r>
          </a:p>
        </p:txBody>
      </p:sp>
      <p:sp>
        <p:nvSpPr>
          <p:cNvPr id="15" name="TextBox 14"/>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03 / BUSINESS DEFINITIONS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23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Operations also need definitions that match their business behaviour</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31136"/>
            <a:ext cx="3310128" cy="201168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PREDICTION</a:t>
            </a:r>
          </a:p>
          <a:p>
            <a:pPr algn="l">
              <a:spcBef>
                <a:spcPts val="0"/>
              </a:spcBef>
              <a:spcAft>
                <a:spcPts val="500"/>
              </a:spcAft>
            </a:pPr>
            <a:r>
              <a:rPr sz="1550" b="1">
                <a:solidFill>
                  <a:srgbClr val="091F4E"/>
                </a:solidFill>
                <a:latin typeface="Arial"/>
              </a:rPr>
              <a:t>computeAlpha()</a:t>
            </a:r>
          </a:p>
          <a:p>
            <a:pPr algn="l">
              <a:spcBef>
                <a:spcPts val="0"/>
              </a:spcBef>
              <a:spcAft>
                <a:spcPts val="220"/>
              </a:spcAft>
            </a:pPr>
            <a:r>
              <a:rPr sz="1110" b="0">
                <a:solidFill>
                  <a:srgbClr val="233045"/>
                </a:solidFill>
                <a:latin typeface="Arial"/>
              </a:rPr>
              <a:t>Computes or updates a prediction according to a defined horizon; does not itself authorise trading.</a:t>
            </a:r>
          </a:p>
        </p:txBody>
      </p:sp>
      <p:sp>
        <p:nvSpPr>
          <p:cNvPr id="7" name="Rectangle 6"/>
          <p:cNvSpPr/>
          <p:nvPr/>
        </p:nvSpPr>
        <p:spPr>
          <a:xfrm>
            <a:off x="4224528" y="2231136"/>
            <a:ext cx="3310128" cy="201168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STATE CHANGE</a:t>
            </a:r>
          </a:p>
          <a:p>
            <a:pPr algn="l">
              <a:spcBef>
                <a:spcPts val="0"/>
              </a:spcBef>
              <a:spcAft>
                <a:spcPts val="500"/>
              </a:spcAft>
            </a:pPr>
            <a:r>
              <a:rPr sz="1550" b="1">
                <a:solidFill>
                  <a:srgbClr val="091F4E"/>
                </a:solidFill>
                <a:latin typeface="Arial"/>
              </a:rPr>
              <a:t>reserveRiskCapacity()</a:t>
            </a:r>
          </a:p>
          <a:p>
            <a:pPr algn="l">
              <a:spcBef>
                <a:spcPts val="0"/>
              </a:spcBef>
              <a:spcAft>
                <a:spcPts val="220"/>
              </a:spcAft>
            </a:pPr>
            <a:r>
              <a:rPr sz="1110" b="0">
                <a:solidFill>
                  <a:srgbClr val="233045"/>
                </a:solidFill>
                <a:latin typeface="Arial"/>
              </a:rPr>
              <a:t>May intentionally change owned risk state; its effect and scope must be explicit.</a:t>
            </a:r>
          </a:p>
        </p:txBody>
      </p:sp>
      <p:sp>
        <p:nvSpPr>
          <p:cNvPr id="8" name="Rectangle 7"/>
          <p:cNvSpPr/>
          <p:nvPr/>
        </p:nvSpPr>
        <p:spPr>
          <a:xfrm>
            <a:off x="7991856" y="2231136"/>
            <a:ext cx="3310128" cy="201168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EXTERNAL EFFECT</a:t>
            </a:r>
          </a:p>
          <a:p>
            <a:pPr algn="l">
              <a:spcBef>
                <a:spcPts val="0"/>
              </a:spcBef>
              <a:spcAft>
                <a:spcPts val="500"/>
              </a:spcAft>
            </a:pPr>
            <a:r>
              <a:rPr sz="1550" b="1">
                <a:solidFill>
                  <a:srgbClr val="091F4E"/>
                </a:solidFill>
                <a:latin typeface="Arial"/>
              </a:rPr>
              <a:t>submitOrder()</a:t>
            </a:r>
          </a:p>
          <a:p>
            <a:pPr algn="l">
              <a:spcBef>
                <a:spcPts val="0"/>
              </a:spcBef>
              <a:spcAft>
                <a:spcPts val="220"/>
              </a:spcAft>
            </a:pPr>
            <a:r>
              <a:rPr sz="1110" b="0">
                <a:solidFill>
                  <a:srgbClr val="233045"/>
                </a:solidFill>
                <a:latin typeface="Arial"/>
              </a:rPr>
              <a:t>Sends an external trading instruction; a deliberate and auditable effect.</a:t>
            </a:r>
          </a:p>
        </p:txBody>
      </p:sp>
      <p:sp>
        <p:nvSpPr>
          <p:cNvPr id="9" name="TextBox 8"/>
          <p:cNvSpPr txBox="1"/>
          <p:nvPr/>
        </p:nvSpPr>
        <p:spPr>
          <a:xfrm>
            <a:off x="475488" y="4526280"/>
            <a:ext cx="3200400" cy="201168"/>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FOR EACH OPERATION, DEFINE</a:t>
            </a:r>
          </a:p>
        </p:txBody>
      </p:sp>
      <p:graphicFrame>
        <p:nvGraphicFramePr>
          <p:cNvPr id="10" name="Table 9"/>
          <p:cNvGraphicFramePr>
            <a:graphicFrameLocks noGrp="1"/>
          </p:cNvGraphicFramePr>
          <p:nvPr/>
        </p:nvGraphicFramePr>
        <p:xfrm>
          <a:off x="457200" y="4818888"/>
          <a:ext cx="7863840" cy="1298448"/>
        </p:xfrm>
        <a:graphic>
          <a:graphicData uri="http://schemas.openxmlformats.org/drawingml/2006/table">
            <a:tbl>
              <a:tblPr firstRow="1" bandRow="1">
                <a:tableStyleId>{5C22544A-7EE6-4342-B048-85BDC9FD1C3A}</a:tableStyleId>
              </a:tblPr>
              <a:tblGrid>
                <a:gridCol w="3931920"/>
                <a:gridCol w="3931920"/>
              </a:tblGrid>
              <a:tr h="432816">
                <a:tc>
                  <a:txBody>
                    <a:bodyPr/>
                    <a:lstStyle/>
                    <a:p>
                      <a:pPr>
                        <a:defRPr sz="1230" b="1">
                          <a:solidFill>
                            <a:srgbClr val="122D5B"/>
                          </a:solidFill>
                          <a:latin typeface="Arial"/>
                        </a:defRPr>
                      </a:pPr>
                      <a:r>
                        <a:t>When applicable?</a:t>
                      </a:r>
                    </a:p>
                  </a:txBody>
                  <a:tcPr>
                    <a:solidFill>
                      <a:srgbClr val="F7F9FB"/>
                    </a:solidFill>
                  </a:tcPr>
                </a:tc>
                <a:tc>
                  <a:txBody>
                    <a:bodyPr/>
                    <a:lstStyle/>
                    <a:p>
                      <a:pPr>
                        <a:defRPr sz="1230" b="0">
                          <a:solidFill>
                            <a:srgbClr val="252A30"/>
                          </a:solidFill>
                          <a:latin typeface="Arial"/>
                        </a:defRPr>
                      </a:pPr>
                      <a:r>
                        <a:t>Inputs, state, preconditions</a:t>
                      </a:r>
                    </a:p>
                  </a:txBody>
                  <a:tcPr>
                    <a:solidFill>
                      <a:srgbClr val="F7F9FB"/>
                    </a:solidFill>
                  </a:tcPr>
                </a:tc>
              </a:tr>
              <a:tr h="432816">
                <a:tc>
                  <a:txBody>
                    <a:bodyPr/>
                    <a:lstStyle/>
                    <a:p>
                      <a:pPr>
                        <a:defRPr sz="1230" b="1">
                          <a:solidFill>
                            <a:srgbClr val="122D5B"/>
                          </a:solidFill>
                          <a:latin typeface="Arial"/>
                        </a:defRPr>
                      </a:pPr>
                      <a:r>
                        <a:t>What result?</a:t>
                      </a:r>
                    </a:p>
                  </a:txBody>
                  <a:tcPr>
                    <a:solidFill>
                      <a:srgbClr val="FFFFFF"/>
                    </a:solidFill>
                  </a:tcPr>
                </a:tc>
                <a:tc>
                  <a:txBody>
                    <a:bodyPr/>
                    <a:lstStyle/>
                    <a:p>
                      <a:pPr>
                        <a:defRPr sz="1230" b="0">
                          <a:solidFill>
                            <a:srgbClr val="252A30"/>
                          </a:solidFill>
                          <a:latin typeface="Arial"/>
                        </a:defRPr>
                      </a:pPr>
                      <a:r>
                        <a:t>Meaning and invariants</a:t>
                      </a:r>
                    </a:p>
                  </a:txBody>
                  <a:tcPr>
                    <a:solidFill>
                      <a:srgbClr val="FFFFFF"/>
                    </a:solidFill>
                  </a:tcPr>
                </a:tc>
              </a:tr>
              <a:tr h="432816">
                <a:tc>
                  <a:txBody>
                    <a:bodyPr/>
                    <a:lstStyle/>
                    <a:p>
                      <a:pPr>
                        <a:defRPr sz="1230" b="1">
                          <a:solidFill>
                            <a:srgbClr val="122D5B"/>
                          </a:solidFill>
                          <a:latin typeface="Arial"/>
                        </a:defRPr>
                      </a:pPr>
                      <a:r>
                        <a:t>What may change?</a:t>
                      </a:r>
                    </a:p>
                  </a:txBody>
                  <a:tcPr>
                    <a:solidFill>
                      <a:srgbClr val="F7F9FB"/>
                    </a:solidFill>
                  </a:tcPr>
                </a:tc>
                <a:tc>
                  <a:txBody>
                    <a:bodyPr/>
                    <a:lstStyle/>
                    <a:p>
                      <a:pPr>
                        <a:defRPr sz="1230" b="0">
                          <a:solidFill>
                            <a:srgbClr val="252A30"/>
                          </a:solidFill>
                          <a:latin typeface="Arial"/>
                        </a:defRPr>
                      </a:pPr>
                      <a:r>
                        <a:t>Owned state, external effects</a:t>
                      </a:r>
                    </a:p>
                  </a:txBody>
                  <a:tcPr>
                    <a:solidFill>
                      <a:srgbClr val="F7F9FB"/>
                    </a:solidFill>
                  </a:tcPr>
                </a:tc>
              </a:tr>
            </a:tbl>
          </a:graphicData>
        </a:graphic>
      </p:graphicFrame>
      <p:sp>
        <p:nvSpPr>
          <p:cNvPr id="11" name="Rectangle 10"/>
          <p:cNvSpPr/>
          <p:nvPr/>
        </p:nvSpPr>
        <p:spPr>
          <a:xfrm>
            <a:off x="8549640" y="4818888"/>
            <a:ext cx="3154680" cy="1298448"/>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260" b="1">
                <a:solidFill>
                  <a:srgbClr val="122D5B"/>
                </a:solidFill>
                <a:latin typeface="Arial"/>
              </a:defRPr>
            </a:pPr>
            <a:r>
              <a:t>Stateful operations and side effects are not forbidden; unintended or poorly defined effects are the problem.</a:t>
            </a:r>
          </a:p>
        </p:txBody>
      </p:sp>
      <p:sp>
        <p:nvSpPr>
          <p:cNvPr id="12" name="TextBox 11"/>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BUSINESS DEFINITIONS</a:t>
            </a:r>
          </a:p>
        </p:txBody>
      </p:sp>
      <p:sp>
        <p:nvSpPr>
          <p:cNvPr id="13" name="TextBox 12"/>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03 / BUSINESS DEFINITIONS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24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Precise definitions help the correct operations match the correct events</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29968"/>
            <a:ext cx="2194560" cy="219456"/>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EVENT ROUTING</a:t>
            </a:r>
          </a:p>
        </p:txBody>
      </p:sp>
      <p:cxnSp>
        <p:nvCxnSpPr>
          <p:cNvPr id="7" name="Connector 6"/>
          <p:cNvCxnSpPr/>
          <p:nvPr/>
        </p:nvCxnSpPr>
        <p:spPr>
          <a:xfrm>
            <a:off x="2651760" y="3081528"/>
            <a:ext cx="59436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94960" y="3081528"/>
            <a:ext cx="59436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138160" y="3081528"/>
            <a:ext cx="59436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02920" y="2596896"/>
            <a:ext cx="2148840" cy="97840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Validated event</a:t>
            </a:r>
          </a:p>
          <a:p>
            <a:pPr algn="l">
              <a:spcBef>
                <a:spcPts val="0"/>
              </a:spcBef>
              <a:spcAft>
                <a:spcPts val="200"/>
              </a:spcAft>
            </a:pPr>
            <a:r>
              <a:rPr sz="960" b="0">
                <a:solidFill>
                  <a:srgbClr val="233045"/>
                </a:solidFill>
                <a:latin typeface="Arial"/>
              </a:rPr>
              <a:t>Known meaning</a:t>
            </a:r>
          </a:p>
        </p:txBody>
      </p:sp>
      <p:sp>
        <p:nvSpPr>
          <p:cNvPr id="11" name="Rectangle 10"/>
          <p:cNvSpPr/>
          <p:nvPr/>
        </p:nvSpPr>
        <p:spPr>
          <a:xfrm>
            <a:off x="3246120" y="2596896"/>
            <a:ext cx="2148840" cy="97840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Matching condition?</a:t>
            </a:r>
          </a:p>
          <a:p>
            <a:pPr algn="l">
              <a:spcBef>
                <a:spcPts val="0"/>
              </a:spcBef>
              <a:spcAft>
                <a:spcPts val="200"/>
              </a:spcAft>
            </a:pPr>
            <a:r>
              <a:rPr sz="960" b="0">
                <a:solidFill>
                  <a:srgbClr val="233045"/>
                </a:solidFill>
                <a:latin typeface="Arial"/>
              </a:rPr>
              <a:t>For this workflow</a:t>
            </a:r>
          </a:p>
        </p:txBody>
      </p:sp>
      <p:sp>
        <p:nvSpPr>
          <p:cNvPr id="12" name="Rectangle 11"/>
          <p:cNvSpPr/>
          <p:nvPr/>
        </p:nvSpPr>
        <p:spPr>
          <a:xfrm>
            <a:off x="5989320" y="2596896"/>
            <a:ext cx="2148840" cy="97840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Applicable operation</a:t>
            </a:r>
          </a:p>
          <a:p>
            <a:pPr algn="l">
              <a:spcBef>
                <a:spcPts val="0"/>
              </a:spcBef>
              <a:spcAft>
                <a:spcPts val="200"/>
              </a:spcAft>
            </a:pPr>
            <a:r>
              <a:rPr sz="960" b="0">
                <a:solidFill>
                  <a:srgbClr val="233045"/>
                </a:solidFill>
                <a:latin typeface="Arial"/>
              </a:rPr>
              <a:t>Run if conditions match</a:t>
            </a:r>
          </a:p>
        </p:txBody>
      </p:sp>
      <p:sp>
        <p:nvSpPr>
          <p:cNvPr id="13" name="Rectangle 12"/>
          <p:cNvSpPr/>
          <p:nvPr/>
        </p:nvSpPr>
        <p:spPr>
          <a:xfrm>
            <a:off x="8732520" y="2596896"/>
            <a:ext cx="2148840" cy="978408"/>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Next event</a:t>
            </a:r>
          </a:p>
          <a:p>
            <a:pPr algn="l">
              <a:spcBef>
                <a:spcPts val="0"/>
              </a:spcBef>
              <a:spcAft>
                <a:spcPts val="200"/>
              </a:spcAft>
            </a:pPr>
            <a:r>
              <a:rPr sz="960" b="0">
                <a:solidFill>
                  <a:srgbClr val="233045"/>
                </a:solidFill>
                <a:latin typeface="Arial"/>
              </a:rPr>
              <a:t>With defined meaning</a:t>
            </a:r>
          </a:p>
        </p:txBody>
      </p:sp>
      <p:sp>
        <p:nvSpPr>
          <p:cNvPr id="14" name="Rectangle 13"/>
          <p:cNvSpPr/>
          <p:nvPr/>
        </p:nvSpPr>
        <p:spPr>
          <a:xfrm>
            <a:off x="502920" y="4069080"/>
            <a:ext cx="5468112" cy="143560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CONTINUE</a:t>
            </a:r>
          </a:p>
          <a:p>
            <a:pPr algn="l">
              <a:spcBef>
                <a:spcPts val="0"/>
              </a:spcBef>
              <a:spcAft>
                <a:spcPts val="500"/>
              </a:spcAft>
            </a:pPr>
            <a:r>
              <a:rPr sz="1500" b="1">
                <a:solidFill>
                  <a:srgbClr val="091F4E"/>
                </a:solidFill>
                <a:latin typeface="Arial"/>
              </a:rPr>
              <a:t>A matching event</a:t>
            </a:r>
          </a:p>
          <a:p>
            <a:pPr algn="l">
              <a:spcBef>
                <a:spcPts val="0"/>
              </a:spcBef>
              <a:spcAft>
                <a:spcPts val="220"/>
              </a:spcAft>
            </a:pPr>
            <a:r>
              <a:rPr sz="1050" b="0">
                <a:solidFill>
                  <a:srgbClr val="233045"/>
                </a:solidFill>
                <a:latin typeface="Arial"/>
              </a:rPr>
              <a:t>The business operation runs and may create the next event in the chain.</a:t>
            </a:r>
          </a:p>
        </p:txBody>
      </p:sp>
      <p:sp>
        <p:nvSpPr>
          <p:cNvPr id="15" name="Rectangle 14"/>
          <p:cNvSpPr/>
          <p:nvPr/>
        </p:nvSpPr>
        <p:spPr>
          <a:xfrm>
            <a:off x="6217920" y="4069080"/>
            <a:ext cx="5468112" cy="143560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NO TRIGGER</a:t>
            </a:r>
          </a:p>
          <a:p>
            <a:pPr algn="l">
              <a:spcBef>
                <a:spcPts val="0"/>
              </a:spcBef>
              <a:spcAft>
                <a:spcPts val="500"/>
              </a:spcAft>
            </a:pPr>
            <a:r>
              <a:rPr sz="1500" b="1">
                <a:solidFill>
                  <a:srgbClr val="091F4E"/>
                </a:solidFill>
                <a:latin typeface="Arial"/>
              </a:rPr>
              <a:t>An incompatible event</a:t>
            </a:r>
          </a:p>
          <a:p>
            <a:pPr algn="l">
              <a:spcBef>
                <a:spcPts val="0"/>
              </a:spcBef>
              <a:spcAft>
                <a:spcPts val="220"/>
              </a:spcAft>
            </a:pPr>
            <a:r>
              <a:rPr sz="1050" b="0">
                <a:solidFill>
                  <a:srgbClr val="233045"/>
                </a:solidFill>
                <a:latin typeface="Arial"/>
              </a:rPr>
              <a:t>That operation is not applicable; this trigger chain stops. Other workflows may still process the event.</a:t>
            </a:r>
          </a:p>
        </p:txBody>
      </p:sp>
      <p:sp>
        <p:nvSpPr>
          <p:cNvPr id="16" name="TextBox 15"/>
          <p:cNvSpPr txBox="1"/>
          <p:nvPr/>
        </p:nvSpPr>
        <p:spPr>
          <a:xfrm>
            <a:off x="530352" y="5733288"/>
            <a:ext cx="10972800" cy="411480"/>
          </a:xfrm>
          <a:prstGeom prst="rect">
            <a:avLst/>
          </a:prstGeom>
          <a:noFill/>
        </p:spPr>
        <p:txBody>
          <a:bodyPr wrap="square" anchor="t" lIns="27432" rIns="27432" tIns="27432" bIns="27432">
            <a:spAutoFit/>
          </a:bodyPr>
          <a:lstStyle/>
          <a:p>
            <a:pPr algn="l">
              <a:spcBef>
                <a:spcPts val="0"/>
              </a:spcBef>
              <a:spcAft>
                <a:spcPts val="0"/>
              </a:spcAft>
              <a:defRPr sz="1330" b="1" i="0">
                <a:solidFill>
                  <a:srgbClr val="122D5B"/>
                </a:solidFill>
                <a:latin typeface="Arial"/>
              </a:defRPr>
            </a:pPr>
            <a:r>
              <a:t>Compatibility is about business meaning and applicable operations—not just matching data fields.</a:t>
            </a:r>
          </a:p>
        </p:txBody>
      </p:sp>
      <p:sp>
        <p:nvSpPr>
          <p:cNvPr id="17" name="TextBox 16"/>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BUSINESS DEFINITIONS</a:t>
            </a:r>
          </a:p>
        </p:txBody>
      </p:sp>
      <p:sp>
        <p:nvSpPr>
          <p:cNvPr id="18" name="TextBox 17"/>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03 / BUSINESS DEFINITIONS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25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Incomplete business definitions can create artificial edge cases</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2651760" y="3081528"/>
            <a:ext cx="594360" cy="0"/>
          </a:xfrm>
          <a:prstGeom prst="line">
            <a:avLst/>
          </a:prstGeom>
          <a:ln w="19050">
            <a:solidFill>
              <a:srgbClr val="B4BEC8"/>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394960" y="3081528"/>
            <a:ext cx="594360" cy="0"/>
          </a:xfrm>
          <a:prstGeom prst="line">
            <a:avLst/>
          </a:prstGeom>
          <a:ln w="19050">
            <a:solidFill>
              <a:srgbClr val="B4BEC8"/>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138160" y="3081528"/>
            <a:ext cx="594360" cy="0"/>
          </a:xfrm>
          <a:prstGeom prst="line">
            <a:avLst/>
          </a:prstGeom>
          <a:ln w="19050">
            <a:solidFill>
              <a:srgbClr val="B4BEC8"/>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02920" y="2596896"/>
            <a:ext cx="2148840" cy="978408"/>
          </a:xfrm>
          <a:prstGeom prst="rect">
            <a:avLst/>
          </a:prstGeom>
          <a:solidFill>
            <a:srgbClr val="F7F9FB"/>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Ambiguous object</a:t>
            </a:r>
          </a:p>
          <a:p>
            <a:pPr algn="l">
              <a:spcBef>
                <a:spcPts val="0"/>
              </a:spcBef>
              <a:spcAft>
                <a:spcPts val="200"/>
              </a:spcAft>
            </a:pPr>
            <a:r>
              <a:rPr sz="960" b="0">
                <a:solidFill>
                  <a:srgbClr val="233045"/>
                </a:solidFill>
                <a:latin typeface="Arial"/>
              </a:rPr>
              <a:t>Two meanings look alike</a:t>
            </a:r>
          </a:p>
        </p:txBody>
      </p:sp>
      <p:sp>
        <p:nvSpPr>
          <p:cNvPr id="10" name="Rectangle 9"/>
          <p:cNvSpPr/>
          <p:nvPr/>
        </p:nvSpPr>
        <p:spPr>
          <a:xfrm>
            <a:off x="3246120" y="2596896"/>
            <a:ext cx="2148840" cy="978408"/>
          </a:xfrm>
          <a:prstGeom prst="rect">
            <a:avLst/>
          </a:prstGeom>
          <a:solidFill>
            <a:srgbClr val="F7F9FB"/>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Different assumptions</a:t>
            </a:r>
          </a:p>
          <a:p>
            <a:pPr algn="l">
              <a:spcBef>
                <a:spcPts val="0"/>
              </a:spcBef>
              <a:spcAft>
                <a:spcPts val="200"/>
              </a:spcAft>
            </a:pPr>
            <a:r>
              <a:rPr sz="960" b="0">
                <a:solidFill>
                  <a:srgbClr val="233045"/>
                </a:solidFill>
                <a:latin typeface="Arial"/>
              </a:rPr>
              <a:t>Across consumers</a:t>
            </a:r>
          </a:p>
        </p:txBody>
      </p:sp>
      <p:sp>
        <p:nvSpPr>
          <p:cNvPr id="11" name="Rectangle 10"/>
          <p:cNvSpPr/>
          <p:nvPr/>
        </p:nvSpPr>
        <p:spPr>
          <a:xfrm>
            <a:off x="5989320" y="2596896"/>
            <a:ext cx="2148840" cy="978408"/>
          </a:xfrm>
          <a:prstGeom prst="rect">
            <a:avLst/>
          </a:prstGeom>
          <a:solidFill>
            <a:srgbClr val="F7F9FB"/>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Special conditions</a:t>
            </a:r>
          </a:p>
          <a:p>
            <a:pPr algn="l">
              <a:spcBef>
                <a:spcPts val="0"/>
              </a:spcBef>
              <a:spcAft>
                <a:spcPts val="200"/>
              </a:spcAft>
            </a:pPr>
            <a:r>
              <a:rPr sz="960" b="0">
                <a:solidFill>
                  <a:srgbClr val="233045"/>
                </a:solidFill>
                <a:latin typeface="Arial"/>
              </a:rPr>
              <a:t>Flags and warnings</a:t>
            </a:r>
          </a:p>
        </p:txBody>
      </p:sp>
      <p:sp>
        <p:nvSpPr>
          <p:cNvPr id="12" name="Rectangle 11"/>
          <p:cNvSpPr/>
          <p:nvPr/>
        </p:nvSpPr>
        <p:spPr>
          <a:xfrm>
            <a:off x="8732520" y="2596896"/>
            <a:ext cx="2148840" cy="978408"/>
          </a:xfrm>
          <a:prstGeom prst="rect">
            <a:avLst/>
          </a:prstGeom>
          <a:solidFill>
            <a:srgbClr val="F7F9FB"/>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Difficult modification</a:t>
            </a:r>
          </a:p>
          <a:p>
            <a:pPr algn="l">
              <a:spcBef>
                <a:spcPts val="0"/>
              </a:spcBef>
              <a:spcAft>
                <a:spcPts val="200"/>
              </a:spcAft>
            </a:pPr>
            <a:r>
              <a:rPr sz="960" b="0">
                <a:solidFill>
                  <a:srgbClr val="233045"/>
                </a:solidFill>
                <a:latin typeface="Arial"/>
              </a:rPr>
              <a:t>Every branch matters</a:t>
            </a:r>
          </a:p>
        </p:txBody>
      </p:sp>
      <p:sp>
        <p:nvSpPr>
          <p:cNvPr id="13" name="Rectangle 12"/>
          <p:cNvSpPr/>
          <p:nvPr/>
        </p:nvSpPr>
        <p:spPr>
          <a:xfrm>
            <a:off x="502920" y="4023360"/>
            <a:ext cx="5486400" cy="1417320"/>
          </a:xfrm>
          <a:prstGeom prst="rect">
            <a:avLst/>
          </a:prstGeom>
          <a:solidFill>
            <a:srgbClr val="FDF7F6"/>
          </a:solidFill>
          <a:ln w="10160">
            <a:solidFill>
              <a:srgbClr val="F1CFCC"/>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D9261C"/>
                </a:solidFill>
                <a:latin typeface="Arial"/>
              </a:defRPr>
            </a:pPr>
            <a:r>
              <a:rPr sz="720" b="1">
                <a:solidFill>
                  <a:srgbClr val="1857CA"/>
                </a:solidFill>
                <a:latin typeface="Arial"/>
              </a:rPr>
              <a:t>LOCAL FIX</a:t>
            </a:r>
          </a:p>
          <a:p>
            <a:pPr algn="l">
              <a:spcBef>
                <a:spcPts val="0"/>
              </a:spcBef>
              <a:spcAft>
                <a:spcPts val="500"/>
              </a:spcAft>
            </a:pPr>
            <a:r>
              <a:rPr sz="1500" b="1">
                <a:solidFill>
                  <a:srgbClr val="091F4E"/>
                </a:solidFill>
                <a:latin typeface="Arial"/>
              </a:rPr>
              <a:t>Symptom-oriented approach</a:t>
            </a:r>
          </a:p>
          <a:p>
            <a:pPr algn="l">
              <a:spcBef>
                <a:spcPts val="0"/>
              </a:spcBef>
              <a:spcAft>
                <a:spcPts val="220"/>
              </a:spcAft>
            </a:pPr>
            <a:r>
              <a:rPr sz="1050" b="0">
                <a:solidFill>
                  <a:srgbClr val="233045"/>
                </a:solidFill>
                <a:latin typeface="Arial"/>
              </a:rPr>
              <a:t>Patch each newly observed manifestation where it appears.</a:t>
            </a:r>
          </a:p>
        </p:txBody>
      </p:sp>
      <p:sp>
        <p:nvSpPr>
          <p:cNvPr id="14" name="Rectangle 13"/>
          <p:cNvSpPr/>
          <p:nvPr/>
        </p:nvSpPr>
        <p:spPr>
          <a:xfrm>
            <a:off x="6217920" y="4023360"/>
            <a:ext cx="5486400" cy="14173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DESIGN IMPROVEMENT</a:t>
            </a:r>
          </a:p>
          <a:p>
            <a:pPr algn="l">
              <a:spcBef>
                <a:spcPts val="0"/>
              </a:spcBef>
              <a:spcAft>
                <a:spcPts val="500"/>
              </a:spcAft>
            </a:pPr>
            <a:r>
              <a:rPr sz="1500" b="1">
                <a:solidFill>
                  <a:srgbClr val="091F4E"/>
                </a:solidFill>
                <a:latin typeface="Arial"/>
              </a:rPr>
              <a:t>Meaning-oriented approach</a:t>
            </a:r>
          </a:p>
          <a:p>
            <a:pPr algn="l">
              <a:spcBef>
                <a:spcPts val="0"/>
              </a:spcBef>
              <a:spcAft>
                <a:spcPts val="220"/>
              </a:spcAft>
            </a:pPr>
            <a:r>
              <a:rPr sz="1050" b="0">
                <a:solidFill>
                  <a:srgbClr val="233045"/>
                </a:solidFill>
                <a:latin typeface="Arial"/>
              </a:rPr>
              <a:t>Clarify what the system represents; let compatible workflows consume precise concepts.</a:t>
            </a:r>
          </a:p>
        </p:txBody>
      </p:sp>
      <p:sp>
        <p:nvSpPr>
          <p:cNvPr id="15" name="TextBox 14"/>
          <p:cNvSpPr txBox="1"/>
          <p:nvPr/>
        </p:nvSpPr>
        <p:spPr>
          <a:xfrm>
            <a:off x="530352" y="5687568"/>
            <a:ext cx="10972800" cy="411480"/>
          </a:xfrm>
          <a:prstGeom prst="rect">
            <a:avLst/>
          </a:prstGeom>
          <a:noFill/>
        </p:spPr>
        <p:txBody>
          <a:bodyPr wrap="square" anchor="t" lIns="27432" rIns="27432" tIns="27432" bIns="27432">
            <a:spAutoFit/>
          </a:bodyPr>
          <a:lstStyle/>
          <a:p>
            <a:pPr algn="l">
              <a:spcBef>
                <a:spcPts val="0"/>
              </a:spcBef>
              <a:spcAft>
                <a:spcPts val="0"/>
              </a:spcAft>
              <a:defRPr sz="1340" b="1" i="0">
                <a:solidFill>
                  <a:srgbClr val="122D5B"/>
                </a:solidFill>
                <a:latin typeface="Arial"/>
              </a:defRPr>
            </a:pPr>
            <a:r>
              <a:t>Some apparent edge cases disappear when the objects and operations describe the business more accurately.</a:t>
            </a:r>
          </a:p>
        </p:txBody>
      </p:sp>
      <p:sp>
        <p:nvSpPr>
          <p:cNvPr id="16" name="TextBox 15"/>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BUSINESS DEFINITIONS</a:t>
            </a:r>
          </a:p>
        </p:txBody>
      </p:sp>
      <p:sp>
        <p:nvSpPr>
          <p:cNvPr id="17" name="TextBox 16"/>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03 / BUSINESS DEFINITIONS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26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Choose a response that matches the actual source of complexity</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SIMPLE PROTECTION MAY BE ENOUGH</a:t>
            </a:r>
          </a:p>
          <a:p>
            <a:pPr algn="l">
              <a:spcBef>
                <a:spcPts val="0"/>
              </a:spcBef>
              <a:spcAft>
                <a:spcPts val="500"/>
              </a:spcAft>
            </a:pPr>
            <a:r>
              <a:rPr sz="1550" b="1">
                <a:solidFill>
                  <a:srgbClr val="091F4E"/>
                </a:solidFill>
                <a:latin typeface="Arial"/>
              </a:rPr>
              <a:t>Genuine low-probability external anomaly</a:t>
            </a:r>
          </a:p>
          <a:p>
            <a:pPr algn="l">
              <a:spcBef>
                <a:spcPts val="0"/>
              </a:spcBef>
              <a:spcAft>
                <a:spcPts val="220"/>
              </a:spcAft>
            </a:pPr>
            <a:r>
              <a:rPr sz="1110" b="0">
                <a:solidFill>
                  <a:srgbClr val="233045"/>
                </a:solidFill>
                <a:latin typeface="Arial"/>
              </a:rPr>
              <a:t>A well-defined venue feed occasionally has a gap. Detect, contain, alert and recover if residual risk is acceptable.</a:t>
            </a:r>
          </a:p>
        </p:txBody>
      </p:sp>
      <p:sp>
        <p:nvSpPr>
          <p:cNvPr id="7" name="Rectangle 6"/>
          <p:cNvSpPr/>
          <p:nvPr/>
        </p:nvSpPr>
        <p:spPr>
          <a:xfrm>
            <a:off x="6199632"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IMPROVE THE MODEL</a:t>
            </a:r>
          </a:p>
          <a:p>
            <a:pPr algn="l">
              <a:spcBef>
                <a:spcPts val="0"/>
              </a:spcBef>
              <a:spcAft>
                <a:spcPts val="500"/>
              </a:spcAft>
            </a:pPr>
            <a:r>
              <a:rPr sz="1550" b="1">
                <a:solidFill>
                  <a:srgbClr val="091F4E"/>
                </a:solidFill>
                <a:latin typeface="Arial"/>
              </a:rPr>
              <a:t>Ambiguous object or workflow</a:t>
            </a:r>
          </a:p>
          <a:p>
            <a:pPr algn="l">
              <a:spcBef>
                <a:spcPts val="0"/>
              </a:spcBef>
              <a:spcAft>
                <a:spcPts val="220"/>
              </a:spcAft>
            </a:pPr>
            <a:r>
              <a:rPr sz="1110" b="0">
                <a:solidFill>
                  <a:srgbClr val="233045"/>
                </a:solidFill>
                <a:latin typeface="Arial"/>
              </a:rPr>
              <a:t>Two different meanings are treated as one. Clarify the definition so unrelated components no longer need special interpretation.</a:t>
            </a:r>
          </a:p>
        </p:txBody>
      </p:sp>
      <p:sp>
        <p:nvSpPr>
          <p:cNvPr id="8" name="Rectangle 7"/>
          <p:cNvSpPr/>
          <p:nvPr/>
        </p:nvSpPr>
        <p:spPr>
          <a:xfrm>
            <a:off x="457200" y="4535424"/>
            <a:ext cx="11265408" cy="694944"/>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450" b="1">
                <a:solidFill>
                  <a:srgbClr val="122D5B"/>
                </a:solidFill>
                <a:latin typeface="Arial"/>
              </a:defRPr>
            </a:pPr>
            <a:r>
              <a:t>Good design judgement minimises total complexity and risk. It does not maximise the amount of architecture.</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BUSINESS DEFINITIONS</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914400"/>
            <a:ext cx="2011680" cy="1005840"/>
          </a:xfrm>
          <a:prstGeom prst="rect">
            <a:avLst/>
          </a:prstGeom>
          <a:noFill/>
        </p:spPr>
        <p:txBody>
          <a:bodyPr wrap="square" anchor="t" lIns="27432" rIns="27432" tIns="27432" bIns="27432">
            <a:spAutoFit/>
          </a:bodyPr>
          <a:lstStyle/>
          <a:p>
            <a:pPr algn="l">
              <a:spcBef>
                <a:spcPts val="0"/>
              </a:spcBef>
              <a:spcAft>
                <a:spcPts val="0"/>
              </a:spcAft>
              <a:defRPr sz="6000" b="1" i="0">
                <a:solidFill>
                  <a:srgbClr val="DAE7F6"/>
                </a:solidFill>
                <a:latin typeface="Arial"/>
              </a:defRPr>
            </a:pPr>
            <a:r>
              <a:t>04</a:t>
            </a:r>
          </a:p>
        </p:txBody>
      </p:sp>
      <p:sp>
        <p:nvSpPr>
          <p:cNvPr id="3" name="TextBox 2"/>
          <p:cNvSpPr txBox="1"/>
          <p:nvPr/>
        </p:nvSpPr>
        <p:spPr>
          <a:xfrm>
            <a:off x="2514600" y="1051560"/>
            <a:ext cx="8778240" cy="1097280"/>
          </a:xfrm>
          <a:prstGeom prst="rect">
            <a:avLst/>
          </a:prstGeom>
          <a:noFill/>
        </p:spPr>
        <p:txBody>
          <a:bodyPr wrap="square" anchor="t" lIns="27432" rIns="27432" tIns="27432" bIns="27432">
            <a:spAutoFit/>
          </a:bodyPr>
          <a:lstStyle/>
          <a:p>
            <a:pPr algn="l">
              <a:spcBef>
                <a:spcPts val="0"/>
              </a:spcBef>
              <a:spcAft>
                <a:spcPts val="0"/>
              </a:spcAft>
              <a:defRPr sz="3100" b="0" i="0">
                <a:solidFill>
                  <a:srgbClr val="2D63DA"/>
                </a:solidFill>
                <a:latin typeface="Arial"/>
              </a:defRPr>
            </a:pPr>
            <a:r>
              <a:t>The Costs of Ambiguous Definitions and Hidden Dependencies</a:t>
            </a:r>
          </a:p>
        </p:txBody>
      </p:sp>
      <p:sp>
        <p:nvSpPr>
          <p:cNvPr id="4" name="TextBox 3"/>
          <p:cNvSpPr txBox="1"/>
          <p:nvPr/>
        </p:nvSpPr>
        <p:spPr>
          <a:xfrm>
            <a:off x="2542032" y="2286000"/>
            <a:ext cx="8046720" cy="502920"/>
          </a:xfrm>
          <a:prstGeom prst="rect">
            <a:avLst/>
          </a:prstGeom>
          <a:noFill/>
        </p:spPr>
        <p:txBody>
          <a:bodyPr wrap="square" anchor="t" lIns="27432" rIns="27432" tIns="27432" bIns="27432">
            <a:spAutoFit/>
          </a:bodyPr>
          <a:lstStyle/>
          <a:p>
            <a:pPr algn="l">
              <a:spcBef>
                <a:spcPts val="0"/>
              </a:spcBef>
              <a:spcAft>
                <a:spcPts val="0"/>
              </a:spcAft>
              <a:defRPr sz="1600" b="0" i="0">
                <a:solidFill>
                  <a:srgbClr val="6F757C"/>
                </a:solidFill>
                <a:latin typeface="Arial"/>
              </a:defRPr>
            </a:pPr>
            <a:r>
              <a:t>Designing for change  •  research agility</a:t>
            </a:r>
          </a:p>
        </p:txBody>
      </p:sp>
      <p:sp>
        <p:nvSpPr>
          <p:cNvPr id="5" name="Rectangle 4"/>
          <p:cNvSpPr/>
          <p:nvPr/>
        </p:nvSpPr>
        <p:spPr>
          <a:xfrm>
            <a:off x="2542032" y="3090672"/>
            <a:ext cx="7772400" cy="25603"/>
          </a:xfrm>
          <a:prstGeom prst="rect">
            <a:avLst/>
          </a:prstGeom>
          <a:solidFill>
            <a:srgbClr val="2D6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5486400" cy="201168"/>
          </a:xfrm>
          <a:prstGeom prst="rect">
            <a:avLst/>
          </a:prstGeom>
          <a:noFill/>
        </p:spPr>
        <p:txBody>
          <a:bodyPr wrap="square" anchor="t" lIns="27432" rIns="27432" tIns="27432" bIns="27432">
            <a:spAutoFit/>
          </a:bodyPr>
          <a:lstStyle/>
          <a:p>
            <a:pPr algn="l">
              <a:spcBef>
                <a:spcPts val="0"/>
              </a:spcBef>
              <a:spcAft>
                <a:spcPts val="0"/>
              </a:spcAft>
              <a:defRPr sz="900" b="1" i="0">
                <a:solidFill>
                  <a:srgbClr val="6F757C"/>
                </a:solidFill>
                <a:latin typeface="Arial"/>
              </a:defRPr>
            </a:pPr>
            <a:r>
              <a:t>04 / ENGINEERING LESSONS</a:t>
            </a:r>
          </a:p>
        </p:txBody>
      </p:sp>
      <p:sp>
        <p:nvSpPr>
          <p:cNvPr id="7" name="TextBox 6"/>
          <p:cNvSpPr txBox="1"/>
          <p:nvPr/>
        </p:nvSpPr>
        <p:spPr>
          <a:xfrm>
            <a:off x="11384280" y="6510528"/>
            <a:ext cx="411480" cy="201168"/>
          </a:xfrm>
          <a:prstGeom prst="rect">
            <a:avLst/>
          </a:prstGeom>
          <a:noFill/>
        </p:spPr>
        <p:txBody>
          <a:bodyPr wrap="square" anchor="t" lIns="27432" rIns="27432" tIns="27432" bIns="27432">
            <a:spAutoFit/>
          </a:bodyPr>
          <a:lstStyle/>
          <a:p>
            <a:pPr algn="r">
              <a:spcBef>
                <a:spcPts val="0"/>
              </a:spcBef>
              <a:spcAft>
                <a:spcPts val="0"/>
              </a:spcAft>
              <a:defRPr sz="900" b="0" i="0">
                <a:solidFill>
                  <a:srgbClr val="6F757C"/>
                </a:solidFill>
                <a:latin typeface="Arial"/>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04 / ENGINEERING LESSONS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28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A unit mismatch contributed to the loss of a spacecraft</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90472"/>
            <a:ext cx="1920240" cy="201168"/>
          </a:xfrm>
          <a:prstGeom prst="rect">
            <a:avLst/>
          </a:prstGeom>
          <a:noFill/>
        </p:spPr>
        <p:txBody>
          <a:bodyPr wrap="square" anchor="t" lIns="27432" rIns="27432" tIns="27432" bIns="27432">
            <a:spAutoFit/>
          </a:bodyPr>
          <a:lstStyle/>
          <a:p>
            <a:pPr algn="l">
              <a:spcBef>
                <a:spcPts val="0"/>
              </a:spcBef>
              <a:spcAft>
                <a:spcPts val="0"/>
              </a:spcAft>
              <a:defRPr sz="1000" b="1" i="0">
                <a:solidFill>
                  <a:srgbClr val="6F757C"/>
                </a:solidFill>
                <a:latin typeface="Arial"/>
              </a:defRPr>
            </a:pPr>
            <a:r>
              <a:t>1999 · NASA/JPL</a:t>
            </a:r>
          </a:p>
        </p:txBody>
      </p:sp>
      <p:cxnSp>
        <p:nvCxnSpPr>
          <p:cNvPr id="7" name="Connector 6"/>
          <p:cNvCxnSpPr/>
          <p:nvPr/>
        </p:nvCxnSpPr>
        <p:spPr>
          <a:xfrm>
            <a:off x="3154679" y="2679192"/>
            <a:ext cx="868681"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583680" y="2679192"/>
            <a:ext cx="86868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2157984"/>
            <a:ext cx="2560320" cy="1042415"/>
          </a:xfrm>
          <a:prstGeom prst="rect">
            <a:avLst/>
          </a:prstGeom>
          <a:solidFill>
            <a:srgbClr val="F7F9FB"/>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50" b="1">
                <a:solidFill>
                  <a:srgbClr val="091F4E"/>
                </a:solidFill>
                <a:latin typeface="Arial"/>
              </a:rPr>
              <a:t>Ground process</a:t>
            </a:r>
          </a:p>
          <a:p>
            <a:pPr algn="l">
              <a:spcBef>
                <a:spcPts val="0"/>
              </a:spcBef>
              <a:spcAft>
                <a:spcPts val="200"/>
              </a:spcAft>
            </a:pPr>
            <a:r>
              <a:rPr sz="1000" b="0">
                <a:solidFill>
                  <a:srgbClr val="233045"/>
                </a:solidFill>
                <a:latin typeface="Arial"/>
              </a:rPr>
              <a:t>English units</a:t>
            </a:r>
          </a:p>
        </p:txBody>
      </p:sp>
      <p:sp>
        <p:nvSpPr>
          <p:cNvPr id="10" name="Rectangle 9"/>
          <p:cNvSpPr/>
          <p:nvPr/>
        </p:nvSpPr>
        <p:spPr>
          <a:xfrm>
            <a:off x="4023360" y="2157984"/>
            <a:ext cx="2560320" cy="1042415"/>
          </a:xfrm>
          <a:prstGeom prst="rect">
            <a:avLst/>
          </a:prstGeom>
          <a:solidFill>
            <a:srgbClr val="F7F9FB"/>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50" b="1">
                <a:solidFill>
                  <a:srgbClr val="091F4E"/>
                </a:solidFill>
                <a:latin typeface="Arial"/>
              </a:rPr>
              <a:t>Information transfer</a:t>
            </a:r>
          </a:p>
          <a:p>
            <a:pPr algn="l">
              <a:spcBef>
                <a:spcPts val="0"/>
              </a:spcBef>
              <a:spcAft>
                <a:spcPts val="200"/>
              </a:spcAft>
            </a:pPr>
            <a:r>
              <a:rPr sz="1000" b="0">
                <a:solidFill>
                  <a:srgbClr val="233045"/>
                </a:solidFill>
                <a:latin typeface="Arial"/>
              </a:rPr>
              <a:t>Numeric values</a:t>
            </a:r>
          </a:p>
        </p:txBody>
      </p:sp>
      <p:sp>
        <p:nvSpPr>
          <p:cNvPr id="11" name="Rectangle 10"/>
          <p:cNvSpPr/>
          <p:nvPr/>
        </p:nvSpPr>
        <p:spPr>
          <a:xfrm>
            <a:off x="7452360" y="2157984"/>
            <a:ext cx="2560320" cy="1042415"/>
          </a:xfrm>
          <a:prstGeom prst="rect">
            <a:avLst/>
          </a:prstGeom>
          <a:solidFill>
            <a:srgbClr val="F7F9FB"/>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50" b="1">
                <a:solidFill>
                  <a:srgbClr val="091F4E"/>
                </a:solidFill>
                <a:latin typeface="Arial"/>
              </a:rPr>
              <a:t>Navigation process</a:t>
            </a:r>
          </a:p>
          <a:p>
            <a:pPr algn="l">
              <a:spcBef>
                <a:spcPts val="0"/>
              </a:spcBef>
              <a:spcAft>
                <a:spcPts val="200"/>
              </a:spcAft>
            </a:pPr>
            <a:r>
              <a:rPr sz="1000" b="0">
                <a:solidFill>
                  <a:srgbClr val="233045"/>
                </a:solidFill>
                <a:latin typeface="Arial"/>
              </a:rPr>
              <a:t>Expected metric units</a:t>
            </a:r>
          </a:p>
        </p:txBody>
      </p:sp>
      <p:sp>
        <p:nvSpPr>
          <p:cNvPr id="12" name="Rectangle 11"/>
          <p:cNvSpPr/>
          <p:nvPr/>
        </p:nvSpPr>
        <p:spPr>
          <a:xfrm>
            <a:off x="502920" y="3621024"/>
            <a:ext cx="5486400" cy="138988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EVENT MEANING</a:t>
            </a:r>
          </a:p>
          <a:p>
            <a:pPr algn="l">
              <a:spcBef>
                <a:spcPts val="0"/>
              </a:spcBef>
              <a:spcAft>
                <a:spcPts val="500"/>
              </a:spcAft>
            </a:pPr>
            <a:r>
              <a:rPr sz="1500" b="1">
                <a:solidFill>
                  <a:srgbClr val="091F4E"/>
                </a:solidFill>
                <a:latin typeface="Arial"/>
              </a:rPr>
              <a:t>What went wrong</a:t>
            </a:r>
          </a:p>
          <a:p>
            <a:pPr algn="l">
              <a:spcBef>
                <a:spcPts val="0"/>
              </a:spcBef>
              <a:spcAft>
                <a:spcPts val="220"/>
              </a:spcAft>
            </a:pPr>
            <a:r>
              <a:rPr sz="1050" b="0">
                <a:solidFill>
                  <a:srgbClr val="233045"/>
                </a:solidFill>
                <a:latin typeface="Arial"/>
              </a:rPr>
              <a:t>The same transferred numbers were interpreted under incompatible unit assumptions.</a:t>
            </a:r>
          </a:p>
        </p:txBody>
      </p:sp>
      <p:sp>
        <p:nvSpPr>
          <p:cNvPr id="13" name="Rectangle 12"/>
          <p:cNvSpPr/>
          <p:nvPr/>
        </p:nvSpPr>
        <p:spPr>
          <a:xfrm>
            <a:off x="6217920" y="3621024"/>
            <a:ext cx="5486400" cy="138988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PART 04</a:t>
            </a:r>
          </a:p>
          <a:p>
            <a:pPr algn="l">
              <a:spcBef>
                <a:spcPts val="0"/>
              </a:spcBef>
              <a:spcAft>
                <a:spcPts val="500"/>
              </a:spcAft>
            </a:pPr>
            <a:r>
              <a:rPr sz="1500" b="1">
                <a:solidFill>
                  <a:srgbClr val="091F4E"/>
                </a:solidFill>
                <a:latin typeface="Arial"/>
              </a:rPr>
              <a:t>Our callback</a:t>
            </a:r>
          </a:p>
          <a:p>
            <a:pPr algn="l">
              <a:spcBef>
                <a:spcPts val="0"/>
              </a:spcBef>
              <a:spcAft>
                <a:spcPts val="220"/>
              </a:spcAft>
            </a:pPr>
            <a:r>
              <a:rPr sz="1050" b="0">
                <a:solidFill>
                  <a:srgbClr val="233045"/>
                </a:solidFill>
                <a:latin typeface="Arial"/>
              </a:rPr>
              <a:t>Market and business objects need explicit units, timestamps and behavioural meanings—not only compatible data types.</a:t>
            </a:r>
          </a:p>
        </p:txBody>
      </p:sp>
      <p:sp>
        <p:nvSpPr>
          <p:cNvPr id="14" name="TextBox 13"/>
          <p:cNvSpPr txBox="1"/>
          <p:nvPr/>
        </p:nvSpPr>
        <p:spPr>
          <a:xfrm>
            <a:off x="530352" y="5212080"/>
            <a:ext cx="10972800" cy="384048"/>
          </a:xfrm>
          <a:prstGeom prst="rect">
            <a:avLst/>
          </a:prstGeom>
          <a:noFill/>
        </p:spPr>
        <p:txBody>
          <a:bodyPr wrap="square" anchor="t" lIns="27432" rIns="27432" tIns="27432" bIns="27432">
            <a:spAutoFit/>
          </a:bodyPr>
          <a:lstStyle/>
          <a:p>
            <a:pPr algn="l">
              <a:spcBef>
                <a:spcPts val="0"/>
              </a:spcBef>
              <a:spcAft>
                <a:spcPts val="0"/>
              </a:spcAft>
              <a:defRPr sz="1290" b="0" i="1">
                <a:solidFill>
                  <a:srgbClr val="6F757C"/>
                </a:solidFill>
                <a:latin typeface="Arial"/>
              </a:defRPr>
            </a:pPr>
            <a:r>
              <a:t>A mission-level systems-engineering and verification failure; not simply a missing type declaration.</a:t>
            </a:r>
          </a:p>
        </p:txBody>
      </p:sp>
      <p:sp>
        <p:nvSpPr>
          <p:cNvPr id="15" name="TextBox 14"/>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ENGINEERING LESSONS</a:t>
            </a:r>
          </a:p>
        </p:txBody>
      </p:sp>
      <p:sp>
        <p:nvSpPr>
          <p:cNvPr id="16" name="TextBox 15"/>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04 / ENGINEERING LESSONS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29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Reused software assumptions contributed to a failed rocket launch</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73152"/>
          <a:lstStyle/>
          <a:p>
            <a:pPr algn="r">
              <a:spcBef>
                <a:spcPts val="0"/>
              </a:spcBef>
              <a:spcAft>
                <a:spcPts val="900"/>
              </a:spcAft>
              <a:defRPr sz="950" b="1">
                <a:solidFill>
                  <a:srgbClr val="2D63DA"/>
                </a:solidFill>
                <a:latin typeface="Arial"/>
              </a:defRPr>
            </a:pPr>
            <a:r>
              <a:rPr sz="750" b="1">
                <a:solidFill>
                  <a:srgbClr val="1857CA"/>
                </a:solidFill>
                <a:latin typeface="Arial"/>
              </a:rPr>
              <a:t>WHAT CHANGED</a:t>
            </a:r>
          </a:p>
          <a:p>
            <a:pPr algn="l">
              <a:spcBef>
                <a:spcPts val="0"/>
              </a:spcBef>
              <a:spcAft>
                <a:spcPts val="500"/>
              </a:spcAft>
            </a:pPr>
            <a:r>
              <a:rPr sz="1570" b="1">
                <a:solidFill>
                  <a:srgbClr val="091F4E"/>
                </a:solidFill>
                <a:latin typeface="Arial"/>
              </a:rPr>
              <a:t>Reused implementation</a:t>
            </a:r>
          </a:p>
          <a:p>
            <a:pPr algn="l">
              <a:spcBef>
                <a:spcPts val="0"/>
              </a:spcBef>
              <a:spcAft>
                <a:spcPts val="220"/>
              </a:spcAft>
            </a:pPr>
            <a:r>
              <a:rPr sz="1100" b="0">
                <a:solidFill>
                  <a:srgbClr val="233045"/>
                </a:solidFill>
                <a:latin typeface="Arial"/>
              </a:rPr>
              <a:t>Software inherited from Ariane 4 contained a conversion and post-launch computation that were not safe for Ariane 5 conditions.</a:t>
            </a:r>
          </a:p>
        </p:txBody>
      </p:sp>
      <p:sp>
        <p:nvSpPr>
          <p:cNvPr id="7" name="Rectangle 6"/>
          <p:cNvSpPr/>
          <p:nvPr/>
        </p:nvSpPr>
        <p:spPr>
          <a:xfrm>
            <a:off x="6199632"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73152"/>
          <a:lstStyle/>
          <a:p>
            <a:pPr algn="r">
              <a:spcBef>
                <a:spcPts val="0"/>
              </a:spcBef>
              <a:spcAft>
                <a:spcPts val="900"/>
              </a:spcAft>
              <a:defRPr sz="950" b="1">
                <a:solidFill>
                  <a:srgbClr val="2D63DA"/>
                </a:solidFill>
                <a:latin typeface="Arial"/>
              </a:defRPr>
            </a:pPr>
            <a:r>
              <a:rPr sz="750" b="1">
                <a:solidFill>
                  <a:srgbClr val="1857CA"/>
                </a:solidFill>
                <a:latin typeface="Arial"/>
              </a:rPr>
              <a:t>WHY IT WAS MISSED</a:t>
            </a:r>
          </a:p>
          <a:p>
            <a:pPr algn="l">
              <a:spcBef>
                <a:spcPts val="0"/>
              </a:spcBef>
              <a:spcAft>
                <a:spcPts val="500"/>
              </a:spcAft>
            </a:pPr>
            <a:r>
              <a:rPr sz="1570" b="1">
                <a:solidFill>
                  <a:srgbClr val="091F4E"/>
                </a:solidFill>
                <a:latin typeface="Arial"/>
              </a:rPr>
              <a:t>System-level weakness</a:t>
            </a:r>
          </a:p>
          <a:p>
            <a:pPr algn="l">
              <a:spcBef>
                <a:spcPts val="0"/>
              </a:spcBef>
              <a:spcAft>
                <a:spcPts val="220"/>
              </a:spcAft>
            </a:pPr>
            <a:r>
              <a:rPr sz="1100" b="0">
                <a:solidFill>
                  <a:srgbClr val="233045"/>
                </a:solidFill>
                <a:latin typeface="Arial"/>
              </a:rPr>
              <a:t>The tests and reviews had not adequately exposed the problem under representative flight conditions.</a:t>
            </a:r>
          </a:p>
        </p:txBody>
      </p:sp>
      <p:sp>
        <p:nvSpPr>
          <p:cNvPr id="8" name="Rectangle 7"/>
          <p:cNvSpPr/>
          <p:nvPr/>
        </p:nvSpPr>
        <p:spPr>
          <a:xfrm>
            <a:off x="457200" y="4462272"/>
            <a:ext cx="11265408" cy="822960"/>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64008" bIns="73152"/>
          <a:lstStyle/>
          <a:p>
            <a:pPr algn="r">
              <a:spcBef>
                <a:spcPts val="0"/>
              </a:spcBef>
              <a:spcAft>
                <a:spcPts val="700"/>
              </a:spcAft>
              <a:defRPr sz="1450" b="1">
                <a:solidFill>
                  <a:srgbClr val="122D5B"/>
                </a:solidFill>
                <a:latin typeface="Arial"/>
              </a:defRPr>
            </a:pPr>
            <a:r>
              <a:rPr sz="780" b="1">
                <a:solidFill>
                  <a:srgbClr val="1857CA"/>
                </a:solidFill>
                <a:latin typeface="Arial"/>
              </a:rPr>
              <a:t>OUR CALLBACK · PART 02</a:t>
            </a:r>
          </a:p>
          <a:p>
            <a:pPr algn="l">
              <a:spcBef>
                <a:spcPts val="0"/>
              </a:spcBef>
              <a:spcAft>
                <a:spcPts val="200"/>
              </a:spcAft>
            </a:pPr>
            <a:r>
              <a:rPr sz="1200" b="1">
                <a:solidFill>
                  <a:srgbClr val="091F4E"/>
                </a:solidFill>
                <a:latin typeface="Arial"/>
              </a:rPr>
              <a:t>Reuse is useful when the relevant assumptions remain valid. A new venue, clock or model can change the meaning of “compatible.”</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ENGINEERING LESSONS</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04 / ENGINEERING LESSONS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30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Hidden dependencies contributed to over $460m in trading losses</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93392"/>
            <a:ext cx="2834640" cy="201168"/>
          </a:xfrm>
          <a:prstGeom prst="rect">
            <a:avLst/>
          </a:prstGeom>
          <a:noFill/>
        </p:spPr>
        <p:txBody>
          <a:bodyPr wrap="square" anchor="t" lIns="27432" rIns="27432" tIns="27432" bIns="27432">
            <a:spAutoFit/>
          </a:bodyPr>
          <a:lstStyle/>
          <a:p>
            <a:pPr algn="l">
              <a:spcBef>
                <a:spcPts val="0"/>
              </a:spcBef>
              <a:spcAft>
                <a:spcPts val="0"/>
              </a:spcAft>
              <a:defRPr sz="1000" b="1" i="0">
                <a:solidFill>
                  <a:srgbClr val="6F757C"/>
                </a:solidFill>
                <a:latin typeface="Arial"/>
              </a:defRPr>
            </a:pPr>
            <a:r>
              <a:t>AUGUST 1, 2012 · SEC FINDINGS</a:t>
            </a:r>
          </a:p>
        </p:txBody>
      </p:sp>
      <p:cxnSp>
        <p:nvCxnSpPr>
          <p:cNvPr id="7" name="Connector 6"/>
          <p:cNvCxnSpPr/>
          <p:nvPr/>
        </p:nvCxnSpPr>
        <p:spPr>
          <a:xfrm>
            <a:off x="2651760" y="3081528"/>
            <a:ext cx="594360" cy="0"/>
          </a:xfrm>
          <a:prstGeom prst="line">
            <a:avLst/>
          </a:prstGeom>
          <a:ln w="20320">
            <a:solidFill>
              <a:srgbClr val="D9261C"/>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94960" y="3081528"/>
            <a:ext cx="594360" cy="0"/>
          </a:xfrm>
          <a:prstGeom prst="line">
            <a:avLst/>
          </a:prstGeom>
          <a:ln w="20320">
            <a:solidFill>
              <a:srgbClr val="D9261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138160" y="3081528"/>
            <a:ext cx="594360" cy="0"/>
          </a:xfrm>
          <a:prstGeom prst="line">
            <a:avLst/>
          </a:prstGeom>
          <a:ln w="20320">
            <a:solidFill>
              <a:srgbClr val="D9261C"/>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02920" y="2606040"/>
            <a:ext cx="2148840" cy="960120"/>
          </a:xfrm>
          <a:prstGeom prst="rect">
            <a:avLst/>
          </a:prstGeom>
          <a:solidFill>
            <a:srgbClr val="FDF7F6"/>
          </a:solidFill>
          <a:ln w="12700">
            <a:solidFill>
              <a:srgbClr val="F1CFC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300" b="1">
                <a:solidFill>
                  <a:srgbClr val="D9261C"/>
                </a:solidFill>
                <a:latin typeface="Arial"/>
              </a:defRPr>
            </a:pPr>
            <a:r>
              <a:t>New routing feature</a:t>
            </a:r>
          </a:p>
        </p:txBody>
      </p:sp>
      <p:sp>
        <p:nvSpPr>
          <p:cNvPr id="11" name="Rectangle 10"/>
          <p:cNvSpPr/>
          <p:nvPr/>
        </p:nvSpPr>
        <p:spPr>
          <a:xfrm>
            <a:off x="3246120" y="2606040"/>
            <a:ext cx="2148840" cy="960120"/>
          </a:xfrm>
          <a:prstGeom prst="rect">
            <a:avLst/>
          </a:prstGeom>
          <a:solidFill>
            <a:srgbClr val="FDF7F6"/>
          </a:solidFill>
          <a:ln w="12700">
            <a:solidFill>
              <a:srgbClr val="F1CFC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300" b="1">
                <a:solidFill>
                  <a:srgbClr val="D9261C"/>
                </a:solidFill>
                <a:latin typeface="Arial"/>
              </a:defRPr>
            </a:pPr>
            <a:r>
              <a:t>Inconsistent deployment</a:t>
            </a:r>
          </a:p>
        </p:txBody>
      </p:sp>
      <p:sp>
        <p:nvSpPr>
          <p:cNvPr id="12" name="Rectangle 11"/>
          <p:cNvSpPr/>
          <p:nvPr/>
        </p:nvSpPr>
        <p:spPr>
          <a:xfrm>
            <a:off x="5989320" y="2606040"/>
            <a:ext cx="2148840" cy="960120"/>
          </a:xfrm>
          <a:prstGeom prst="rect">
            <a:avLst/>
          </a:prstGeom>
          <a:solidFill>
            <a:srgbClr val="FDF7F6"/>
          </a:solidFill>
          <a:ln w="12700">
            <a:solidFill>
              <a:srgbClr val="F1CFC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300" b="1">
                <a:solidFill>
                  <a:srgbClr val="D9261C"/>
                </a:solidFill>
                <a:latin typeface="Arial"/>
              </a:defRPr>
            </a:pPr>
            <a:r>
              <a:t>Old function activated</a:t>
            </a:r>
          </a:p>
        </p:txBody>
      </p:sp>
      <p:sp>
        <p:nvSpPr>
          <p:cNvPr id="13" name="Rectangle 12"/>
          <p:cNvSpPr/>
          <p:nvPr/>
        </p:nvSpPr>
        <p:spPr>
          <a:xfrm>
            <a:off x="8732520" y="2606040"/>
            <a:ext cx="2148840" cy="960120"/>
          </a:xfrm>
          <a:prstGeom prst="rect">
            <a:avLst/>
          </a:prstGeom>
          <a:solidFill>
            <a:srgbClr val="FDF7F6"/>
          </a:solidFill>
          <a:ln w="12700">
            <a:solidFill>
              <a:srgbClr val="F1CFC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300" b="1">
                <a:solidFill>
                  <a:srgbClr val="D9261C"/>
                </a:solidFill>
                <a:latin typeface="Arial"/>
              </a:defRPr>
            </a:pPr>
            <a:r>
              <a:t>Unexpected orders</a:t>
            </a:r>
          </a:p>
        </p:txBody>
      </p:sp>
      <p:sp>
        <p:nvSpPr>
          <p:cNvPr id="14" name="Rectangle 13"/>
          <p:cNvSpPr/>
          <p:nvPr/>
        </p:nvSpPr>
        <p:spPr>
          <a:xfrm>
            <a:off x="502920" y="4059935"/>
            <a:ext cx="5486400" cy="138988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HIDDEN DEPENDENCIES</a:t>
            </a:r>
          </a:p>
          <a:p>
            <a:pPr algn="l">
              <a:spcBef>
                <a:spcPts val="0"/>
              </a:spcBef>
              <a:spcAft>
                <a:spcPts val="500"/>
              </a:spcAft>
            </a:pPr>
            <a:r>
              <a:rPr sz="1500" b="1">
                <a:solidFill>
                  <a:srgbClr val="091F4E"/>
                </a:solidFill>
                <a:latin typeface="Arial"/>
              </a:rPr>
              <a:t>Technical relevance</a:t>
            </a:r>
          </a:p>
          <a:p>
            <a:pPr algn="l">
              <a:spcBef>
                <a:spcPts val="0"/>
              </a:spcBef>
              <a:spcAft>
                <a:spcPts val="220"/>
              </a:spcAft>
            </a:pPr>
            <a:r>
              <a:rPr sz="1050" b="0">
                <a:solidFill>
                  <a:srgbClr val="233045"/>
                </a:solidFill>
                <a:latin typeface="Arial"/>
              </a:rPr>
              <a:t>Control flags, old code and release state were coupled in ways that mattered operationally.</a:t>
            </a:r>
          </a:p>
        </p:txBody>
      </p:sp>
      <p:sp>
        <p:nvSpPr>
          <p:cNvPr id="15" name="Rectangle 14"/>
          <p:cNvSpPr/>
          <p:nvPr/>
        </p:nvSpPr>
        <p:spPr>
          <a:xfrm>
            <a:off x="6217920" y="4059935"/>
            <a:ext cx="5486400" cy="138988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VERIFICATION &amp; OPERATIONS</a:t>
            </a:r>
          </a:p>
          <a:p>
            <a:pPr algn="l">
              <a:spcBef>
                <a:spcPts val="0"/>
              </a:spcBef>
              <a:spcAft>
                <a:spcPts val="500"/>
              </a:spcAft>
            </a:pPr>
            <a:r>
              <a:rPr sz="1500" b="1">
                <a:solidFill>
                  <a:srgbClr val="091F4E"/>
                </a:solidFill>
                <a:latin typeface="Arial"/>
              </a:rPr>
              <a:t>Our callback</a:t>
            </a:r>
          </a:p>
          <a:p>
            <a:pPr algn="l">
              <a:spcBef>
                <a:spcPts val="0"/>
              </a:spcBef>
              <a:spcAft>
                <a:spcPts val="220"/>
              </a:spcAft>
            </a:pPr>
            <a:r>
              <a:rPr sz="1050" b="0">
                <a:solidFill>
                  <a:srgbClr val="233045"/>
                </a:solidFill>
                <a:latin typeface="Arial"/>
              </a:rPr>
              <a:t>Boundary clarity helps, but deployment consistency, controls and end-to-end validation remain necessary.</a:t>
            </a:r>
          </a:p>
        </p:txBody>
      </p:sp>
      <p:sp>
        <p:nvSpPr>
          <p:cNvPr id="16" name="TextBox 15"/>
          <p:cNvSpPr txBox="1"/>
          <p:nvPr/>
        </p:nvSpPr>
        <p:spPr>
          <a:xfrm>
            <a:off x="530352" y="5687568"/>
            <a:ext cx="10972800" cy="402336"/>
          </a:xfrm>
          <a:prstGeom prst="rect">
            <a:avLst/>
          </a:prstGeom>
          <a:noFill/>
        </p:spPr>
        <p:txBody>
          <a:bodyPr wrap="square" anchor="t" lIns="27432" rIns="27432" tIns="27432" bIns="27432">
            <a:spAutoFit/>
          </a:bodyPr>
          <a:lstStyle/>
          <a:p>
            <a:pPr algn="l">
              <a:spcBef>
                <a:spcPts val="0"/>
              </a:spcBef>
              <a:spcAft>
                <a:spcPts val="0"/>
              </a:spcAft>
              <a:defRPr sz="1300" b="1" i="0">
                <a:solidFill>
                  <a:srgbClr val="122D5B"/>
                </a:solidFill>
                <a:latin typeface="Arial"/>
              </a:defRPr>
            </a:pPr>
            <a:r>
              <a:t>SEC reported more than four million orders in the first 45 minutes and a loss greater than $460m.</a:t>
            </a:r>
          </a:p>
        </p:txBody>
      </p:sp>
      <p:sp>
        <p:nvSpPr>
          <p:cNvPr id="17" name="TextBox 16"/>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ENGINEERING LESSONS</a:t>
            </a:r>
          </a:p>
        </p:txBody>
      </p:sp>
      <p:sp>
        <p:nvSpPr>
          <p:cNvPr id="18" name="TextBox 17"/>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914400"/>
            <a:ext cx="2011680" cy="1005840"/>
          </a:xfrm>
          <a:prstGeom prst="rect">
            <a:avLst/>
          </a:prstGeom>
          <a:noFill/>
        </p:spPr>
        <p:txBody>
          <a:bodyPr wrap="square" anchor="t" lIns="27432" rIns="27432" tIns="27432" bIns="27432">
            <a:spAutoFit/>
          </a:bodyPr>
          <a:lstStyle/>
          <a:p>
            <a:pPr algn="l">
              <a:spcBef>
                <a:spcPts val="0"/>
              </a:spcBef>
              <a:spcAft>
                <a:spcPts val="0"/>
              </a:spcAft>
              <a:defRPr sz="6000" b="1" i="0">
                <a:solidFill>
                  <a:srgbClr val="DAE7F6"/>
                </a:solidFill>
                <a:latin typeface="Arial"/>
              </a:defRPr>
            </a:pPr>
            <a:r>
              <a:t>05</a:t>
            </a:r>
          </a:p>
        </p:txBody>
      </p:sp>
      <p:sp>
        <p:nvSpPr>
          <p:cNvPr id="3" name="TextBox 2"/>
          <p:cNvSpPr txBox="1"/>
          <p:nvPr/>
        </p:nvSpPr>
        <p:spPr>
          <a:xfrm>
            <a:off x="2514600" y="1051560"/>
            <a:ext cx="8778240" cy="1097280"/>
          </a:xfrm>
          <a:prstGeom prst="rect">
            <a:avLst/>
          </a:prstGeom>
          <a:noFill/>
        </p:spPr>
        <p:txBody>
          <a:bodyPr wrap="square" anchor="t" lIns="27432" rIns="27432" tIns="27432" bIns="27432">
            <a:spAutoFit/>
          </a:bodyPr>
          <a:lstStyle/>
          <a:p>
            <a:pPr algn="l">
              <a:spcBef>
                <a:spcPts val="0"/>
              </a:spcBef>
              <a:spcAft>
                <a:spcPts val="0"/>
              </a:spcAft>
              <a:defRPr sz="3100" b="0" i="0">
                <a:solidFill>
                  <a:srgbClr val="2D63DA"/>
                </a:solidFill>
                <a:latin typeface="Arial"/>
              </a:defRPr>
            </a:pPr>
            <a:r>
              <a:t>Treat Testing with the Same Priority as Development</a:t>
            </a:r>
          </a:p>
        </p:txBody>
      </p:sp>
      <p:sp>
        <p:nvSpPr>
          <p:cNvPr id="4" name="TextBox 3"/>
          <p:cNvSpPr txBox="1"/>
          <p:nvPr/>
        </p:nvSpPr>
        <p:spPr>
          <a:xfrm>
            <a:off x="2542032" y="2286000"/>
            <a:ext cx="8046720" cy="502920"/>
          </a:xfrm>
          <a:prstGeom prst="rect">
            <a:avLst/>
          </a:prstGeom>
          <a:noFill/>
        </p:spPr>
        <p:txBody>
          <a:bodyPr wrap="square" anchor="t" lIns="27432" rIns="27432" tIns="27432" bIns="27432">
            <a:spAutoFit/>
          </a:bodyPr>
          <a:lstStyle/>
          <a:p>
            <a:pPr algn="l">
              <a:spcBef>
                <a:spcPts val="0"/>
              </a:spcBef>
              <a:spcAft>
                <a:spcPts val="0"/>
              </a:spcAft>
              <a:defRPr sz="1600" b="0" i="0">
                <a:solidFill>
                  <a:srgbClr val="6F757C"/>
                </a:solidFill>
                <a:latin typeface="Arial"/>
              </a:defRPr>
            </a:pPr>
            <a:r>
              <a:t>Designing for change  •  research agility</a:t>
            </a:r>
          </a:p>
        </p:txBody>
      </p:sp>
      <p:sp>
        <p:nvSpPr>
          <p:cNvPr id="5" name="Rectangle 4"/>
          <p:cNvSpPr/>
          <p:nvPr/>
        </p:nvSpPr>
        <p:spPr>
          <a:xfrm>
            <a:off x="2542032" y="3090672"/>
            <a:ext cx="7772400" cy="25603"/>
          </a:xfrm>
          <a:prstGeom prst="rect">
            <a:avLst/>
          </a:prstGeom>
          <a:solidFill>
            <a:srgbClr val="2D6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5486400" cy="201168"/>
          </a:xfrm>
          <a:prstGeom prst="rect">
            <a:avLst/>
          </a:prstGeom>
          <a:noFill/>
        </p:spPr>
        <p:txBody>
          <a:bodyPr wrap="square" anchor="t" lIns="27432" rIns="27432" tIns="27432" bIns="27432">
            <a:spAutoFit/>
          </a:bodyPr>
          <a:lstStyle/>
          <a:p>
            <a:pPr algn="l">
              <a:spcBef>
                <a:spcPts val="0"/>
              </a:spcBef>
              <a:spcAft>
                <a:spcPts val="0"/>
              </a:spcAft>
              <a:defRPr sz="900" b="1" i="0">
                <a:solidFill>
                  <a:srgbClr val="6F757C"/>
                </a:solidFill>
                <a:latin typeface="Arial"/>
              </a:defRPr>
            </a:pPr>
            <a:r>
              <a:t>05 / TESTING</a:t>
            </a:r>
          </a:p>
        </p:txBody>
      </p:sp>
      <p:sp>
        <p:nvSpPr>
          <p:cNvPr id="7" name="TextBox 6"/>
          <p:cNvSpPr txBox="1"/>
          <p:nvPr/>
        </p:nvSpPr>
        <p:spPr>
          <a:xfrm>
            <a:off x="11384280" y="6510528"/>
            <a:ext cx="411480" cy="201168"/>
          </a:xfrm>
          <a:prstGeom prst="rect">
            <a:avLst/>
          </a:prstGeom>
          <a:noFill/>
        </p:spPr>
        <p:txBody>
          <a:bodyPr wrap="square" anchor="t" lIns="27432" rIns="27432" tIns="27432" bIns="27432">
            <a:spAutoFit/>
          </a:bodyPr>
          <a:lstStyle/>
          <a:p>
            <a:pPr algn="r">
              <a:spcBef>
                <a:spcPts val="0"/>
              </a:spcBef>
              <a:spcAft>
                <a:spcPts val="0"/>
              </a:spcAft>
              <a:defRPr sz="900" b="0" i="0">
                <a:solidFill>
                  <a:srgbClr val="6F757C"/>
                </a:solidFill>
                <a:latin typeface="Arial"/>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05 / TESTING</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32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Clear boundaries make testing easier to design and reuse</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673352"/>
          <a:ext cx="11155680" cy="2331720"/>
        </p:xfrm>
        <a:graphic>
          <a:graphicData uri="http://schemas.openxmlformats.org/drawingml/2006/table">
            <a:tbl>
              <a:tblPr firstRow="1" bandRow="1">
                <a:tableStyleId>{5C22544A-7EE6-4342-B048-85BDC9FD1C3A}</a:tableStyleId>
              </a:tblPr>
              <a:tblGrid>
                <a:gridCol w="5577840"/>
                <a:gridCol w="5577840"/>
              </a:tblGrid>
              <a:tr h="777240">
                <a:tc>
                  <a:txBody>
                    <a:bodyPr/>
                    <a:lstStyle/>
                    <a:p>
                      <a:pPr>
                        <a:defRPr sz="1300" b="1">
                          <a:solidFill>
                            <a:srgbClr val="FFFFFF"/>
                          </a:solidFill>
                          <a:latin typeface="Arial"/>
                        </a:defRPr>
                      </a:pPr>
                      <a:r>
                        <a:t>WHEN BOUNDARIES ARE UNCLEAR</a:t>
                      </a:r>
                    </a:p>
                  </a:txBody>
                  <a:tcPr marL="91440" marR="91440" marT="54864" marB="54864">
                    <a:solidFill>
                      <a:srgbClr val="2D63DA"/>
                    </a:solidFill>
                  </a:tcPr>
                </a:tc>
                <a:tc>
                  <a:txBody>
                    <a:bodyPr/>
                    <a:lstStyle/>
                    <a:p>
                      <a:pPr>
                        <a:defRPr sz="1300" b="1">
                          <a:solidFill>
                            <a:srgbClr val="FFFFFF"/>
                          </a:solidFill>
                          <a:latin typeface="Arial"/>
                        </a:defRPr>
                      </a:pPr>
                      <a:r>
                        <a:t>WITH DEPENDABLE BOUNDARIES</a:t>
                      </a:r>
                    </a:p>
                  </a:txBody>
                  <a:tcPr marL="91440" marR="91440" marT="54864" marB="54864">
                    <a:solidFill>
                      <a:srgbClr val="2D63DA"/>
                    </a:solidFill>
                  </a:tcPr>
                </a:tc>
              </a:tr>
              <a:tr h="777240">
                <a:tc>
                  <a:txBody>
                    <a:bodyPr/>
                    <a:lstStyle/>
                    <a:p>
                      <a:pPr>
                        <a:defRPr sz="1200" b="1">
                          <a:solidFill>
                            <a:srgbClr val="122D5B"/>
                          </a:solidFill>
                          <a:latin typeface="Arial"/>
                        </a:defRPr>
                      </a:pPr>
                      <a:r>
                        <a:t>Every change needs a new investigation</a:t>
                      </a:r>
                    </a:p>
                    <a:p>
                      <a:pPr>
                        <a:defRPr sz="1200" b="0">
                          <a:solidFill>
                            <a:srgbClr val="252A30"/>
                          </a:solidFill>
                          <a:latin typeface="Arial"/>
                        </a:defRPr>
                      </a:pPr>
                      <a:r>
                        <a:t>• Test setup depends on distant nodes and shared state</a:t>
                      </a:r>
                    </a:p>
                    <a:p>
                      <a:pPr>
                        <a:defRPr sz="1200" b="0">
                          <a:solidFill>
                            <a:srgbClr val="252A30"/>
                          </a:solidFill>
                          <a:latin typeface="Arial"/>
                        </a:defRPr>
                      </a:pPr>
                      <a:r>
                        <a:t>• Expected behaviour is scattered across the workflow</a:t>
                      </a:r>
                    </a:p>
                    <a:p>
                      <a:pPr>
                        <a:defRPr sz="1200" b="0">
                          <a:solidFill>
                            <a:srgbClr val="252A30"/>
                          </a:solidFill>
                          <a:latin typeface="Arial"/>
                        </a:defRPr>
                      </a:pPr>
                      <a:r>
                        <a:t>• Failures are harder to explain and locate</a:t>
                      </a:r>
                    </a:p>
                  </a:txBody>
                  <a:tcPr marL="91440" marR="91440" marT="54864" marB="54864">
                    <a:solidFill>
                      <a:srgbClr val="F7F9FB"/>
                    </a:solidFill>
                  </a:tcPr>
                </a:tc>
                <a:tc>
                  <a:txBody>
                    <a:bodyPr/>
                    <a:lstStyle/>
                    <a:p>
                      <a:pPr>
                        <a:defRPr sz="1200" b="1">
                          <a:solidFill>
                            <a:srgbClr val="122D5B"/>
                          </a:solidFill>
                          <a:latin typeface="Arial"/>
                        </a:defRPr>
                      </a:pPr>
                      <a:r>
                        <a:t>Test against an agreed contract</a:t>
                      </a:r>
                    </a:p>
                    <a:p>
                      <a:pPr>
                        <a:defRPr sz="1200" b="0">
                          <a:solidFill>
                            <a:srgbClr val="252A30"/>
                          </a:solidFill>
                          <a:latin typeface="Arial"/>
                        </a:defRPr>
                      </a:pPr>
                      <a:r>
                        <a:t>• Defined inputs, outputs, resets and allowed effects</a:t>
                      </a:r>
                    </a:p>
                    <a:p>
                      <a:pPr>
                        <a:defRPr sz="1200" b="0">
                          <a:solidFill>
                            <a:srgbClr val="252A30"/>
                          </a:solidFill>
                          <a:latin typeface="Arial"/>
                        </a:defRPr>
                      </a:pPr>
                      <a:r>
                        <a:t>• One boundary test suite can check compatible variants</a:t>
                      </a:r>
                    </a:p>
                    <a:p>
                      <a:pPr>
                        <a:defRPr sz="1200" b="0">
                          <a:solidFill>
                            <a:srgbClr val="252A30"/>
                          </a:solidFill>
                          <a:latin typeface="Arial"/>
                        </a:defRPr>
                      </a:pPr>
                      <a:r>
                        <a:t>• Intentional differences are easier to identify</a:t>
                      </a:r>
                    </a:p>
                  </a:txBody>
                  <a:tcPr marL="91440" marR="91440" marT="54864" marB="54864">
                    <a:solidFill>
                      <a:srgbClr val="F7F9FB"/>
                    </a:solidFill>
                  </a:tcPr>
                </a:tc>
              </a:tr>
              <a:tr h="777240">
                <a:tc gridSpan="2">
                  <a:txBody>
                    <a:bodyPr/>
                    <a:lstStyle/>
                    <a:p>
                      <a:pPr>
                        <a:defRPr sz="1300" b="1">
                          <a:solidFill>
                            <a:srgbClr val="122D5B"/>
                          </a:solidFill>
                          <a:latin typeface="Arial"/>
                        </a:defRPr>
                      </a:pPr>
                      <a:r>
                        <a:t>COMPLEMENTARY LAYERS OF EVIDENCE</a:t>
                      </a:r>
                    </a:p>
                  </a:txBody>
                  <a:tcPr marL="91440" marR="91440" marT="54864" marB="54864">
                    <a:solidFill>
                      <a:srgbClr val="FFFFFF"/>
                    </a:solidFill>
                  </a:tcPr>
                </a:tc>
                <a:tc hMerge="1">
                  <a:txBody>
                    <a:bodyPr/>
                    <a:lstStyle/>
                    <a:p>
                      <a:pPr>
                        <a:defRPr sz="1300" b="1">
                          <a:solidFill>
                            <a:srgbClr val="122D5B"/>
                          </a:solidFill>
                          <a:latin typeface="Arial"/>
                        </a:defRPr>
                      </a:pPr>
                    </a:p>
                  </a:txBody>
                  <a:tcPr marL="91440" marR="91440" marT="54864" marB="54864">
                    <a:solidFill>
                      <a:srgbClr val="FFFFFF"/>
                    </a:solidFill>
                  </a:tcPr>
                </a:tc>
              </a:tr>
            </a:tbl>
          </a:graphicData>
        </a:graphic>
      </p:graphicFrame>
      <p:graphicFrame>
        <p:nvGraphicFramePr>
          <p:cNvPr id="7" name="Table 6"/>
          <p:cNvGraphicFramePr>
            <a:graphicFrameLocks noGrp="1"/>
          </p:cNvGraphicFramePr>
          <p:nvPr/>
        </p:nvGraphicFramePr>
        <p:xfrm>
          <a:off x="749808" y="4261104"/>
          <a:ext cx="7863840" cy="1234440"/>
        </p:xfrm>
        <a:graphic>
          <a:graphicData uri="http://schemas.openxmlformats.org/drawingml/2006/table">
            <a:tbl>
              <a:tblPr firstRow="1" bandRow="1">
                <a:tableStyleId>{5C22544A-7EE6-4342-B048-85BDC9FD1C3A}</a:tableStyleId>
              </a:tblPr>
              <a:tblGrid>
                <a:gridCol w="2423160"/>
                <a:gridCol w="5440680"/>
              </a:tblGrid>
              <a:tr h="411480">
                <a:tc>
                  <a:txBody>
                    <a:bodyPr/>
                    <a:lstStyle/>
                    <a:p>
                      <a:pPr>
                        <a:defRPr sz="1200" b="1">
                          <a:solidFill>
                            <a:srgbClr val="122D5B"/>
                          </a:solidFill>
                          <a:latin typeface="Arial"/>
                        </a:defRPr>
                      </a:pPr>
                      <a:r>
                        <a:t>Boundary tests</a:t>
                      </a:r>
                    </a:p>
                  </a:txBody>
                  <a:tcPr>
                    <a:solidFill>
                      <a:srgbClr val="F7F9FB"/>
                    </a:solidFill>
                  </a:tcPr>
                </a:tc>
                <a:tc>
                  <a:txBody>
                    <a:bodyPr/>
                    <a:lstStyle/>
                    <a:p>
                      <a:pPr>
                        <a:defRPr sz="1200" b="0">
                          <a:solidFill>
                            <a:srgbClr val="252A30"/>
                          </a:solidFill>
                          <a:latin typeface="Arial"/>
                        </a:defRPr>
                      </a:pPr>
                      <a:r>
                        <a:t>Shared contract and state lifecycle</a:t>
                      </a:r>
                    </a:p>
                  </a:txBody>
                  <a:tcPr>
                    <a:solidFill>
                      <a:srgbClr val="F7F9FB"/>
                    </a:solidFill>
                  </a:tcPr>
                </a:tc>
              </a:tr>
              <a:tr h="411480">
                <a:tc>
                  <a:txBody>
                    <a:bodyPr/>
                    <a:lstStyle/>
                    <a:p>
                      <a:pPr>
                        <a:defRPr sz="1200" b="1">
                          <a:solidFill>
                            <a:srgbClr val="122D5B"/>
                          </a:solidFill>
                          <a:latin typeface="Arial"/>
                        </a:defRPr>
                      </a:pPr>
                      <a:r>
                        <a:t>Variant tests</a:t>
                      </a:r>
                    </a:p>
                  </a:txBody>
                  <a:tcPr>
                    <a:solidFill>
                      <a:srgbClr val="FFFFFF"/>
                    </a:solidFill>
                  </a:tcPr>
                </a:tc>
                <a:tc>
                  <a:txBody>
                    <a:bodyPr/>
                    <a:lstStyle/>
                    <a:p>
                      <a:pPr>
                        <a:defRPr sz="1200" b="0">
                          <a:solidFill>
                            <a:srgbClr val="252A30"/>
                          </a:solidFill>
                          <a:latin typeface="Arial"/>
                        </a:defRPr>
                      </a:pPr>
                      <a:r>
                        <a:t>Expected new feature behaviour</a:t>
                      </a:r>
                    </a:p>
                  </a:txBody>
                  <a:tcPr>
                    <a:solidFill>
                      <a:srgbClr val="FFFFFF"/>
                    </a:solidFill>
                  </a:tcPr>
                </a:tc>
              </a:tr>
              <a:tr h="411480">
                <a:tc>
                  <a:txBody>
                    <a:bodyPr/>
                    <a:lstStyle/>
                    <a:p>
                      <a:pPr>
                        <a:defRPr sz="1200" b="1">
                          <a:solidFill>
                            <a:srgbClr val="122D5B"/>
                          </a:solidFill>
                          <a:latin typeface="Arial"/>
                        </a:defRPr>
                      </a:pPr>
                      <a:r>
                        <a:t>Graph-level replay</a:t>
                      </a:r>
                    </a:p>
                  </a:txBody>
                  <a:tcPr>
                    <a:solidFill>
                      <a:srgbClr val="F7F9FB"/>
                    </a:solidFill>
                  </a:tcPr>
                </a:tc>
                <a:tc>
                  <a:txBody>
                    <a:bodyPr/>
                    <a:lstStyle/>
                    <a:p>
                      <a:pPr>
                        <a:defRPr sz="1200" b="0">
                          <a:solidFill>
                            <a:srgbClr val="252A30"/>
                          </a:solidFill>
                          <a:latin typeface="Arial"/>
                        </a:defRPr>
                      </a:pPr>
                      <a:r>
                        <a:t>Interactions and regression</a:t>
                      </a:r>
                    </a:p>
                  </a:txBody>
                  <a:tcPr>
                    <a:solidFill>
                      <a:srgbClr val="F7F9FB"/>
                    </a:solidFill>
                  </a:tcPr>
                </a:tc>
              </a:tr>
            </a:tbl>
          </a:graphicData>
        </a:graphic>
      </p:graphicFrame>
      <p:sp>
        <p:nvSpPr>
          <p:cNvPr id="8" name="Rectangle 7"/>
          <p:cNvSpPr/>
          <p:nvPr/>
        </p:nvSpPr>
        <p:spPr>
          <a:xfrm>
            <a:off x="8869680" y="4261104"/>
            <a:ext cx="2788920" cy="1234440"/>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230" b="1">
                <a:solidFill>
                  <a:srgbClr val="122D5B"/>
                </a:solidFill>
                <a:latin typeface="Arial"/>
              </a:defRPr>
            </a:pPr>
            <a:r>
              <a:t>Better boundaries reduce ambiguity in test design; they complement rather than replace system-level testing.</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TESTING</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05 / TESTING</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33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A production-faithful simulator makes regression testing repeatable</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84248"/>
            <a:ext cx="4023360" cy="201168"/>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DETERMINISTIC EVENT REPLAY / BACKTEST HARNESS</a:t>
            </a:r>
          </a:p>
        </p:txBody>
      </p:sp>
      <p:cxnSp>
        <p:nvCxnSpPr>
          <p:cNvPr id="7" name="Connector 6"/>
          <p:cNvCxnSpPr/>
          <p:nvPr/>
        </p:nvCxnSpPr>
        <p:spPr>
          <a:xfrm>
            <a:off x="2651760" y="3145536"/>
            <a:ext cx="59436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394960" y="3145536"/>
            <a:ext cx="59436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138160" y="3145536"/>
            <a:ext cx="594360" cy="0"/>
          </a:xfrm>
          <a:prstGeom prst="line">
            <a:avLst/>
          </a:prstGeom>
          <a:ln w="2032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02920" y="2670048"/>
            <a:ext cx="2148840" cy="96012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Event sequence</a:t>
            </a:r>
          </a:p>
          <a:p>
            <a:pPr algn="l">
              <a:spcBef>
                <a:spcPts val="0"/>
              </a:spcBef>
              <a:spcAft>
                <a:spcPts val="200"/>
              </a:spcAft>
            </a:pPr>
            <a:r>
              <a:rPr sz="960" b="0">
                <a:solidFill>
                  <a:srgbClr val="233045"/>
                </a:solidFill>
                <a:latin typeface="Arial"/>
              </a:rPr>
              <a:t>Order, timing, resets</a:t>
            </a:r>
          </a:p>
        </p:txBody>
      </p:sp>
      <p:sp>
        <p:nvSpPr>
          <p:cNvPr id="11" name="Rectangle 10"/>
          <p:cNvSpPr/>
          <p:nvPr/>
        </p:nvSpPr>
        <p:spPr>
          <a:xfrm>
            <a:off x="3246120" y="2670048"/>
            <a:ext cx="2148840" cy="96012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Same business graph</a:t>
            </a:r>
          </a:p>
          <a:p>
            <a:pPr algn="l">
              <a:spcBef>
                <a:spcPts val="0"/>
              </a:spcBef>
              <a:spcAft>
                <a:spcPts val="200"/>
              </a:spcAft>
            </a:pPr>
            <a:r>
              <a:rPr sz="960" b="0">
                <a:solidFill>
                  <a:srgbClr val="233045"/>
                </a:solidFill>
                <a:latin typeface="Arial"/>
              </a:rPr>
              <a:t>Candidate and reference</a:t>
            </a:r>
          </a:p>
        </p:txBody>
      </p:sp>
      <p:sp>
        <p:nvSpPr>
          <p:cNvPr id="12" name="Rectangle 11"/>
          <p:cNvSpPr/>
          <p:nvPr/>
        </p:nvSpPr>
        <p:spPr>
          <a:xfrm>
            <a:off x="5989320" y="2670048"/>
            <a:ext cx="2148840" cy="96012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Behavioural traces</a:t>
            </a:r>
          </a:p>
          <a:p>
            <a:pPr algn="l">
              <a:spcBef>
                <a:spcPts val="0"/>
              </a:spcBef>
              <a:spcAft>
                <a:spcPts val="200"/>
              </a:spcAft>
            </a:pPr>
            <a:r>
              <a:rPr sz="960" b="0">
                <a:solidFill>
                  <a:srgbClr val="233045"/>
                </a:solidFill>
                <a:latin typeface="Arial"/>
              </a:rPr>
              <a:t>Events, state, outputs</a:t>
            </a:r>
          </a:p>
        </p:txBody>
      </p:sp>
      <p:sp>
        <p:nvSpPr>
          <p:cNvPr id="13" name="Rectangle 12"/>
          <p:cNvSpPr/>
          <p:nvPr/>
        </p:nvSpPr>
        <p:spPr>
          <a:xfrm>
            <a:off x="8732520" y="2670048"/>
            <a:ext cx="2148840" cy="96012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300" b="1">
                <a:solidFill>
                  <a:srgbClr val="122D5B"/>
                </a:solidFill>
                <a:latin typeface="Arial"/>
              </a:defRPr>
            </a:pPr>
            <a:r>
              <a:rPr sz="1300" b="1">
                <a:solidFill>
                  <a:srgbClr val="091F4E"/>
                </a:solidFill>
                <a:latin typeface="Arial"/>
              </a:rPr>
              <a:t>Regression checks</a:t>
            </a:r>
          </a:p>
          <a:p>
            <a:pPr algn="l">
              <a:spcBef>
                <a:spcPts val="0"/>
              </a:spcBef>
              <a:spcAft>
                <a:spcPts val="200"/>
              </a:spcAft>
            </a:pPr>
            <a:r>
              <a:rPr sz="960" b="0">
                <a:solidFill>
                  <a:srgbClr val="233045"/>
                </a:solidFill>
                <a:latin typeface="Arial"/>
              </a:rPr>
              <a:t>Expected and intended differences</a:t>
            </a:r>
          </a:p>
        </p:txBody>
      </p:sp>
      <p:sp>
        <p:nvSpPr>
          <p:cNvPr id="14" name="Rectangle 13"/>
          <p:cNvSpPr/>
          <p:nvPr/>
        </p:nvSpPr>
        <p:spPr>
          <a:xfrm>
            <a:off x="502920" y="4069080"/>
            <a:ext cx="5486400" cy="137160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SIMULATOR / CI</a:t>
            </a:r>
          </a:p>
          <a:p>
            <a:pPr algn="l">
              <a:spcBef>
                <a:spcPts val="0"/>
              </a:spcBef>
              <a:spcAft>
                <a:spcPts val="500"/>
              </a:spcAft>
            </a:pPr>
            <a:r>
              <a:rPr sz="1500" b="1">
                <a:solidFill>
                  <a:srgbClr val="091F4E"/>
                </a:solidFill>
                <a:latin typeface="Arial"/>
              </a:rPr>
              <a:t>Software regression</a:t>
            </a:r>
          </a:p>
          <a:p>
            <a:pPr algn="l">
              <a:spcBef>
                <a:spcPts val="0"/>
              </a:spcBef>
              <a:spcAft>
                <a:spcPts val="220"/>
              </a:spcAft>
            </a:pPr>
            <a:r>
              <a:rPr sz="1050" b="0">
                <a:solidFill>
                  <a:srgbClr val="233045"/>
                </a:solidFill>
                <a:latin typeface="Arial"/>
              </a:rPr>
              <a:t>Did the intended behaviour change without unintended changes to the wider workflow?</a:t>
            </a:r>
          </a:p>
        </p:txBody>
      </p:sp>
      <p:sp>
        <p:nvSpPr>
          <p:cNvPr id="15" name="Rectangle 14"/>
          <p:cNvSpPr/>
          <p:nvPr/>
        </p:nvSpPr>
        <p:spPr>
          <a:xfrm>
            <a:off x="6217920" y="4069080"/>
            <a:ext cx="5486400" cy="137160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LATER OPERATIONAL CHECK</a:t>
            </a:r>
          </a:p>
          <a:p>
            <a:pPr algn="l">
              <a:spcBef>
                <a:spcPts val="0"/>
              </a:spcBef>
              <a:spcAft>
                <a:spcPts val="500"/>
              </a:spcAft>
            </a:pPr>
            <a:r>
              <a:rPr sz="1500" b="1">
                <a:solidFill>
                  <a:srgbClr val="091F4E"/>
                </a:solidFill>
                <a:latin typeface="Arial"/>
              </a:rPr>
              <a:t>UAT</a:t>
            </a:r>
          </a:p>
          <a:p>
            <a:pPr algn="l">
              <a:spcBef>
                <a:spcPts val="0"/>
              </a:spcBef>
              <a:spcAft>
                <a:spcPts val="220"/>
              </a:spcAft>
            </a:pPr>
            <a:r>
              <a:rPr sz="1050" b="0">
                <a:solidFill>
                  <a:srgbClr val="233045"/>
                </a:solidFill>
                <a:latin typeface="Arial"/>
              </a:rPr>
              <a:t>Useful for environment integration, deployment, connectivity and operational workflows; not the primary business-logic test environment.</a:t>
            </a:r>
          </a:p>
        </p:txBody>
      </p:sp>
      <p:sp>
        <p:nvSpPr>
          <p:cNvPr id="16" name="TextBox 15"/>
          <p:cNvSpPr txBox="1"/>
          <p:nvPr/>
        </p:nvSpPr>
        <p:spPr>
          <a:xfrm>
            <a:off x="530352" y="5687568"/>
            <a:ext cx="10972800" cy="411480"/>
          </a:xfrm>
          <a:prstGeom prst="rect">
            <a:avLst/>
          </a:prstGeom>
          <a:noFill/>
        </p:spPr>
        <p:txBody>
          <a:bodyPr wrap="square" anchor="t" lIns="27432" rIns="27432" tIns="27432" bIns="27432">
            <a:spAutoFit/>
          </a:bodyPr>
          <a:lstStyle/>
          <a:p>
            <a:pPr algn="l">
              <a:spcBef>
                <a:spcPts val="0"/>
              </a:spcBef>
              <a:spcAft>
                <a:spcPts val="0"/>
              </a:spcAft>
              <a:defRPr sz="1330" b="1" i="0">
                <a:solidFill>
                  <a:srgbClr val="122D5B"/>
                </a:solidFill>
                <a:latin typeface="Arial"/>
              </a:defRPr>
            </a:pPr>
            <a:r>
              <a:t>As experimentation accelerates, trustworthy simulation becomes increasingly valuable.</a:t>
            </a:r>
          </a:p>
        </p:txBody>
      </p:sp>
      <p:sp>
        <p:nvSpPr>
          <p:cNvPr id="17" name="TextBox 16"/>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TESTING</a:t>
            </a:r>
          </a:p>
        </p:txBody>
      </p:sp>
      <p:sp>
        <p:nvSpPr>
          <p:cNvPr id="18" name="TextBox 17"/>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05 / TESTING</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34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Test the shared framework and each feature against clear contracts</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91440"/>
          <a:lstStyle/>
          <a:p>
            <a:pPr algn="r">
              <a:spcBef>
                <a:spcPts val="0"/>
              </a:spcBef>
              <a:spcAft>
                <a:spcPts val="900"/>
              </a:spcAft>
              <a:defRPr sz="950" b="1">
                <a:solidFill>
                  <a:srgbClr val="2D63DA"/>
                </a:solidFill>
                <a:latin typeface="Arial"/>
              </a:defRPr>
            </a:pPr>
            <a:r>
              <a:rPr sz="750" b="1">
                <a:solidFill>
                  <a:srgbClr val="1857CA"/>
                </a:solidFill>
                <a:latin typeface="Arial"/>
              </a:rPr>
              <a:t>FRAMEWORK &amp; BOUNDARY CONTRACTS</a:t>
            </a:r>
          </a:p>
          <a:p>
            <a:pPr algn="l">
              <a:spcBef>
                <a:spcPts val="0"/>
              </a:spcBef>
              <a:spcAft>
                <a:spcPts val="500"/>
              </a:spcAft>
            </a:pPr>
            <a:r>
              <a:rPr sz="1570" b="1">
                <a:solidFill>
                  <a:srgbClr val="091F4E"/>
                </a:solidFill>
                <a:latin typeface="Arial"/>
              </a:rPr>
              <a:t>Test the behaviour we share</a:t>
            </a:r>
          </a:p>
          <a:p>
            <a:pPr algn="l">
              <a:spcBef>
                <a:spcPts val="0"/>
              </a:spcBef>
              <a:spcAft>
                <a:spcPts val="200"/>
              </a:spcAft>
            </a:pPr>
            <a:r>
              <a:rPr sz="1060" b="0">
                <a:solidFill>
                  <a:srgbClr val="233045"/>
                </a:solidFill>
                <a:latin typeface="Arial"/>
              </a:rPr>
              <a:t>Event applicability, ordering and routing</a:t>
            </a:r>
          </a:p>
          <a:p>
            <a:pPr algn="l">
              <a:spcBef>
                <a:spcPts val="0"/>
              </a:spcBef>
              <a:spcAft>
                <a:spcPts val="200"/>
              </a:spcAft>
            </a:pPr>
            <a:r>
              <a:rPr sz="1060" b="0">
                <a:solidFill>
                  <a:srgbClr val="233045"/>
                </a:solidFill>
                <a:latin typeface="Arial"/>
              </a:rPr>
              <a:t>Inputs, outputs, state reset and permitted effects</a:t>
            </a:r>
          </a:p>
          <a:p>
            <a:pPr algn="l">
              <a:spcBef>
                <a:spcPts val="0"/>
              </a:spcBef>
              <a:spcAft>
                <a:spcPts val="200"/>
              </a:spcAft>
            </a:pPr>
            <a:r>
              <a:rPr sz="1060" b="0">
                <a:solidFill>
                  <a:srgbClr val="233045"/>
                </a:solidFill>
                <a:latin typeface="Arial"/>
              </a:rPr>
              <a:t>Run common contract tests for each compatible variant</a:t>
            </a:r>
          </a:p>
          <a:p>
            <a:pPr algn="l">
              <a:spcBef>
                <a:spcPts val="0"/>
              </a:spcBef>
              <a:spcAft>
                <a:spcPts val="200"/>
              </a:spcAft>
            </a:pPr>
            <a:r>
              <a:rPr sz="1060" b="0">
                <a:solidFill>
                  <a:srgbClr val="233045"/>
                </a:solidFill>
                <a:latin typeface="Arial"/>
              </a:rPr>
              <a:t>Simulator fidelity against production behaviour</a:t>
            </a:r>
          </a:p>
        </p:txBody>
      </p:sp>
      <p:sp>
        <p:nvSpPr>
          <p:cNvPr id="7" name="Rectangle 6"/>
          <p:cNvSpPr/>
          <p:nvPr/>
        </p:nvSpPr>
        <p:spPr>
          <a:xfrm>
            <a:off x="6199632"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91440"/>
          <a:lstStyle/>
          <a:p>
            <a:pPr algn="r">
              <a:spcBef>
                <a:spcPts val="0"/>
              </a:spcBef>
              <a:spcAft>
                <a:spcPts val="900"/>
              </a:spcAft>
              <a:defRPr sz="950" b="1">
                <a:solidFill>
                  <a:srgbClr val="2D63DA"/>
                </a:solidFill>
                <a:latin typeface="Arial"/>
              </a:defRPr>
            </a:pPr>
            <a:r>
              <a:rPr sz="750" b="1">
                <a:solidFill>
                  <a:srgbClr val="1857CA"/>
                </a:solidFill>
                <a:latin typeface="Arial"/>
              </a:rPr>
              <a:t>NEW FEATURE OR BUSINESS RULE</a:t>
            </a:r>
          </a:p>
          <a:p>
            <a:pPr algn="l">
              <a:spcBef>
                <a:spcPts val="0"/>
              </a:spcBef>
              <a:spcAft>
                <a:spcPts val="500"/>
              </a:spcAft>
            </a:pPr>
            <a:r>
              <a:rPr sz="1570" b="1">
                <a:solidFill>
                  <a:srgbClr val="091F4E"/>
                </a:solidFill>
                <a:latin typeface="Arial"/>
              </a:rPr>
              <a:t>Test what we intend to change</a:t>
            </a:r>
          </a:p>
          <a:p>
            <a:pPr algn="l">
              <a:spcBef>
                <a:spcPts val="0"/>
              </a:spcBef>
              <a:spcAft>
                <a:spcPts val="200"/>
              </a:spcAft>
            </a:pPr>
            <a:r>
              <a:rPr sz="1060" b="0">
                <a:solidFill>
                  <a:srgbClr val="233045"/>
                </a:solidFill>
                <a:latin typeface="Arial"/>
              </a:rPr>
              <a:t>Representative events and expected results</a:t>
            </a:r>
          </a:p>
          <a:p>
            <a:pPr algn="l">
              <a:spcBef>
                <a:spcPts val="0"/>
              </a:spcBef>
              <a:spcAft>
                <a:spcPts val="200"/>
              </a:spcAft>
            </a:pPr>
            <a:r>
              <a:rPr sz="1060" b="0">
                <a:solidFill>
                  <a:srgbClr val="233045"/>
                </a:solidFill>
                <a:latin typeface="Arial"/>
              </a:rPr>
              <a:t>Explicitly intended behavioural differences</a:t>
            </a:r>
          </a:p>
          <a:p>
            <a:pPr algn="l">
              <a:spcBef>
                <a:spcPts val="0"/>
              </a:spcBef>
              <a:spcAft>
                <a:spcPts val="200"/>
              </a:spcAft>
            </a:pPr>
            <a:r>
              <a:rPr sz="1060" b="0">
                <a:solidFill>
                  <a:srgbClr val="233045"/>
                </a:solidFill>
                <a:latin typeface="Arial"/>
              </a:rPr>
              <a:t>Regression of surrounding business rules</a:t>
            </a:r>
          </a:p>
          <a:p>
            <a:pPr algn="l">
              <a:spcBef>
                <a:spcPts val="0"/>
              </a:spcBef>
              <a:spcAft>
                <a:spcPts val="200"/>
              </a:spcAft>
            </a:pPr>
            <a:r>
              <a:rPr sz="1060" b="0">
                <a:solidFill>
                  <a:srgbClr val="233045"/>
                </a:solidFill>
                <a:latin typeface="Arial"/>
              </a:rPr>
              <a:t>Runtime, resource and external-effect limits</a:t>
            </a:r>
          </a:p>
        </p:txBody>
      </p:sp>
      <p:sp>
        <p:nvSpPr>
          <p:cNvPr id="8" name="Rectangle 7"/>
          <p:cNvSpPr/>
          <p:nvPr/>
        </p:nvSpPr>
        <p:spPr>
          <a:xfrm>
            <a:off x="457200" y="4462272"/>
            <a:ext cx="11265408" cy="822960"/>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64008" bIns="73152"/>
          <a:lstStyle/>
          <a:p>
            <a:pPr algn="r">
              <a:spcBef>
                <a:spcPts val="0"/>
              </a:spcBef>
              <a:spcAft>
                <a:spcPts val="700"/>
              </a:spcAft>
              <a:defRPr sz="1450" b="1">
                <a:solidFill>
                  <a:srgbClr val="122D5B"/>
                </a:solidFill>
                <a:latin typeface="Arial"/>
              </a:defRPr>
            </a:pPr>
            <a:r>
              <a:rPr sz="780" b="1">
                <a:solidFill>
                  <a:srgbClr val="1857CA"/>
                </a:solidFill>
                <a:latin typeface="Arial"/>
              </a:rPr>
              <a:t>DEVELOPMENT HABIT</a:t>
            </a:r>
          </a:p>
          <a:p>
            <a:pPr algn="l">
              <a:spcBef>
                <a:spcPts val="0"/>
              </a:spcBef>
              <a:spcAft>
                <a:spcPts val="200"/>
              </a:spcAft>
            </a:pPr>
            <a:r>
              <a:rPr sz="1200" b="1">
                <a:solidFill>
                  <a:srgbClr val="091F4E"/>
                </a:solidFill>
                <a:latin typeface="Arial"/>
              </a:rPr>
              <a:t>Define the tests when we define the change, then use full event replay to verify how everything works together.</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TESTING</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914400"/>
            <a:ext cx="2011680" cy="1005840"/>
          </a:xfrm>
          <a:prstGeom prst="rect">
            <a:avLst/>
          </a:prstGeom>
          <a:noFill/>
        </p:spPr>
        <p:txBody>
          <a:bodyPr wrap="square" anchor="t" lIns="27432" rIns="27432" tIns="27432" bIns="27432">
            <a:spAutoFit/>
          </a:bodyPr>
          <a:lstStyle/>
          <a:p>
            <a:pPr algn="l">
              <a:spcBef>
                <a:spcPts val="0"/>
              </a:spcBef>
              <a:spcAft>
                <a:spcPts val="0"/>
              </a:spcAft>
              <a:defRPr sz="6000" b="1" i="0">
                <a:solidFill>
                  <a:srgbClr val="DAE7F6"/>
                </a:solidFill>
                <a:latin typeface="Arial"/>
              </a:defRPr>
            </a:pPr>
            <a:r>
              <a:t>06</a:t>
            </a:r>
          </a:p>
        </p:txBody>
      </p:sp>
      <p:sp>
        <p:nvSpPr>
          <p:cNvPr id="3" name="TextBox 2"/>
          <p:cNvSpPr txBox="1"/>
          <p:nvPr/>
        </p:nvSpPr>
        <p:spPr>
          <a:xfrm>
            <a:off x="2514600" y="1051560"/>
            <a:ext cx="8778240" cy="1097280"/>
          </a:xfrm>
          <a:prstGeom prst="rect">
            <a:avLst/>
          </a:prstGeom>
          <a:noFill/>
        </p:spPr>
        <p:txBody>
          <a:bodyPr wrap="square" anchor="t" lIns="27432" rIns="27432" tIns="27432" bIns="27432">
            <a:spAutoFit/>
          </a:bodyPr>
          <a:lstStyle/>
          <a:p>
            <a:pPr algn="l">
              <a:spcBef>
                <a:spcPts val="0"/>
              </a:spcBef>
              <a:spcAft>
                <a:spcPts val="0"/>
              </a:spcAft>
              <a:defRPr sz="3100" b="0" i="0">
                <a:solidFill>
                  <a:srgbClr val="2D63DA"/>
                </a:solidFill>
                <a:latin typeface="Arial"/>
              </a:defRPr>
            </a:pPr>
            <a:r>
              <a:t>Architectural Judgement for Sustained Delivery</a:t>
            </a:r>
          </a:p>
        </p:txBody>
      </p:sp>
      <p:sp>
        <p:nvSpPr>
          <p:cNvPr id="4" name="TextBox 3"/>
          <p:cNvSpPr txBox="1"/>
          <p:nvPr/>
        </p:nvSpPr>
        <p:spPr>
          <a:xfrm>
            <a:off x="2542032" y="2286000"/>
            <a:ext cx="8046720" cy="502920"/>
          </a:xfrm>
          <a:prstGeom prst="rect">
            <a:avLst/>
          </a:prstGeom>
          <a:noFill/>
        </p:spPr>
        <p:txBody>
          <a:bodyPr wrap="square" anchor="t" lIns="27432" rIns="27432" tIns="27432" bIns="27432">
            <a:spAutoFit/>
          </a:bodyPr>
          <a:lstStyle/>
          <a:p>
            <a:pPr algn="l">
              <a:spcBef>
                <a:spcPts val="0"/>
              </a:spcBef>
              <a:spcAft>
                <a:spcPts val="0"/>
              </a:spcAft>
              <a:defRPr sz="1600" b="0" i="0">
                <a:solidFill>
                  <a:srgbClr val="6F757C"/>
                </a:solidFill>
                <a:latin typeface="Arial"/>
              </a:defRPr>
            </a:pPr>
            <a:r>
              <a:t>Designing for change  •  research agility</a:t>
            </a:r>
          </a:p>
        </p:txBody>
      </p:sp>
      <p:sp>
        <p:nvSpPr>
          <p:cNvPr id="5" name="Rectangle 4"/>
          <p:cNvSpPr/>
          <p:nvPr/>
        </p:nvSpPr>
        <p:spPr>
          <a:xfrm>
            <a:off x="2542032" y="3090672"/>
            <a:ext cx="7772400" cy="25603"/>
          </a:xfrm>
          <a:prstGeom prst="rect">
            <a:avLst/>
          </a:prstGeom>
          <a:solidFill>
            <a:srgbClr val="2D63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5486400" cy="201168"/>
          </a:xfrm>
          <a:prstGeom prst="rect">
            <a:avLst/>
          </a:prstGeom>
          <a:noFill/>
        </p:spPr>
        <p:txBody>
          <a:bodyPr wrap="square" anchor="t" lIns="27432" rIns="27432" tIns="27432" bIns="27432">
            <a:spAutoFit/>
          </a:bodyPr>
          <a:lstStyle/>
          <a:p>
            <a:pPr algn="l">
              <a:spcBef>
                <a:spcPts val="0"/>
              </a:spcBef>
              <a:spcAft>
                <a:spcPts val="0"/>
              </a:spcAft>
              <a:defRPr sz="900" b="1" i="0">
                <a:solidFill>
                  <a:srgbClr val="6F757C"/>
                </a:solidFill>
                <a:latin typeface="Arial"/>
              </a:defRPr>
            </a:pPr>
            <a:r>
              <a:t>06 / ARCHITECTURAL JUDGEMENT</a:t>
            </a:r>
          </a:p>
        </p:txBody>
      </p:sp>
      <p:sp>
        <p:nvSpPr>
          <p:cNvPr id="7" name="TextBox 6"/>
          <p:cNvSpPr txBox="1"/>
          <p:nvPr/>
        </p:nvSpPr>
        <p:spPr>
          <a:xfrm>
            <a:off x="11384280" y="6510528"/>
            <a:ext cx="411480" cy="201168"/>
          </a:xfrm>
          <a:prstGeom prst="rect">
            <a:avLst/>
          </a:prstGeom>
          <a:noFill/>
        </p:spPr>
        <p:txBody>
          <a:bodyPr wrap="square" anchor="t" lIns="27432" rIns="27432" tIns="27432" bIns="27432">
            <a:spAutoFit/>
          </a:bodyPr>
          <a:lstStyle/>
          <a:p>
            <a:pPr algn="r">
              <a:spcBef>
                <a:spcPts val="0"/>
              </a:spcBef>
              <a:spcAft>
                <a:spcPts val="0"/>
              </a:spcAft>
              <a:defRPr sz="900" b="0" i="0">
                <a:solidFill>
                  <a:srgbClr val="6F757C"/>
                </a:solidFill>
                <a:latin typeface="Arial"/>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06 / ARCHITECTURAL JUDGEMENT</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36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The value of a good boundary accumulates across repeated changes</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594360" y="2304288"/>
          <a:ext cx="6492240" cy="3246120"/>
        </p:xfrm>
        <a:graphic>
          <a:graphicData uri="http://schemas.openxmlformats.org/drawingml/2006/chart">
            <c:chart xmlns:c="http://schemas.openxmlformats.org/drawingml/2006/chart" r:id="rId2"/>
          </a:graphicData>
        </a:graphic>
      </p:graphicFrame>
      <p:sp>
        <p:nvSpPr>
          <p:cNvPr id="7" name="Rectangle 6"/>
          <p:cNvSpPr/>
          <p:nvPr/>
        </p:nvSpPr>
        <p:spPr>
          <a:xfrm>
            <a:off x="7360920" y="2414016"/>
            <a:ext cx="4315968" cy="132588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ILLUSTRATIVE TOTAL</a:t>
            </a:r>
          </a:p>
          <a:p>
            <a:pPr algn="l">
              <a:spcBef>
                <a:spcPts val="0"/>
              </a:spcBef>
              <a:spcAft>
                <a:spcPts val="500"/>
              </a:spcAft>
            </a:pPr>
            <a:r>
              <a:rPr sz="1500" b="1">
                <a:solidFill>
                  <a:srgbClr val="091F4E"/>
                </a:solidFill>
                <a:latin typeface="Arial"/>
              </a:rPr>
              <a:t>Choice A · Copy and rewire</a:t>
            </a:r>
          </a:p>
          <a:p>
            <a:pPr algn="l">
              <a:spcBef>
                <a:spcPts val="0"/>
              </a:spcBef>
              <a:spcAft>
                <a:spcPts val="220"/>
              </a:spcAft>
            </a:pPr>
            <a:r>
              <a:rPr sz="1050" b="0">
                <a:solidFill>
                  <a:srgbClr val="233045"/>
                </a:solidFill>
                <a:latin typeface="Arial"/>
              </a:rPr>
              <a:t>62 days 2 initially + 20 × 3 days later</a:t>
            </a:r>
          </a:p>
        </p:txBody>
      </p:sp>
      <p:sp>
        <p:nvSpPr>
          <p:cNvPr id="8" name="Rectangle 7"/>
          <p:cNvSpPr/>
          <p:nvPr/>
        </p:nvSpPr>
        <p:spPr>
          <a:xfrm>
            <a:off x="7360920" y="3858768"/>
            <a:ext cx="4315968" cy="132588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20" b="1">
                <a:solidFill>
                  <a:srgbClr val="1857CA"/>
                </a:solidFill>
                <a:latin typeface="Arial"/>
              </a:rPr>
              <a:t>ILLUSTRATIVE TOTAL</a:t>
            </a:r>
          </a:p>
          <a:p>
            <a:pPr algn="l">
              <a:spcBef>
                <a:spcPts val="0"/>
              </a:spcBef>
              <a:spcAft>
                <a:spcPts val="500"/>
              </a:spcAft>
            </a:pPr>
            <a:r>
              <a:rPr sz="1500" b="1">
                <a:solidFill>
                  <a:srgbClr val="091F4E"/>
                </a:solidFill>
                <a:latin typeface="Arial"/>
              </a:rPr>
              <a:t>Choice B · Shared workflow and replaceable logic</a:t>
            </a:r>
          </a:p>
          <a:p>
            <a:pPr algn="l">
              <a:spcBef>
                <a:spcPts val="0"/>
              </a:spcBef>
              <a:spcAft>
                <a:spcPts val="220"/>
              </a:spcAft>
            </a:pPr>
            <a:r>
              <a:rPr sz="1050" b="0">
                <a:solidFill>
                  <a:srgbClr val="233045"/>
                </a:solidFill>
                <a:latin typeface="Arial"/>
              </a:rPr>
              <a:t>15 days 5 initially + 20 × 0.5 day later</a:t>
            </a:r>
          </a:p>
        </p:txBody>
      </p:sp>
      <p:sp>
        <p:nvSpPr>
          <p:cNvPr id="9" name="TextBox 8"/>
          <p:cNvSpPr txBox="1"/>
          <p:nvPr/>
        </p:nvSpPr>
        <p:spPr>
          <a:xfrm>
            <a:off x="658368" y="5888736"/>
            <a:ext cx="10972800" cy="438912"/>
          </a:xfrm>
          <a:prstGeom prst="rect">
            <a:avLst/>
          </a:prstGeom>
          <a:noFill/>
        </p:spPr>
        <p:txBody>
          <a:bodyPr wrap="square" anchor="t" lIns="27432" rIns="27432" tIns="27432" bIns="27432">
            <a:spAutoFit/>
          </a:bodyPr>
          <a:lstStyle/>
          <a:p>
            <a:pPr algn="l">
              <a:spcBef>
                <a:spcPts val="0"/>
              </a:spcBef>
              <a:spcAft>
                <a:spcPts val="0"/>
              </a:spcAft>
              <a:defRPr sz="1330" b="1" i="0">
                <a:solidFill>
                  <a:srgbClr val="122D5B"/>
                </a:solidFill>
                <a:latin typeface="Arial"/>
              </a:defRPr>
            </a:pPr>
            <a:r>
              <a:t>A difficult change also has an invisible cost: the experiments that become too expensive to try.</a:t>
            </a:r>
          </a:p>
        </p:txBody>
      </p:sp>
      <p:sp>
        <p:nvSpPr>
          <p:cNvPr id="10" name="TextBox 9"/>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ARCHITECTURAL JUDGEMENT</a:t>
            </a:r>
          </a:p>
        </p:txBody>
      </p:sp>
      <p:sp>
        <p:nvSpPr>
          <p:cNvPr id="11" name="TextBox 10"/>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06 / ARCHITECTURAL JUDGEMENT</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37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Choose the amount of design that the problem justifies</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64792"/>
            <a:ext cx="3310128" cy="21488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LOW EXPECTED REUSE</a:t>
            </a:r>
          </a:p>
          <a:p>
            <a:pPr algn="l">
              <a:spcBef>
                <a:spcPts val="0"/>
              </a:spcBef>
              <a:spcAft>
                <a:spcPts val="500"/>
              </a:spcAft>
            </a:pPr>
            <a:r>
              <a:rPr sz="1550" b="1">
                <a:solidFill>
                  <a:srgbClr val="091F4E"/>
                </a:solidFill>
                <a:latin typeface="Arial"/>
              </a:rPr>
              <a:t>One-off research code</a:t>
            </a:r>
          </a:p>
          <a:p>
            <a:pPr algn="l">
              <a:spcBef>
                <a:spcPts val="0"/>
              </a:spcBef>
              <a:spcAft>
                <a:spcPts val="220"/>
              </a:spcAft>
            </a:pPr>
            <a:r>
              <a:rPr sz="1110" b="0">
                <a:solidFill>
                  <a:srgbClr val="233045"/>
                </a:solidFill>
                <a:latin typeface="Arial"/>
              </a:rPr>
              <a:t>Keep scope narrow. A short-lived experiment may not need a shared abstraction.</a:t>
            </a:r>
          </a:p>
        </p:txBody>
      </p:sp>
      <p:sp>
        <p:nvSpPr>
          <p:cNvPr id="7" name="Rectangle 6"/>
          <p:cNvSpPr/>
          <p:nvPr/>
        </p:nvSpPr>
        <p:spPr>
          <a:xfrm>
            <a:off x="4224528" y="1764792"/>
            <a:ext cx="3310128" cy="21488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HIGH EXPECTED CHANGE</a:t>
            </a:r>
          </a:p>
          <a:p>
            <a:pPr algn="l">
              <a:spcBef>
                <a:spcPts val="0"/>
              </a:spcBef>
              <a:spcAft>
                <a:spcPts val="500"/>
              </a:spcAft>
            </a:pPr>
            <a:r>
              <a:rPr sz="1550" b="1">
                <a:solidFill>
                  <a:srgbClr val="091F4E"/>
                </a:solidFill>
                <a:latin typeface="Arial"/>
              </a:rPr>
              <a:t>Repeated alpha experiments</a:t>
            </a:r>
          </a:p>
          <a:p>
            <a:pPr algn="l">
              <a:spcBef>
                <a:spcPts val="0"/>
              </a:spcBef>
              <a:spcAft>
                <a:spcPts val="220"/>
              </a:spcAft>
            </a:pPr>
            <a:r>
              <a:rPr sz="1110" b="0">
                <a:solidFill>
                  <a:srgbClr val="233045"/>
                </a:solidFill>
                <a:latin typeface="Arial"/>
              </a:rPr>
              <a:t>Use dependable concepts and replaceable logic where repeated changes make the investment valuable.</a:t>
            </a:r>
          </a:p>
        </p:txBody>
      </p:sp>
      <p:sp>
        <p:nvSpPr>
          <p:cNvPr id="8" name="Rectangle 7"/>
          <p:cNvSpPr/>
          <p:nvPr/>
        </p:nvSpPr>
        <p:spPr>
          <a:xfrm>
            <a:off x="7991856" y="1764792"/>
            <a:ext cx="3310128" cy="21488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PROPORTIONATE SAFEGUARD</a:t>
            </a:r>
          </a:p>
          <a:p>
            <a:pPr algn="l">
              <a:spcBef>
                <a:spcPts val="0"/>
              </a:spcBef>
              <a:spcAft>
                <a:spcPts val="500"/>
              </a:spcAft>
            </a:pPr>
            <a:r>
              <a:rPr sz="1550" b="1">
                <a:solidFill>
                  <a:srgbClr val="091F4E"/>
                </a:solidFill>
                <a:latin typeface="Arial"/>
              </a:rPr>
              <a:t>Rare and contained anomaly</a:t>
            </a:r>
          </a:p>
          <a:p>
            <a:pPr algn="l">
              <a:spcBef>
                <a:spcPts val="0"/>
              </a:spcBef>
              <a:spcAft>
                <a:spcPts val="220"/>
              </a:spcAft>
            </a:pPr>
            <a:r>
              <a:rPr sz="1110" b="0">
                <a:solidFill>
                  <a:srgbClr val="233045"/>
                </a:solidFill>
                <a:latin typeface="Arial"/>
              </a:rPr>
              <a:t>Simple detection, alerting and a known recovery path may be preferable to elaborate automatic handling.</a:t>
            </a:r>
          </a:p>
        </p:txBody>
      </p:sp>
      <p:sp>
        <p:nvSpPr>
          <p:cNvPr id="9" name="TextBox 8"/>
          <p:cNvSpPr txBox="1"/>
          <p:nvPr/>
        </p:nvSpPr>
        <p:spPr>
          <a:xfrm>
            <a:off x="530352" y="4233672"/>
            <a:ext cx="10972800" cy="502920"/>
          </a:xfrm>
          <a:prstGeom prst="rect">
            <a:avLst/>
          </a:prstGeom>
          <a:noFill/>
        </p:spPr>
        <p:txBody>
          <a:bodyPr wrap="square" anchor="t" lIns="27432" rIns="27432" tIns="27432" bIns="27432">
            <a:spAutoFit/>
          </a:bodyPr>
          <a:lstStyle/>
          <a:p>
            <a:pPr algn="l">
              <a:spcBef>
                <a:spcPts val="0"/>
              </a:spcBef>
              <a:spcAft>
                <a:spcPts val="0"/>
              </a:spcAft>
              <a:defRPr sz="1330" b="1" i="0">
                <a:solidFill>
                  <a:srgbClr val="122D5B"/>
                </a:solidFill>
                <a:latin typeface="Arial"/>
              </a:defRPr>
            </a:pPr>
            <a:r>
              <a:t>Change-oriented design is an approach to making better trade-offs, not a rule to add more architecture.</a:t>
            </a:r>
          </a:p>
        </p:txBody>
      </p:sp>
      <p:sp>
        <p:nvSpPr>
          <p:cNvPr id="10" name="TextBox 9"/>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ARCHITECTURAL JUDGEMENT</a:t>
            </a:r>
          </a:p>
        </p:txBody>
      </p:sp>
      <p:sp>
        <p:nvSpPr>
          <p:cNvPr id="11" name="TextBox 10"/>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06 / ARCHITECTURAL JUDGEMENT</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38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Extreme Programming: improving design is part of delivery</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2377440" y="2542032"/>
            <a:ext cx="932688" cy="0"/>
          </a:xfrm>
          <a:prstGeom prst="line">
            <a:avLst/>
          </a:prstGeom>
          <a:ln w="1905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138928" y="2542032"/>
            <a:ext cx="932688" cy="0"/>
          </a:xfrm>
          <a:prstGeom prst="line">
            <a:avLst/>
          </a:prstGeom>
          <a:ln w="19050">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900416" y="2542032"/>
            <a:ext cx="932688" cy="0"/>
          </a:xfrm>
          <a:prstGeom prst="line">
            <a:avLst/>
          </a:prstGeom>
          <a:ln w="19050">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48640" y="2103120"/>
            <a:ext cx="1828800" cy="877824"/>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250" b="1">
                <a:solidFill>
                  <a:srgbClr val="122D5B"/>
                </a:solidFill>
                <a:latin typeface="Arial"/>
              </a:defRPr>
            </a:pPr>
            <a:r>
              <a:t>Deliver a small experiment</a:t>
            </a:r>
          </a:p>
        </p:txBody>
      </p:sp>
      <p:sp>
        <p:nvSpPr>
          <p:cNvPr id="10" name="Rectangle 9"/>
          <p:cNvSpPr/>
          <p:nvPr/>
        </p:nvSpPr>
        <p:spPr>
          <a:xfrm>
            <a:off x="3310128" y="2103120"/>
            <a:ext cx="1828800" cy="877824"/>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250" b="1">
                <a:solidFill>
                  <a:srgbClr val="122D5B"/>
                </a:solidFill>
                <a:latin typeface="Arial"/>
              </a:defRPr>
            </a:pPr>
            <a:r>
              <a:t>Learn what varies</a:t>
            </a:r>
          </a:p>
        </p:txBody>
      </p:sp>
      <p:sp>
        <p:nvSpPr>
          <p:cNvPr id="11" name="Rectangle 10"/>
          <p:cNvSpPr/>
          <p:nvPr/>
        </p:nvSpPr>
        <p:spPr>
          <a:xfrm>
            <a:off x="6071616" y="2103120"/>
            <a:ext cx="1828800" cy="877824"/>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250" b="1">
                <a:solidFill>
                  <a:srgbClr val="122D5B"/>
                </a:solidFill>
                <a:latin typeface="Arial"/>
              </a:defRPr>
            </a:pPr>
            <a:r>
              <a:t>Improve the boundaries</a:t>
            </a:r>
          </a:p>
        </p:txBody>
      </p:sp>
      <p:sp>
        <p:nvSpPr>
          <p:cNvPr id="12" name="Rectangle 11"/>
          <p:cNvSpPr/>
          <p:nvPr/>
        </p:nvSpPr>
        <p:spPr>
          <a:xfrm>
            <a:off x="8833104" y="2103120"/>
            <a:ext cx="1828800" cy="877824"/>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defRPr sz="1250" b="1">
                <a:solidFill>
                  <a:srgbClr val="122D5B"/>
                </a:solidFill>
                <a:latin typeface="Arial"/>
              </a:defRPr>
            </a:pPr>
            <a:r>
              <a:t>Run regression</a:t>
            </a:r>
          </a:p>
        </p:txBody>
      </p:sp>
      <p:sp>
        <p:nvSpPr>
          <p:cNvPr id="13" name="Rectangle 12"/>
          <p:cNvSpPr/>
          <p:nvPr/>
        </p:nvSpPr>
        <p:spPr>
          <a:xfrm>
            <a:off x="502920" y="3502152"/>
            <a:ext cx="5486400" cy="150876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EVOLUTIONARY DESIGN</a:t>
            </a:r>
          </a:p>
          <a:p>
            <a:pPr algn="l">
              <a:spcBef>
                <a:spcPts val="0"/>
              </a:spcBef>
              <a:spcAft>
                <a:spcPts val="500"/>
              </a:spcAft>
            </a:pPr>
            <a:r>
              <a:rPr sz="1550" b="1">
                <a:solidFill>
                  <a:srgbClr val="091F4E"/>
                </a:solidFill>
                <a:latin typeface="Arial"/>
              </a:rPr>
              <a:t>What XP contributes</a:t>
            </a:r>
          </a:p>
          <a:p>
            <a:pPr algn="l">
              <a:spcBef>
                <a:spcPts val="0"/>
              </a:spcBef>
              <a:spcAft>
                <a:spcPts val="220"/>
              </a:spcAft>
            </a:pPr>
            <a:r>
              <a:rPr sz="1110" b="0">
                <a:solidFill>
                  <a:srgbClr val="233045"/>
                </a:solidFill>
                <a:latin typeface="Arial"/>
              </a:rPr>
              <a:t>Simple design, refactoring, automated tests and continuous integration support sustainable iteration.</a:t>
            </a:r>
          </a:p>
        </p:txBody>
      </p:sp>
      <p:sp>
        <p:nvSpPr>
          <p:cNvPr id="14" name="Rectangle 13"/>
          <p:cNvSpPr/>
          <p:nvPr/>
        </p:nvSpPr>
        <p:spPr>
          <a:xfrm>
            <a:off x="6217920" y="3502152"/>
            <a:ext cx="5486400" cy="150876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RESEARCH CONTEXT</a:t>
            </a:r>
          </a:p>
          <a:p>
            <a:pPr algn="l">
              <a:spcBef>
                <a:spcPts val="0"/>
              </a:spcBef>
              <a:spcAft>
                <a:spcPts val="500"/>
              </a:spcAft>
            </a:pPr>
            <a:r>
              <a:rPr sz="1550" b="1">
                <a:solidFill>
                  <a:srgbClr val="091F4E"/>
                </a:solidFill>
                <a:latin typeface="Arial"/>
              </a:rPr>
              <a:t>What we add for quant</a:t>
            </a:r>
          </a:p>
          <a:p>
            <a:pPr algn="l">
              <a:spcBef>
                <a:spcPts val="0"/>
              </a:spcBef>
              <a:spcAft>
                <a:spcPts val="220"/>
              </a:spcAft>
            </a:pPr>
            <a:r>
              <a:rPr sz="1110" b="0">
                <a:solidFill>
                  <a:srgbClr val="233045"/>
                </a:solidFill>
                <a:latin typeface="Arial"/>
              </a:rPr>
              <a:t>Deliberate attention to recurring business variation, event semantics, workflow operations and production-faithful simulation.</a:t>
            </a:r>
          </a:p>
        </p:txBody>
      </p:sp>
      <p:sp>
        <p:nvSpPr>
          <p:cNvPr id="15" name="TextBox 14"/>
          <p:cNvSpPr txBox="1"/>
          <p:nvPr/>
        </p:nvSpPr>
        <p:spPr>
          <a:xfrm>
            <a:off x="530352" y="5239512"/>
            <a:ext cx="10972800" cy="411480"/>
          </a:xfrm>
          <a:prstGeom prst="rect">
            <a:avLst/>
          </a:prstGeom>
          <a:noFill/>
        </p:spPr>
        <p:txBody>
          <a:bodyPr wrap="square" anchor="t" lIns="27432" rIns="27432" tIns="27432" bIns="27432">
            <a:spAutoFit/>
          </a:bodyPr>
          <a:lstStyle/>
          <a:p>
            <a:pPr algn="l">
              <a:spcBef>
                <a:spcPts val="0"/>
              </a:spcBef>
              <a:spcAft>
                <a:spcPts val="0"/>
              </a:spcAft>
              <a:defRPr sz="1330" b="1" i="0">
                <a:solidFill>
                  <a:srgbClr val="122D5B"/>
                </a:solidFill>
                <a:latin typeface="Arial"/>
              </a:defRPr>
            </a:pPr>
            <a:r>
              <a:t>Improving the structure is not separate from delivery; it helps maintain delivery capacity.</a:t>
            </a:r>
          </a:p>
        </p:txBody>
      </p:sp>
      <p:sp>
        <p:nvSpPr>
          <p:cNvPr id="16" name="TextBox 15"/>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ARCHITECTURAL JUDGEMENT</a:t>
            </a:r>
          </a:p>
        </p:txBody>
      </p:sp>
      <p:sp>
        <p:nvSpPr>
          <p:cNvPr id="17" name="TextBox 16"/>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06 / ARCHITECTURAL JUDGEMENT</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39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Discussion: what would support twenty different business experiments?</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048256"/>
            <a:ext cx="2743200" cy="201168"/>
          </a:xfrm>
          <a:prstGeom prst="rect">
            <a:avLst/>
          </a:prstGeom>
          <a:noFill/>
        </p:spPr>
        <p:txBody>
          <a:bodyPr wrap="square" anchor="t" lIns="27432" rIns="27432" tIns="27432" bIns="27432">
            <a:spAutoFit/>
          </a:bodyPr>
          <a:lstStyle/>
          <a:p>
            <a:pPr algn="l">
              <a:spcBef>
                <a:spcPts val="0"/>
              </a:spcBef>
              <a:spcAft>
                <a:spcPts val="0"/>
              </a:spcAft>
              <a:defRPr sz="1000" b="1" i="0">
                <a:solidFill>
                  <a:srgbClr val="2D63DA"/>
                </a:solidFill>
                <a:latin typeface="Arial"/>
              </a:defRPr>
            </a:pPr>
            <a:r>
              <a:t>WE WANT TO TEST</a:t>
            </a:r>
          </a:p>
        </p:txBody>
      </p:sp>
      <p:graphicFrame>
        <p:nvGraphicFramePr>
          <p:cNvPr id="7" name="Table 6"/>
          <p:cNvGraphicFramePr>
            <a:graphicFrameLocks noGrp="1"/>
          </p:cNvGraphicFramePr>
          <p:nvPr/>
        </p:nvGraphicFramePr>
        <p:xfrm>
          <a:off x="566928" y="2505456"/>
          <a:ext cx="10927080" cy="3063240"/>
        </p:xfrm>
        <a:graphic>
          <a:graphicData uri="http://schemas.openxmlformats.org/drawingml/2006/table">
            <a:tbl>
              <a:tblPr firstRow="1" bandRow="1">
                <a:tableStyleId>{5C22544A-7EE6-4342-B048-85BDC9FD1C3A}</a:tableStyleId>
              </a:tblPr>
              <a:tblGrid>
                <a:gridCol w="5463540"/>
                <a:gridCol w="5463540"/>
              </a:tblGrid>
              <a:tr h="612648">
                <a:tc>
                  <a:txBody>
                    <a:bodyPr/>
                    <a:lstStyle/>
                    <a:p>
                      <a:pPr>
                        <a:defRPr sz="1300" b="1">
                          <a:solidFill>
                            <a:srgbClr val="FFFFFF"/>
                          </a:solidFill>
                          <a:latin typeface="Arial"/>
                        </a:defRPr>
                      </a:pPr>
                      <a:r>
                        <a:t>Design question</a:t>
                      </a:r>
                    </a:p>
                  </a:txBody>
                  <a:tcPr>
                    <a:solidFill>
                      <a:srgbClr val="2D63DA"/>
                    </a:solidFill>
                  </a:tcPr>
                </a:tc>
                <a:tc>
                  <a:txBody>
                    <a:bodyPr/>
                    <a:lstStyle/>
                    <a:p>
                      <a:pPr>
                        <a:defRPr sz="1300" b="1">
                          <a:solidFill>
                            <a:srgbClr val="FFFFFF"/>
                          </a:solidFill>
                          <a:latin typeface="Arial"/>
                        </a:defRPr>
                      </a:pPr>
                      <a:r>
                        <a:t>Discussion / sketch</a:t>
                      </a:r>
                    </a:p>
                  </a:txBody>
                  <a:tcPr>
                    <a:solidFill>
                      <a:srgbClr val="2D63DA"/>
                    </a:solidFill>
                  </a:tcPr>
                </a:tc>
              </a:tr>
              <a:tr h="612648">
                <a:tc>
                  <a:txBody>
                    <a:bodyPr/>
                    <a:lstStyle/>
                    <a:p>
                      <a:pPr>
                        <a:defRPr sz="1230" b="1">
                          <a:solidFill>
                            <a:srgbClr val="122D5B"/>
                          </a:solidFill>
                          <a:latin typeface="Arial"/>
                        </a:defRPr>
                      </a:pPr>
                      <a:r>
                        <a:t>Which business operation would vary most often?</a:t>
                      </a:r>
                    </a:p>
                  </a:txBody>
                  <a:tcPr>
                    <a:solidFill>
                      <a:srgbClr val="F7F9FB"/>
                    </a:solidFill>
                  </a:tcPr>
                </a:tc>
                <a:tc>
                  <a:txBody>
                    <a:bodyPr/>
                    <a:lstStyle/>
                    <a:p>
                      <a:pPr>
                        <a:defRPr sz="1230" b="0">
                          <a:solidFill>
                            <a:srgbClr val="252A30"/>
                          </a:solidFill>
                          <a:latin typeface="Arial"/>
                        </a:defRPr>
                      </a:pPr>
                    </a:p>
                  </a:txBody>
                  <a:tcPr>
                    <a:solidFill>
                      <a:srgbClr val="F7F9FB"/>
                    </a:solidFill>
                  </a:tcPr>
                </a:tc>
              </a:tr>
              <a:tr h="612648">
                <a:tc>
                  <a:txBody>
                    <a:bodyPr/>
                    <a:lstStyle/>
                    <a:p>
                      <a:pPr>
                        <a:defRPr sz="1230" b="1">
                          <a:solidFill>
                            <a:srgbClr val="122D5B"/>
                          </a:solidFill>
                          <a:latin typeface="Arial"/>
                        </a:defRPr>
                      </a:pPr>
                      <a:r>
                        <a:t>Which objects / operations should keep stable definitions?</a:t>
                      </a:r>
                    </a:p>
                  </a:txBody>
                  <a:tcPr>
                    <a:solidFill>
                      <a:srgbClr val="FFFFFF"/>
                    </a:solidFill>
                  </a:tcPr>
                </a:tc>
                <a:tc>
                  <a:txBody>
                    <a:bodyPr/>
                    <a:lstStyle/>
                    <a:p>
                      <a:pPr>
                        <a:defRPr sz="1230" b="0">
                          <a:solidFill>
                            <a:srgbClr val="252A30"/>
                          </a:solidFill>
                          <a:latin typeface="Arial"/>
                        </a:defRPr>
                      </a:pPr>
                    </a:p>
                  </a:txBody>
                  <a:tcPr>
                    <a:solidFill>
                      <a:srgbClr val="FFFFFF"/>
                    </a:solidFill>
                  </a:tcPr>
                </a:tc>
              </a:tr>
              <a:tr h="612648">
                <a:tc>
                  <a:txBody>
                    <a:bodyPr/>
                    <a:lstStyle/>
                    <a:p>
                      <a:pPr>
                        <a:defRPr sz="1230" b="1">
                          <a:solidFill>
                            <a:srgbClr val="122D5B"/>
                          </a:solidFill>
                          <a:latin typeface="Arial"/>
                        </a:defRPr>
                      </a:pPr>
                      <a:r>
                        <a:t>Which state belongs inside the replaceable boundary?</a:t>
                      </a:r>
                    </a:p>
                  </a:txBody>
                  <a:tcPr>
                    <a:solidFill>
                      <a:srgbClr val="F7F9FB"/>
                    </a:solidFill>
                  </a:tcPr>
                </a:tc>
                <a:tc>
                  <a:txBody>
                    <a:bodyPr/>
                    <a:lstStyle/>
                    <a:p>
                      <a:pPr>
                        <a:defRPr sz="1230" b="0">
                          <a:solidFill>
                            <a:srgbClr val="252A30"/>
                          </a:solidFill>
                          <a:latin typeface="Arial"/>
                        </a:defRPr>
                      </a:pPr>
                    </a:p>
                  </a:txBody>
                  <a:tcPr>
                    <a:solidFill>
                      <a:srgbClr val="F7F9FB"/>
                    </a:solidFill>
                  </a:tcPr>
                </a:tc>
              </a:tr>
              <a:tr h="612648">
                <a:tc>
                  <a:txBody>
                    <a:bodyPr/>
                    <a:lstStyle/>
                    <a:p>
                      <a:pPr>
                        <a:defRPr sz="1230" b="1">
                          <a:solidFill>
                            <a:srgbClr val="122D5B"/>
                          </a:solidFill>
                          <a:latin typeface="Arial"/>
                        </a:defRPr>
                      </a:pPr>
                      <a:r>
                        <a:t>Which tests and simulator scenarios would make variants comparable?</a:t>
                      </a:r>
                    </a:p>
                  </a:txBody>
                  <a:tcPr>
                    <a:solidFill>
                      <a:srgbClr val="FFFFFF"/>
                    </a:solidFill>
                  </a:tcPr>
                </a:tc>
                <a:tc>
                  <a:txBody>
                    <a:bodyPr/>
                    <a:lstStyle/>
                    <a:p>
                      <a:pPr>
                        <a:defRPr sz="1230" b="0">
                          <a:solidFill>
                            <a:srgbClr val="252A30"/>
                          </a:solidFill>
                          <a:latin typeface="Arial"/>
                        </a:defRPr>
                      </a:pPr>
                    </a:p>
                  </a:txBody>
                  <a:tcPr>
                    <a:solidFill>
                      <a:srgbClr val="FFFFFF"/>
                    </a:solidFill>
                  </a:tcPr>
                </a:tc>
              </a:tr>
            </a:tbl>
          </a:graphicData>
        </a:graphic>
      </p:graphicFrame>
      <p:sp>
        <p:nvSpPr>
          <p:cNvPr id="8" name="TextBox 7"/>
          <p:cNvSpPr txBox="1"/>
          <p:nvPr/>
        </p:nvSpPr>
        <p:spPr>
          <a:xfrm>
            <a:off x="566928" y="5779008"/>
            <a:ext cx="10927080" cy="438912"/>
          </a:xfrm>
          <a:prstGeom prst="rect">
            <a:avLst/>
          </a:prstGeom>
          <a:noFill/>
        </p:spPr>
        <p:txBody>
          <a:bodyPr wrap="square" anchor="t" lIns="27432" rIns="27432" tIns="27432" bIns="27432">
            <a:spAutoFit/>
          </a:bodyPr>
          <a:lstStyle/>
          <a:p>
            <a:pPr algn="l">
              <a:spcBef>
                <a:spcPts val="0"/>
              </a:spcBef>
              <a:spcAft>
                <a:spcPts val="0"/>
              </a:spcAft>
              <a:defRPr sz="1340" b="1" i="0">
                <a:solidFill>
                  <a:srgbClr val="122D5B"/>
                </a:solidFill>
                <a:latin typeface="Arial"/>
              </a:defRPr>
            </a:pPr>
            <a:r>
              <a:t>There is no single perfect graph. Aim for clear business meaning, local change and trustworthy experiments.</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ARCHITECTURAL JUDGEMENT</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07 / AI CODING STAGES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40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The Value of These Principles Across Stages of AI-Assisted Coding</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56816"/>
            <a:ext cx="2743200" cy="201168"/>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QUICK QUESTION FOR THE ROOM</a:t>
            </a:r>
          </a:p>
        </p:txBody>
      </p:sp>
      <p:sp>
        <p:nvSpPr>
          <p:cNvPr id="7" name="TextBox 6"/>
          <p:cNvSpPr txBox="1"/>
          <p:nvPr/>
        </p:nvSpPr>
        <p:spPr>
          <a:xfrm>
            <a:off x="457200" y="2231136"/>
            <a:ext cx="6766560" cy="329184"/>
          </a:xfrm>
          <a:prstGeom prst="rect">
            <a:avLst/>
          </a:prstGeom>
          <a:noFill/>
        </p:spPr>
        <p:txBody>
          <a:bodyPr wrap="square" anchor="t" lIns="27432" rIns="27432" tIns="27432" bIns="27432">
            <a:spAutoFit/>
          </a:bodyPr>
          <a:lstStyle/>
          <a:p>
            <a:pPr algn="l">
              <a:spcBef>
                <a:spcPts val="0"/>
              </a:spcBef>
              <a:spcAft>
                <a:spcPts val="0"/>
              </a:spcAft>
              <a:defRPr sz="1420" b="1" i="0">
                <a:solidFill>
                  <a:srgbClr val="122D5B"/>
                </a:solidFill>
                <a:latin typeface="Arial"/>
              </a:defRPr>
            </a:pPr>
            <a:r>
              <a:t>Which stage best describes how you work today?</a:t>
            </a:r>
          </a:p>
        </p:txBody>
      </p:sp>
      <p:graphicFrame>
        <p:nvGraphicFramePr>
          <p:cNvPr id="8" name="Table 7"/>
          <p:cNvGraphicFramePr>
            <a:graphicFrameLocks noGrp="1"/>
          </p:cNvGraphicFramePr>
          <p:nvPr/>
        </p:nvGraphicFramePr>
        <p:xfrm>
          <a:off x="457200" y="2807208"/>
          <a:ext cx="11247120" cy="2240280"/>
        </p:xfrm>
        <a:graphic>
          <a:graphicData uri="http://schemas.openxmlformats.org/drawingml/2006/table">
            <a:tbl>
              <a:tblPr firstRow="1" bandRow="1">
                <a:tableStyleId>{5C22544A-7EE6-4342-B048-85BDC9FD1C3A}</a:tableStyleId>
              </a:tblPr>
              <a:tblGrid>
                <a:gridCol w="2811780"/>
                <a:gridCol w="2811780"/>
                <a:gridCol w="2811780"/>
                <a:gridCol w="2811780"/>
              </a:tblGrid>
              <a:tr h="1120140">
                <a:tc>
                  <a:txBody>
                    <a:bodyPr/>
                    <a:lstStyle/>
                    <a:p>
                      <a:pPr>
                        <a:defRPr sz="1200" b="1">
                          <a:solidFill>
                            <a:srgbClr val="FFFFFF"/>
                          </a:solidFill>
                          <a:latin typeface="Arial"/>
                        </a:defRPr>
                      </a:pPr>
                      <a:r>
                        <a:t>STAGE 1 · TODAY / BASELINE</a:t>
                      </a:r>
                    </a:p>
                    <a:p>
                      <a:pPr>
                        <a:defRPr sz="1200" b="1">
                          <a:solidFill>
                            <a:srgbClr val="FFFFFF"/>
                          </a:solidFill>
                          <a:latin typeface="Arial"/>
                        </a:defRPr>
                      </a:pPr>
                      <a:r>
                        <a:t>Human coding</a:t>
                      </a:r>
                    </a:p>
                  </a:txBody>
                  <a:tcPr>
                    <a:solidFill>
                      <a:srgbClr val="2D63DA"/>
                    </a:solidFill>
                  </a:tcPr>
                </a:tc>
                <a:tc>
                  <a:txBody>
                    <a:bodyPr/>
                    <a:lstStyle/>
                    <a:p>
                      <a:pPr>
                        <a:defRPr sz="1200" b="1">
                          <a:solidFill>
                            <a:srgbClr val="FFFFFF"/>
                          </a:solidFill>
                          <a:latin typeface="Arial"/>
                        </a:defRPr>
                      </a:pPr>
                      <a:r>
                        <a:t>STAGE 2 · AI-ASSISTED</a:t>
                      </a:r>
                    </a:p>
                    <a:p>
                      <a:pPr>
                        <a:defRPr sz="1200" b="1">
                          <a:solidFill>
                            <a:srgbClr val="FFFFFF"/>
                          </a:solidFill>
                          <a:latin typeface="Arial"/>
                        </a:defRPr>
                      </a:pPr>
                      <a:r>
                        <a:t>Mixed implementation</a:t>
                      </a:r>
                    </a:p>
                  </a:txBody>
                  <a:tcPr>
                    <a:solidFill>
                      <a:srgbClr val="2D63DA"/>
                    </a:solidFill>
                  </a:tcPr>
                </a:tc>
                <a:tc>
                  <a:txBody>
                    <a:bodyPr/>
                    <a:lstStyle/>
                    <a:p>
                      <a:pPr>
                        <a:defRPr sz="1200" b="1">
                          <a:solidFill>
                            <a:srgbClr val="FFFFFF"/>
                          </a:solidFill>
                          <a:latin typeface="Arial"/>
                        </a:defRPr>
                      </a:pPr>
                      <a:r>
                        <a:t>STAGE 3 · FUTURE SCENARIO</a:t>
                      </a:r>
                    </a:p>
                    <a:p>
                      <a:pPr>
                        <a:defRPr sz="1200" b="1">
                          <a:solidFill>
                            <a:srgbClr val="FFFFFF"/>
                          </a:solidFill>
                          <a:latin typeface="Arial"/>
                        </a:defRPr>
                      </a:pPr>
                      <a:r>
                        <a:t>AI coding, mixed review</a:t>
                      </a:r>
                    </a:p>
                  </a:txBody>
                  <a:tcPr>
                    <a:solidFill>
                      <a:srgbClr val="2D63DA"/>
                    </a:solidFill>
                  </a:tcPr>
                </a:tc>
                <a:tc>
                  <a:txBody>
                    <a:bodyPr/>
                    <a:lstStyle/>
                    <a:p>
                      <a:pPr>
                        <a:defRPr sz="1200" b="1">
                          <a:solidFill>
                            <a:srgbClr val="FFFFFF"/>
                          </a:solidFill>
                          <a:latin typeface="Arial"/>
                        </a:defRPr>
                      </a:pPr>
                      <a:r>
                        <a:t>STAGE 4 · FUTURE SCENARIO</a:t>
                      </a:r>
                    </a:p>
                    <a:p>
                      <a:pPr>
                        <a:defRPr sz="1200" b="1">
                          <a:solidFill>
                            <a:srgbClr val="FFFFFF"/>
                          </a:solidFill>
                          <a:latin typeface="Arial"/>
                        </a:defRPr>
                      </a:pPr>
                      <a:r>
                        <a:t>Fully agentic coding and review</a:t>
                      </a:r>
                    </a:p>
                  </a:txBody>
                  <a:tcPr>
                    <a:solidFill>
                      <a:srgbClr val="2D63DA"/>
                    </a:solidFill>
                  </a:tcPr>
                </a:tc>
              </a:tr>
              <a:tr h="1120140">
                <a:tc>
                  <a:txBody>
                    <a:bodyPr/>
                    <a:lstStyle/>
                    <a:p>
                      <a:pPr>
                        <a:defRPr sz="1150" b="0">
                          <a:solidFill>
                            <a:srgbClr val="252A30"/>
                          </a:solidFill>
                          <a:latin typeface="Arial"/>
                        </a:defRPr>
                      </a:pPr>
                      <a:r>
                        <a:t>People implement, review and approve code.</a:t>
                      </a:r>
                    </a:p>
                  </a:txBody>
                  <a:tcPr>
                    <a:solidFill>
                      <a:srgbClr val="F7F9FB"/>
                    </a:solidFill>
                  </a:tcPr>
                </a:tc>
                <a:tc>
                  <a:txBody>
                    <a:bodyPr/>
                    <a:lstStyle/>
                    <a:p>
                      <a:pPr>
                        <a:defRPr sz="1150" b="0">
                          <a:solidFill>
                            <a:srgbClr val="252A30"/>
                          </a:solidFill>
                          <a:latin typeface="Arial"/>
                        </a:defRPr>
                      </a:pPr>
                      <a:r>
                        <a:t>AI writes some code; human review and approval remain central.</a:t>
                      </a:r>
                    </a:p>
                  </a:txBody>
                  <a:tcPr>
                    <a:solidFill>
                      <a:srgbClr val="F7F9FB"/>
                    </a:solidFill>
                  </a:tcPr>
                </a:tc>
                <a:tc>
                  <a:txBody>
                    <a:bodyPr/>
                    <a:lstStyle/>
                    <a:p>
                      <a:pPr>
                        <a:defRPr sz="1150" b="0">
                          <a:solidFill>
                            <a:srgbClr val="252A30"/>
                          </a:solidFill>
                          <a:latin typeface="Arial"/>
                        </a:defRPr>
                      </a:pPr>
                      <a:r>
                        <a:t>AI implements; some changes get full human review, others AI review with human signoff.</a:t>
                      </a:r>
                    </a:p>
                  </a:txBody>
                  <a:tcPr>
                    <a:solidFill>
                      <a:srgbClr val="F7F9FB"/>
                    </a:solidFill>
                  </a:tcPr>
                </a:tc>
                <a:tc>
                  <a:txBody>
                    <a:bodyPr/>
                    <a:lstStyle/>
                    <a:p>
                      <a:pPr>
                        <a:defRPr sz="1150" b="0">
                          <a:solidFill>
                            <a:srgbClr val="252A30"/>
                          </a:solidFill>
                          <a:latin typeface="Arial"/>
                        </a:defRPr>
                      </a:pPr>
                      <a:r>
                        <a:t>AI implements, reviews and signs off; people perform UAT.</a:t>
                      </a:r>
                    </a:p>
                  </a:txBody>
                  <a:tcPr>
                    <a:solidFill>
                      <a:srgbClr val="F7F9FB"/>
                    </a:solidFill>
                  </a:tcPr>
                </a:tc>
              </a:tr>
            </a:tbl>
          </a:graphicData>
        </a:graphic>
      </p:graphicFrame>
      <p:sp>
        <p:nvSpPr>
          <p:cNvPr id="9" name="TextBox 8"/>
          <p:cNvSpPr txBox="1"/>
          <p:nvPr/>
        </p:nvSpPr>
        <p:spPr>
          <a:xfrm>
            <a:off x="530352" y="5367528"/>
            <a:ext cx="10972800" cy="502920"/>
          </a:xfrm>
          <a:prstGeom prst="rect">
            <a:avLst/>
          </a:prstGeom>
          <a:noFill/>
        </p:spPr>
        <p:txBody>
          <a:bodyPr wrap="square" anchor="t" lIns="27432" rIns="27432" tIns="27432" bIns="27432">
            <a:spAutoFit/>
          </a:bodyPr>
          <a:lstStyle/>
          <a:p>
            <a:pPr algn="l">
              <a:spcBef>
                <a:spcPts val="0"/>
              </a:spcBef>
              <a:spcAft>
                <a:spcPts val="0"/>
              </a:spcAft>
              <a:defRPr sz="1320" b="1" i="0">
                <a:solidFill>
                  <a:srgbClr val="122D5B"/>
                </a:solidFill>
                <a:latin typeface="Arial"/>
              </a:defRPr>
            </a:pPr>
            <a:r>
              <a:t>Stages 3 and 4 assume matching advances in model capability, system maturity and testing—not a fixed timetable.</a:t>
            </a:r>
          </a:p>
        </p:txBody>
      </p:sp>
      <p:sp>
        <p:nvSpPr>
          <p:cNvPr id="10" name="TextBox 9"/>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AI CODING STAGES</a:t>
            </a:r>
          </a:p>
        </p:txBody>
      </p:sp>
      <p:sp>
        <p:nvSpPr>
          <p:cNvPr id="11" name="TextBox 10"/>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07 / AI CODING STAGES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41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Stage 1 — Human coding: make future changes easier to implement</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73152"/>
          <a:lstStyle/>
          <a:p>
            <a:pPr algn="r">
              <a:spcBef>
                <a:spcPts val="0"/>
              </a:spcBef>
              <a:spcAft>
                <a:spcPts val="900"/>
              </a:spcAft>
              <a:defRPr sz="950" b="1">
                <a:solidFill>
                  <a:srgbClr val="2D63DA"/>
                </a:solidFill>
                <a:latin typeface="Arial"/>
              </a:defRPr>
            </a:pPr>
            <a:r>
              <a:rPr sz="750" b="1">
                <a:solidFill>
                  <a:srgbClr val="1857CA"/>
                </a:solidFill>
                <a:latin typeface="Arial"/>
              </a:rPr>
              <a:t>HOW WORK IS DONE</a:t>
            </a:r>
          </a:p>
          <a:p>
            <a:pPr algn="l">
              <a:spcBef>
                <a:spcPts val="0"/>
              </a:spcBef>
              <a:spcAft>
                <a:spcPts val="500"/>
              </a:spcAft>
            </a:pPr>
            <a:r>
              <a:rPr sz="1570" b="1">
                <a:solidFill>
                  <a:srgbClr val="091F4E"/>
                </a:solidFill>
                <a:latin typeface="Arial"/>
              </a:rPr>
              <a:t>Human implementation and review</a:t>
            </a:r>
          </a:p>
          <a:p>
            <a:pPr algn="l">
              <a:spcBef>
                <a:spcPts val="0"/>
              </a:spcBef>
              <a:spcAft>
                <a:spcPts val="220"/>
              </a:spcAft>
            </a:pPr>
            <a:r>
              <a:rPr sz="1100" b="0">
                <a:solidFill>
                  <a:srgbClr val="233045"/>
                </a:solidFill>
                <a:latin typeface="Arial"/>
              </a:rPr>
              <a:t>Researchers and engineers write features, connect the graph, debug changes and assess their behaviour.</a:t>
            </a:r>
          </a:p>
        </p:txBody>
      </p:sp>
      <p:sp>
        <p:nvSpPr>
          <p:cNvPr id="7" name="Rectangle 6"/>
          <p:cNvSpPr/>
          <p:nvPr/>
        </p:nvSpPr>
        <p:spPr>
          <a:xfrm>
            <a:off x="6199632"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bIns="73152"/>
          <a:lstStyle/>
          <a:p>
            <a:pPr algn="r">
              <a:spcBef>
                <a:spcPts val="0"/>
              </a:spcBef>
              <a:spcAft>
                <a:spcPts val="900"/>
              </a:spcAft>
              <a:defRPr sz="950" b="1">
                <a:solidFill>
                  <a:srgbClr val="2D63DA"/>
                </a:solidFill>
                <a:latin typeface="Arial"/>
              </a:defRPr>
            </a:pPr>
            <a:r>
              <a:rPr sz="750" b="1">
                <a:solidFill>
                  <a:srgbClr val="1857CA"/>
                </a:solidFill>
                <a:latin typeface="Arial"/>
              </a:rPr>
              <a:t>VALUE OF DESIGN</a:t>
            </a:r>
          </a:p>
          <a:p>
            <a:pPr algn="l">
              <a:spcBef>
                <a:spcPts val="0"/>
              </a:spcBef>
              <a:spcAft>
                <a:spcPts val="500"/>
              </a:spcAft>
            </a:pPr>
            <a:r>
              <a:rPr sz="1570" b="1">
                <a:solidFill>
                  <a:srgbClr val="091F4E"/>
                </a:solidFill>
                <a:latin typeface="Arial"/>
              </a:rPr>
              <a:t>Less work outside the experiment</a:t>
            </a:r>
          </a:p>
          <a:p>
            <a:pPr algn="l">
              <a:spcBef>
                <a:spcPts val="0"/>
              </a:spcBef>
              <a:spcAft>
                <a:spcPts val="220"/>
              </a:spcAft>
            </a:pPr>
            <a:r>
              <a:rPr sz="1100" b="0">
                <a:solidFill>
                  <a:srgbClr val="233045"/>
                </a:solidFill>
                <a:latin typeface="Arial"/>
              </a:rPr>
              <a:t>Replaceable components and accurately defined operations reduce the amount of the existing system that people must revisit.</a:t>
            </a:r>
          </a:p>
        </p:txBody>
      </p:sp>
      <p:sp>
        <p:nvSpPr>
          <p:cNvPr id="8" name="Rectangle 7"/>
          <p:cNvSpPr/>
          <p:nvPr/>
        </p:nvSpPr>
        <p:spPr>
          <a:xfrm>
            <a:off x="457200" y="4462272"/>
            <a:ext cx="11265408" cy="822960"/>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64008" bIns="73152"/>
          <a:lstStyle/>
          <a:p>
            <a:pPr algn="r">
              <a:spcBef>
                <a:spcPts val="0"/>
              </a:spcBef>
              <a:spcAft>
                <a:spcPts val="700"/>
              </a:spcAft>
              <a:defRPr sz="1450" b="1">
                <a:solidFill>
                  <a:srgbClr val="122D5B"/>
                </a:solidFill>
                <a:latin typeface="Arial"/>
              </a:defRPr>
            </a:pPr>
            <a:r>
              <a:rPr sz="780" b="1">
                <a:solidFill>
                  <a:srgbClr val="1857CA"/>
                </a:solidFill>
                <a:latin typeface="Arial"/>
              </a:rPr>
              <a:t>A FAMILIAR EXAMPLE</a:t>
            </a:r>
          </a:p>
          <a:p>
            <a:pPr algn="l">
              <a:spcBef>
                <a:spcPts val="0"/>
              </a:spcBef>
              <a:spcAft>
                <a:spcPts val="200"/>
              </a:spcAft>
            </a:pPr>
            <a:r>
              <a:rPr sz="1200" b="1">
                <a:solidFill>
                  <a:srgbClr val="091F4E"/>
                </a:solidFill>
                <a:latin typeface="Arial"/>
              </a:rPr>
              <a:t>Trying another business rule should primarily change that rule and its relevant tests, rather than force a fresh implementation of the surrounding framework.</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AI CODING STAGES</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07 / AI CODING STAGES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42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Stage 2 — AI-assisted coding: make generated changes understandable</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ASSUMED WORKING MODEL</a:t>
            </a:r>
          </a:p>
          <a:p>
            <a:pPr algn="l">
              <a:spcBef>
                <a:spcPts val="0"/>
              </a:spcBef>
              <a:spcAft>
                <a:spcPts val="500"/>
              </a:spcAft>
            </a:pPr>
            <a:r>
              <a:rPr sz="1550" b="1">
                <a:solidFill>
                  <a:srgbClr val="091F4E"/>
                </a:solidFill>
                <a:latin typeface="Arial"/>
              </a:rPr>
              <a:t>20–30% AI coding</a:t>
            </a:r>
          </a:p>
          <a:p>
            <a:pPr algn="l">
              <a:spcBef>
                <a:spcPts val="0"/>
              </a:spcBef>
              <a:spcAft>
                <a:spcPts val="220"/>
              </a:spcAft>
            </a:pPr>
            <a:r>
              <a:rPr sz="1110" b="0">
                <a:solidFill>
                  <a:srgbClr val="233045"/>
                </a:solidFill>
                <a:latin typeface="Arial"/>
              </a:rPr>
              <a:t>AI contributes implementations and local refactoring. People retain the main review and signoff responsibilities.</a:t>
            </a:r>
          </a:p>
        </p:txBody>
      </p:sp>
      <p:sp>
        <p:nvSpPr>
          <p:cNvPr id="7" name="Rectangle 6"/>
          <p:cNvSpPr/>
          <p:nvPr/>
        </p:nvSpPr>
        <p:spPr>
          <a:xfrm>
            <a:off x="6199632" y="2249424"/>
            <a:ext cx="5522976" cy="192024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VALUE OF DESIGN</a:t>
            </a:r>
          </a:p>
          <a:p>
            <a:pPr algn="l">
              <a:spcBef>
                <a:spcPts val="0"/>
              </a:spcBef>
              <a:spcAft>
                <a:spcPts val="500"/>
              </a:spcAft>
            </a:pPr>
            <a:r>
              <a:rPr sz="1550" b="1">
                <a:solidFill>
                  <a:srgbClr val="091F4E"/>
                </a:solidFill>
                <a:latin typeface="Arial"/>
              </a:rPr>
              <a:t>Clear changes and clear evidence</a:t>
            </a:r>
          </a:p>
          <a:p>
            <a:pPr algn="l">
              <a:spcBef>
                <a:spcPts val="0"/>
              </a:spcBef>
              <a:spcAft>
                <a:spcPts val="220"/>
              </a:spcAft>
            </a:pPr>
            <a:r>
              <a:rPr sz="1110" b="0">
                <a:solidFill>
                  <a:srgbClr val="233045"/>
                </a:solidFill>
                <a:latin typeface="Arial"/>
              </a:rPr>
              <a:t>A defined subgraph boundary shows the intended business change. Shared contract tests and simulator replay show how it behaves.</a:t>
            </a:r>
          </a:p>
        </p:txBody>
      </p:sp>
      <p:sp>
        <p:nvSpPr>
          <p:cNvPr id="8" name="Rectangle 7"/>
          <p:cNvSpPr/>
          <p:nvPr/>
        </p:nvSpPr>
        <p:spPr>
          <a:xfrm>
            <a:off x="457200" y="4462272"/>
            <a:ext cx="11265408" cy="822960"/>
          </a:xfrm>
          <a:prstGeom prst="rect">
            <a:avLst/>
          </a:prstGeom>
          <a:solidFill>
            <a:srgbClr val="FFFFFF"/>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64008" bIns="73152"/>
          <a:lstStyle/>
          <a:p>
            <a:pPr algn="r">
              <a:spcBef>
                <a:spcPts val="0"/>
              </a:spcBef>
              <a:spcAft>
                <a:spcPts val="700"/>
              </a:spcAft>
              <a:defRPr sz="1450" b="1">
                <a:solidFill>
                  <a:srgbClr val="122D5B"/>
                </a:solidFill>
                <a:latin typeface="Arial"/>
              </a:defRPr>
            </a:pPr>
            <a:r>
              <a:rPr sz="780" b="1">
                <a:solidFill>
                  <a:srgbClr val="1857CA"/>
                </a:solidFill>
                <a:latin typeface="Arial"/>
              </a:rPr>
              <a:t>HUMAN REVIEW CAN ASK</a:t>
            </a:r>
          </a:p>
          <a:p>
            <a:pPr algn="l">
              <a:spcBef>
                <a:spcPts val="0"/>
              </a:spcBef>
              <a:spcAft>
                <a:spcPts val="200"/>
              </a:spcAft>
            </a:pPr>
            <a:r>
              <a:rPr sz="1200" b="1">
                <a:solidFill>
                  <a:srgbClr val="091F4E"/>
                </a:solidFill>
                <a:latin typeface="Arial"/>
              </a:rPr>
              <a:t>What was meant to change? Which contract still applies? What do the tests and event traces actually demonstrate?</a:t>
            </a:r>
          </a:p>
        </p:txBody>
      </p:sp>
      <p:sp>
        <p:nvSpPr>
          <p:cNvPr id="9" name="TextBox 8"/>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AI CODING STAGES</a:t>
            </a:r>
          </a:p>
        </p:txBody>
      </p:sp>
      <p:sp>
        <p:nvSpPr>
          <p:cNvPr id="10" name="TextBox 9"/>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07 / AI CODING STAGES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43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Stage 3 — AI coding and mixed review: reusable tests support greater autonomy</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84248"/>
            <a:ext cx="3840480" cy="201168"/>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ASSUMED FUTURE WORKING MODEL</a:t>
            </a:r>
          </a:p>
        </p:txBody>
      </p:sp>
      <p:sp>
        <p:nvSpPr>
          <p:cNvPr id="7" name="Rectangle 6"/>
          <p:cNvSpPr/>
          <p:nvPr/>
        </p:nvSpPr>
        <p:spPr>
          <a:xfrm>
            <a:off x="457200" y="2304288"/>
            <a:ext cx="3383280" cy="107899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500"/>
              </a:spcAft>
              <a:defRPr sz="950" b="1">
                <a:solidFill>
                  <a:srgbClr val="2D63DA"/>
                </a:solidFill>
                <a:latin typeface="Arial"/>
              </a:defRPr>
            </a:pPr>
            <a:r>
              <a:rPr sz="720" b="1">
                <a:solidFill>
                  <a:srgbClr val="1857CA"/>
                </a:solidFill>
                <a:latin typeface="Arial"/>
              </a:rPr>
              <a:t>IMPLEMENTATION</a:t>
            </a:r>
          </a:p>
          <a:p>
            <a:pPr algn="l">
              <a:spcBef>
                <a:spcPts val="0"/>
              </a:spcBef>
              <a:spcAft>
                <a:spcPts val="300"/>
              </a:spcAft>
            </a:pPr>
            <a:r>
              <a:rPr sz="1500" b="1">
                <a:solidFill>
                  <a:srgbClr val="091F4E"/>
                </a:solidFill>
                <a:latin typeface="Arial"/>
              </a:rPr>
              <a:t>100% AI coding</a:t>
            </a:r>
          </a:p>
          <a:p>
            <a:pPr algn="l">
              <a:spcBef>
                <a:spcPts val="0"/>
              </a:spcBef>
              <a:spcAft>
                <a:spcPts val="220"/>
              </a:spcAft>
            </a:pPr>
            <a:r>
              <a:rPr sz="1050" b="0">
                <a:solidFill>
                  <a:srgbClr val="233045"/>
                </a:solidFill>
                <a:latin typeface="Arial"/>
              </a:rPr>
              <a:t>Implementation</a:t>
            </a:r>
          </a:p>
        </p:txBody>
      </p:sp>
      <p:sp>
        <p:nvSpPr>
          <p:cNvPr id="8" name="Rectangle 7"/>
          <p:cNvSpPr/>
          <p:nvPr/>
        </p:nvSpPr>
        <p:spPr>
          <a:xfrm>
            <a:off x="4050791" y="2304288"/>
            <a:ext cx="3383280" cy="107899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500"/>
              </a:spcAft>
              <a:defRPr sz="950" b="1">
                <a:solidFill>
                  <a:srgbClr val="2D63DA"/>
                </a:solidFill>
                <a:latin typeface="Arial"/>
              </a:defRPr>
            </a:pPr>
            <a:r>
              <a:rPr sz="720" b="1">
                <a:solidFill>
                  <a:srgbClr val="1857CA"/>
                </a:solidFill>
                <a:latin typeface="Arial"/>
              </a:rPr>
              <a:t>REVIEW</a:t>
            </a:r>
          </a:p>
          <a:p>
            <a:pPr algn="l">
              <a:spcBef>
                <a:spcPts val="0"/>
              </a:spcBef>
              <a:spcAft>
                <a:spcPts val="300"/>
              </a:spcAft>
            </a:pPr>
            <a:r>
              <a:rPr sz="1500" b="1">
                <a:solidFill>
                  <a:srgbClr val="091F4E"/>
                </a:solidFill>
                <a:latin typeface="Arial"/>
              </a:rPr>
              <a:t>Review paths</a:t>
            </a:r>
          </a:p>
          <a:p>
            <a:pPr algn="l">
              <a:spcBef>
                <a:spcPts val="0"/>
              </a:spcBef>
              <a:spcAft>
                <a:spcPts val="220"/>
              </a:spcAft>
            </a:pPr>
            <a:r>
              <a:rPr sz="1050" b="0">
                <a:solidFill>
                  <a:srgbClr val="233045"/>
                </a:solidFill>
                <a:latin typeface="Arial"/>
              </a:rPr>
              <a:t>30% full human / 70% AI + human signoff</a:t>
            </a:r>
          </a:p>
        </p:txBody>
      </p:sp>
      <p:sp>
        <p:nvSpPr>
          <p:cNvPr id="9" name="Rectangle 8"/>
          <p:cNvSpPr/>
          <p:nvPr/>
        </p:nvSpPr>
        <p:spPr>
          <a:xfrm>
            <a:off x="457200" y="3611880"/>
            <a:ext cx="3383280" cy="175564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TESTABLE BOUNDARIES</a:t>
            </a:r>
          </a:p>
          <a:p>
            <a:pPr algn="l">
              <a:spcBef>
                <a:spcPts val="0"/>
              </a:spcBef>
              <a:spcAft>
                <a:spcPts val="500"/>
              </a:spcAft>
            </a:pPr>
            <a:r>
              <a:rPr sz="1550" b="1">
                <a:solidFill>
                  <a:srgbClr val="091F4E"/>
                </a:solidFill>
                <a:latin typeface="Arial"/>
              </a:rPr>
              <a:t>Common acceptance criteria</a:t>
            </a:r>
          </a:p>
          <a:p>
            <a:pPr algn="l">
              <a:spcBef>
                <a:spcPts val="0"/>
              </a:spcBef>
              <a:spcAft>
                <a:spcPts val="220"/>
              </a:spcAft>
            </a:pPr>
            <a:r>
              <a:rPr sz="1110" b="0">
                <a:solidFill>
                  <a:srgbClr val="233045"/>
                </a:solidFill>
                <a:latin typeface="Arial"/>
              </a:rPr>
              <a:t>Compatible candidate subgraphs face the same executable contract and state tests.</a:t>
            </a:r>
          </a:p>
        </p:txBody>
      </p:sp>
      <p:sp>
        <p:nvSpPr>
          <p:cNvPr id="10" name="Rectangle 9"/>
          <p:cNvSpPr/>
          <p:nvPr/>
        </p:nvSpPr>
        <p:spPr>
          <a:xfrm>
            <a:off x="4050791" y="3611880"/>
            <a:ext cx="3383280" cy="175564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RELIABLE REVIEW EVIDENCE</a:t>
            </a:r>
          </a:p>
          <a:p>
            <a:pPr algn="l">
              <a:spcBef>
                <a:spcPts val="0"/>
              </a:spcBef>
              <a:spcAft>
                <a:spcPts val="500"/>
              </a:spcAft>
            </a:pPr>
            <a:r>
              <a:rPr sz="1550" b="1">
                <a:solidFill>
                  <a:srgbClr val="091F4E"/>
                </a:solidFill>
                <a:latin typeface="Arial"/>
              </a:rPr>
              <a:t>Independent verification</a:t>
            </a:r>
          </a:p>
          <a:p>
            <a:pPr algn="l">
              <a:spcBef>
                <a:spcPts val="0"/>
              </a:spcBef>
              <a:spcAft>
                <a:spcPts val="220"/>
              </a:spcAft>
            </a:pPr>
            <a:r>
              <a:rPr sz="1110" b="0">
                <a:solidFill>
                  <a:srgbClr val="233045"/>
                </a:solidFill>
                <a:latin typeface="Arial"/>
              </a:rPr>
              <a:t>AI review and human signoff can use repeatable simulator traces and regression results.</a:t>
            </a:r>
          </a:p>
        </p:txBody>
      </p:sp>
      <p:sp>
        <p:nvSpPr>
          <p:cNvPr id="11" name="Rectangle 10"/>
          <p:cNvSpPr/>
          <p:nvPr/>
        </p:nvSpPr>
        <p:spPr>
          <a:xfrm>
            <a:off x="7644383" y="3611880"/>
            <a:ext cx="3383280" cy="1755648"/>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PARALLEL RESEARCH</a:t>
            </a:r>
          </a:p>
          <a:p>
            <a:pPr algn="l">
              <a:spcBef>
                <a:spcPts val="0"/>
              </a:spcBef>
              <a:spcAft>
                <a:spcPts val="500"/>
              </a:spcAft>
            </a:pPr>
            <a:r>
              <a:rPr sz="1550" b="1">
                <a:solidFill>
                  <a:srgbClr val="091F4E"/>
                </a:solidFill>
                <a:latin typeface="Arial"/>
              </a:rPr>
              <a:t>Less unnecessary overlap</a:t>
            </a:r>
          </a:p>
          <a:p>
            <a:pPr algn="l">
              <a:spcBef>
                <a:spcPts val="0"/>
              </a:spcBef>
              <a:spcAft>
                <a:spcPts val="220"/>
              </a:spcAft>
            </a:pPr>
            <a:r>
              <a:rPr sz="1110" b="0">
                <a:solidFill>
                  <a:srgbClr val="233045"/>
                </a:solidFill>
                <a:latin typeface="Arial"/>
              </a:rPr>
              <a:t>Agents implement multiple variants within clear boundaries and integrate them into the shared workflow.</a:t>
            </a:r>
          </a:p>
        </p:txBody>
      </p:sp>
      <p:sp>
        <p:nvSpPr>
          <p:cNvPr id="12" name="TextBox 11"/>
          <p:cNvSpPr txBox="1"/>
          <p:nvPr/>
        </p:nvSpPr>
        <p:spPr>
          <a:xfrm>
            <a:off x="530352" y="5614416"/>
            <a:ext cx="10972800" cy="457200"/>
          </a:xfrm>
          <a:prstGeom prst="rect">
            <a:avLst/>
          </a:prstGeom>
          <a:noFill/>
        </p:spPr>
        <p:txBody>
          <a:bodyPr wrap="square" anchor="t" lIns="27432" rIns="27432" tIns="27432" bIns="27432">
            <a:spAutoFit/>
          </a:bodyPr>
          <a:lstStyle/>
          <a:p>
            <a:pPr algn="l">
              <a:spcBef>
                <a:spcPts val="0"/>
              </a:spcBef>
              <a:spcAft>
                <a:spcPts val="0"/>
              </a:spcAft>
              <a:defRPr sz="1330" b="1" i="0">
                <a:solidFill>
                  <a:srgbClr val="122D5B"/>
                </a:solidFill>
                <a:latin typeface="Arial"/>
              </a:defRPr>
            </a:pPr>
            <a:r>
              <a:t>Better-defined components and tests help us safely delegate more implementation and review as the whole environment matures.</a:t>
            </a:r>
          </a:p>
        </p:txBody>
      </p:sp>
      <p:sp>
        <p:nvSpPr>
          <p:cNvPr id="13" name="TextBox 12"/>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AI CODING STAGES</a:t>
            </a:r>
          </a:p>
        </p:txBody>
      </p:sp>
      <p:sp>
        <p:nvSpPr>
          <p:cNvPr id="14" name="TextBox 13"/>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07 / AI CODING STAGES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44 / 46</a:t>
            </a:r>
          </a:p>
        </p:txBody>
      </p:sp>
      <p:sp>
        <p:nvSpPr>
          <p:cNvPr id="4" name="TextBox 3"/>
          <p:cNvSpPr txBox="1"/>
          <p:nvPr/>
        </p:nvSpPr>
        <p:spPr>
          <a:xfrm>
            <a:off x="329184" y="512064"/>
            <a:ext cx="11201400" cy="1115568"/>
          </a:xfrm>
          <a:prstGeom prst="rect">
            <a:avLst/>
          </a:prstGeom>
          <a:noFill/>
        </p:spPr>
        <p:txBody>
          <a:bodyPr wrap="square" anchor="t" lIns="27432" rIns="27432" tIns="27432" bIns="27432">
            <a:spAutoFit/>
          </a:bodyPr>
          <a:lstStyle/>
          <a:p>
            <a:pPr algn="l">
              <a:spcBef>
                <a:spcPts val="0"/>
              </a:spcBef>
              <a:spcAft>
                <a:spcPts val="0"/>
              </a:spcAft>
              <a:defRPr sz="2600" b="0" i="0">
                <a:solidFill>
                  <a:srgbClr val="2D63DA"/>
                </a:solidFill>
                <a:latin typeface="Arial"/>
              </a:defRPr>
            </a:pPr>
            <a:r>
              <a:t>Stage 4 — Fully agentic coding: better controlled experiments and reusable learning</a:t>
            </a:r>
          </a:p>
        </p:txBody>
      </p:sp>
      <p:sp>
        <p:nvSpPr>
          <p:cNvPr id="5" name="Rectangle 4"/>
          <p:cNvSpPr/>
          <p:nvPr/>
        </p:nvSpPr>
        <p:spPr>
          <a:xfrm>
            <a:off x="329184" y="1737360"/>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38528"/>
            <a:ext cx="4572000" cy="201168"/>
          </a:xfrm>
          <a:prstGeom prst="rect">
            <a:avLst/>
          </a:prstGeom>
          <a:noFill/>
        </p:spPr>
        <p:txBody>
          <a:bodyPr wrap="square" anchor="t" lIns="27432" rIns="27432" tIns="27432" bIns="27432">
            <a:spAutoFit/>
          </a:bodyPr>
          <a:lstStyle/>
          <a:p>
            <a:pPr algn="l">
              <a:spcBef>
                <a:spcPts val="0"/>
              </a:spcBef>
              <a:spcAft>
                <a:spcPts val="0"/>
              </a:spcAft>
              <a:defRPr sz="950" b="1" i="0">
                <a:solidFill>
                  <a:srgbClr val="2D63DA"/>
                </a:solidFill>
                <a:latin typeface="Arial"/>
              </a:defRPr>
            </a:pPr>
            <a:r>
              <a:t>ONE EXAMPLE · COMPARE THREE BUSINESS IDEAS</a:t>
            </a:r>
          </a:p>
        </p:txBody>
      </p:sp>
      <p:cxnSp>
        <p:nvCxnSpPr>
          <p:cNvPr id="7" name="Connector 6"/>
          <p:cNvCxnSpPr/>
          <p:nvPr/>
        </p:nvCxnSpPr>
        <p:spPr>
          <a:xfrm flipV="1">
            <a:off x="2788920" y="2615184"/>
            <a:ext cx="960119" cy="836676"/>
          </a:xfrm>
          <a:prstGeom prst="line">
            <a:avLst/>
          </a:prstGeom>
          <a:ln w="15875">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75120" y="2615184"/>
            <a:ext cx="2697480" cy="836676"/>
          </a:xfrm>
          <a:prstGeom prst="line">
            <a:avLst/>
          </a:prstGeom>
          <a:ln w="15875">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788920" y="3410712"/>
            <a:ext cx="960119" cy="41148"/>
          </a:xfrm>
          <a:prstGeom prst="line">
            <a:avLst/>
          </a:prstGeom>
          <a:ln w="15875">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675120" y="3410712"/>
            <a:ext cx="2697480" cy="41148"/>
          </a:xfrm>
          <a:prstGeom prst="line">
            <a:avLst/>
          </a:prstGeom>
          <a:ln w="15875">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788920" y="3451860"/>
            <a:ext cx="960119" cy="754380"/>
          </a:xfrm>
          <a:prstGeom prst="line">
            <a:avLst/>
          </a:prstGeom>
          <a:ln w="15875">
            <a:solidFill>
              <a:srgbClr val="447EE2"/>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675120" y="3451860"/>
            <a:ext cx="2697480" cy="754380"/>
          </a:xfrm>
          <a:prstGeom prst="line">
            <a:avLst/>
          </a:prstGeom>
          <a:ln w="15875">
            <a:solidFill>
              <a:srgbClr val="447EE2"/>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02920" y="3017520"/>
            <a:ext cx="2286000" cy="86868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200" b="1">
                <a:solidFill>
                  <a:srgbClr val="122D5B"/>
                </a:solidFill>
                <a:latin typeface="Arial"/>
              </a:defRPr>
            </a:pPr>
            <a:r>
              <a:rPr sz="1300" b="1">
                <a:solidFill>
                  <a:srgbClr val="091F4E"/>
                </a:solidFill>
                <a:latin typeface="Arial"/>
              </a:rPr>
              <a:t>Common research setup</a:t>
            </a:r>
          </a:p>
          <a:p>
            <a:pPr algn="l">
              <a:spcBef>
                <a:spcPts val="0"/>
              </a:spcBef>
              <a:spcAft>
                <a:spcPts val="200"/>
              </a:spcAft>
            </a:pPr>
            <a:r>
              <a:rPr sz="960" b="0">
                <a:solidFill>
                  <a:srgbClr val="233045"/>
                </a:solidFill>
                <a:latin typeface="Arial"/>
              </a:rPr>
              <a:t>Events, timing, costs and simulator</a:t>
            </a:r>
          </a:p>
        </p:txBody>
      </p:sp>
      <p:sp>
        <p:nvSpPr>
          <p:cNvPr id="14" name="Rectangle 13"/>
          <p:cNvSpPr/>
          <p:nvPr/>
        </p:nvSpPr>
        <p:spPr>
          <a:xfrm>
            <a:off x="3749039" y="2258568"/>
            <a:ext cx="2926080" cy="713232"/>
          </a:xfrm>
          <a:prstGeom prst="rect">
            <a:avLst/>
          </a:prstGeom>
          <a:solidFill>
            <a:srgbClr val="E5EFFD"/>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160" b="1">
                <a:solidFill>
                  <a:srgbClr val="122D5B"/>
                </a:solidFill>
                <a:latin typeface="Arial"/>
              </a:defRPr>
            </a:pPr>
            <a:r>
              <a:rPr sz="1350" b="1">
                <a:solidFill>
                  <a:srgbClr val="091F4E"/>
                </a:solidFill>
                <a:latin typeface="Arial"/>
              </a:rPr>
              <a:t>Fixed weights</a:t>
            </a:r>
          </a:p>
          <a:p>
            <a:pPr algn="l">
              <a:spcBef>
                <a:spcPts val="0"/>
              </a:spcBef>
              <a:spcAft>
                <a:spcPts val="200"/>
              </a:spcAft>
            </a:pPr>
            <a:r>
              <a:rPr sz="1000" b="0">
                <a:solidFill>
                  <a:srgbClr val="233045"/>
                </a:solidFill>
                <a:latin typeface="Arial"/>
              </a:rPr>
              <a:t>Swappable business logic</a:t>
            </a:r>
          </a:p>
        </p:txBody>
      </p:sp>
      <p:sp>
        <p:nvSpPr>
          <p:cNvPr id="15" name="Rectangle 14"/>
          <p:cNvSpPr/>
          <p:nvPr/>
        </p:nvSpPr>
        <p:spPr>
          <a:xfrm>
            <a:off x="3749039" y="3054096"/>
            <a:ext cx="2926080" cy="713232"/>
          </a:xfrm>
          <a:prstGeom prst="rect">
            <a:avLst/>
          </a:prstGeom>
          <a:solidFill>
            <a:srgbClr val="E5EFFD"/>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160" b="1">
                <a:solidFill>
                  <a:srgbClr val="122D5B"/>
                </a:solidFill>
                <a:latin typeface="Arial"/>
              </a:defRPr>
            </a:pPr>
            <a:r>
              <a:rPr sz="1350" b="1">
                <a:solidFill>
                  <a:srgbClr val="091F4E"/>
                </a:solidFill>
                <a:latin typeface="Arial"/>
              </a:rPr>
              <a:t>Liquidity-aware</a:t>
            </a:r>
          </a:p>
          <a:p>
            <a:pPr algn="l">
              <a:spcBef>
                <a:spcPts val="0"/>
              </a:spcBef>
              <a:spcAft>
                <a:spcPts val="200"/>
              </a:spcAft>
            </a:pPr>
            <a:r>
              <a:rPr sz="1000" b="0">
                <a:solidFill>
                  <a:srgbClr val="233045"/>
                </a:solidFill>
                <a:latin typeface="Arial"/>
              </a:rPr>
              <a:t>Swappable business logic</a:t>
            </a:r>
          </a:p>
        </p:txBody>
      </p:sp>
      <p:sp>
        <p:nvSpPr>
          <p:cNvPr id="16" name="Rectangle 15"/>
          <p:cNvSpPr/>
          <p:nvPr/>
        </p:nvSpPr>
        <p:spPr>
          <a:xfrm>
            <a:off x="3749039" y="3849624"/>
            <a:ext cx="2926080" cy="713232"/>
          </a:xfrm>
          <a:prstGeom prst="rect">
            <a:avLst/>
          </a:prstGeom>
          <a:solidFill>
            <a:srgbClr val="E5EFFD"/>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160" b="1">
                <a:solidFill>
                  <a:srgbClr val="122D5B"/>
                </a:solidFill>
                <a:latin typeface="Arial"/>
              </a:defRPr>
            </a:pPr>
            <a:r>
              <a:rPr sz="1350" b="1">
                <a:solidFill>
                  <a:srgbClr val="091F4E"/>
                </a:solidFill>
                <a:latin typeface="Arial"/>
              </a:rPr>
              <a:t>Regime-based</a:t>
            </a:r>
          </a:p>
          <a:p>
            <a:pPr algn="l">
              <a:spcBef>
                <a:spcPts val="0"/>
              </a:spcBef>
              <a:spcAft>
                <a:spcPts val="200"/>
              </a:spcAft>
            </a:pPr>
            <a:r>
              <a:rPr sz="1000" b="0">
                <a:solidFill>
                  <a:srgbClr val="233045"/>
                </a:solidFill>
                <a:latin typeface="Arial"/>
              </a:rPr>
              <a:t>Swappable business logic</a:t>
            </a:r>
          </a:p>
        </p:txBody>
      </p:sp>
      <p:sp>
        <p:nvSpPr>
          <p:cNvPr id="17" name="Rectangle 16"/>
          <p:cNvSpPr/>
          <p:nvPr/>
        </p:nvSpPr>
        <p:spPr>
          <a:xfrm>
            <a:off x="9372600" y="3017520"/>
            <a:ext cx="2286000" cy="868680"/>
          </a:xfrm>
          <a:prstGeom prst="rect">
            <a:avLst/>
          </a:prstGeom>
          <a:solidFill>
            <a:srgbClr val="EFF6FC"/>
          </a:solidFill>
          <a:ln w="12700">
            <a:solidFill>
              <a:srgbClr val="C2D7EB"/>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1120" b="1">
                <a:solidFill>
                  <a:srgbClr val="122D5B"/>
                </a:solidFill>
                <a:latin typeface="Arial"/>
              </a:defRPr>
            </a:pPr>
            <a:r>
              <a:rPr sz="1300" b="1">
                <a:solidFill>
                  <a:srgbClr val="091F4E"/>
                </a:solidFill>
                <a:latin typeface="Arial"/>
              </a:rPr>
              <a:t>Repeatable evidence</a:t>
            </a:r>
          </a:p>
          <a:p>
            <a:pPr algn="l">
              <a:spcBef>
                <a:spcPts val="0"/>
              </a:spcBef>
              <a:spcAft>
                <a:spcPts val="200"/>
              </a:spcAft>
            </a:pPr>
            <a:r>
              <a:rPr sz="960" b="0">
                <a:solidFill>
                  <a:srgbClr val="233045"/>
                </a:solidFill>
                <a:latin typeface="Arial"/>
              </a:rPr>
              <a:t>Contract tests, replay and evaluation</a:t>
            </a:r>
          </a:p>
        </p:txBody>
      </p:sp>
      <p:sp>
        <p:nvSpPr>
          <p:cNvPr id="18" name="Rectangle 17"/>
          <p:cNvSpPr/>
          <p:nvPr/>
        </p:nvSpPr>
        <p:spPr>
          <a:xfrm>
            <a:off x="457200" y="4754880"/>
            <a:ext cx="3310128" cy="107899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500"/>
              </a:spcAft>
              <a:defRPr sz="950" b="1">
                <a:solidFill>
                  <a:srgbClr val="2D63DA"/>
                </a:solidFill>
                <a:latin typeface="Arial"/>
              </a:defRPr>
            </a:pPr>
            <a:r>
              <a:rPr sz="720" b="1">
                <a:solidFill>
                  <a:srgbClr val="1857CA"/>
                </a:solidFill>
                <a:latin typeface="Arial"/>
              </a:rPr>
              <a:t>EXPERIMENT DESIGN</a:t>
            </a:r>
          </a:p>
          <a:p>
            <a:pPr algn="l">
              <a:spcBef>
                <a:spcPts val="0"/>
              </a:spcBef>
              <a:spcAft>
                <a:spcPts val="300"/>
              </a:spcAft>
            </a:pPr>
            <a:r>
              <a:rPr sz="1500" b="1">
                <a:solidFill>
                  <a:srgbClr val="091F4E"/>
                </a:solidFill>
                <a:latin typeface="Arial"/>
              </a:rPr>
              <a:t>Know what varies</a:t>
            </a:r>
          </a:p>
          <a:p>
            <a:pPr algn="l">
              <a:spcBef>
                <a:spcPts val="0"/>
              </a:spcBef>
              <a:spcAft>
                <a:spcPts val="220"/>
              </a:spcAft>
            </a:pPr>
            <a:r>
              <a:rPr sz="1050" b="0">
                <a:solidFill>
                  <a:srgbClr val="233045"/>
                </a:solidFill>
                <a:latin typeface="Arial"/>
              </a:rPr>
              <a:t>Make the chosen business-logic difference explicit; keep relevant comparisons aligned.</a:t>
            </a:r>
          </a:p>
        </p:txBody>
      </p:sp>
      <p:sp>
        <p:nvSpPr>
          <p:cNvPr id="19" name="Rectangle 18"/>
          <p:cNvSpPr/>
          <p:nvPr/>
        </p:nvSpPr>
        <p:spPr>
          <a:xfrm>
            <a:off x="4224528" y="4754880"/>
            <a:ext cx="3310128" cy="107899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500"/>
              </a:spcAft>
              <a:defRPr sz="950" b="1">
                <a:solidFill>
                  <a:srgbClr val="2D63DA"/>
                </a:solidFill>
                <a:latin typeface="Arial"/>
              </a:defRPr>
            </a:pPr>
            <a:r>
              <a:rPr sz="720" b="1">
                <a:solidFill>
                  <a:srgbClr val="1857CA"/>
                </a:solidFill>
                <a:latin typeface="Arial"/>
              </a:rPr>
              <a:t>TESTING AT SCALE</a:t>
            </a:r>
          </a:p>
          <a:p>
            <a:pPr algn="l">
              <a:spcBef>
                <a:spcPts val="0"/>
              </a:spcBef>
              <a:spcAft>
                <a:spcPts val="300"/>
              </a:spcAft>
            </a:pPr>
            <a:r>
              <a:rPr sz="1500" b="1">
                <a:solidFill>
                  <a:srgbClr val="091F4E"/>
                </a:solidFill>
                <a:latin typeface="Arial"/>
              </a:rPr>
              <a:t>Reuse reliable checks</a:t>
            </a:r>
          </a:p>
          <a:p>
            <a:pPr algn="l">
              <a:spcBef>
                <a:spcPts val="0"/>
              </a:spcBef>
              <a:spcAft>
                <a:spcPts val="220"/>
              </a:spcAft>
            </a:pPr>
            <a:r>
              <a:rPr sz="1050" b="0">
                <a:solidFill>
                  <a:srgbClr val="233045"/>
                </a:solidFill>
                <a:latin typeface="Arial"/>
              </a:rPr>
              <a:t>Common contracts and simulator scenarios apply to each compatible candidate.</a:t>
            </a:r>
          </a:p>
        </p:txBody>
      </p:sp>
      <p:sp>
        <p:nvSpPr>
          <p:cNvPr id="20" name="Rectangle 19"/>
          <p:cNvSpPr/>
          <p:nvPr/>
        </p:nvSpPr>
        <p:spPr>
          <a:xfrm>
            <a:off x="7991856" y="4754880"/>
            <a:ext cx="3310128" cy="1078992"/>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500"/>
              </a:spcAft>
              <a:defRPr sz="950" b="1">
                <a:solidFill>
                  <a:srgbClr val="2D63DA"/>
                </a:solidFill>
                <a:latin typeface="Arial"/>
              </a:defRPr>
            </a:pPr>
            <a:r>
              <a:rPr sz="720" b="1">
                <a:solidFill>
                  <a:srgbClr val="1857CA"/>
                </a:solidFill>
                <a:latin typeface="Arial"/>
              </a:rPr>
              <a:t>RESEARCH KNOWLEDGE</a:t>
            </a:r>
          </a:p>
          <a:p>
            <a:pPr algn="l">
              <a:spcBef>
                <a:spcPts val="0"/>
              </a:spcBef>
              <a:spcAft>
                <a:spcPts val="300"/>
              </a:spcAft>
            </a:pPr>
            <a:r>
              <a:rPr sz="1500" b="1">
                <a:solidFill>
                  <a:srgbClr val="091F4E"/>
                </a:solidFill>
                <a:latin typeface="Arial"/>
              </a:rPr>
              <a:t>Results we can build on</a:t>
            </a:r>
          </a:p>
          <a:p>
            <a:pPr algn="l">
              <a:spcBef>
                <a:spcPts val="0"/>
              </a:spcBef>
              <a:spcAft>
                <a:spcPts val="220"/>
              </a:spcAft>
            </a:pPr>
            <a:r>
              <a:rPr sz="1050" b="0">
                <a:solidFill>
                  <a:srgbClr val="233045"/>
                </a:solidFill>
                <a:latin typeface="Arial"/>
              </a:rPr>
              <a:t>Record variants, assumptions and conditions to make findings easier to reproduce and compare.</a:t>
            </a:r>
          </a:p>
        </p:txBody>
      </p:sp>
      <p:sp>
        <p:nvSpPr>
          <p:cNvPr id="21" name="TextBox 20"/>
          <p:cNvSpPr txBox="1"/>
          <p:nvPr/>
        </p:nvSpPr>
        <p:spPr>
          <a:xfrm>
            <a:off x="530352" y="5961888"/>
            <a:ext cx="10972800" cy="402336"/>
          </a:xfrm>
          <a:prstGeom prst="rect">
            <a:avLst/>
          </a:prstGeom>
          <a:noFill/>
        </p:spPr>
        <p:txBody>
          <a:bodyPr wrap="square" anchor="t" lIns="27432" rIns="27432" tIns="27432" bIns="27432">
            <a:spAutoFit/>
          </a:bodyPr>
          <a:lstStyle/>
          <a:p>
            <a:pPr algn="l">
              <a:spcBef>
                <a:spcPts val="0"/>
              </a:spcBef>
              <a:spcAft>
                <a:spcPts val="0"/>
              </a:spcAft>
              <a:defRPr sz="1180" b="1" i="0">
                <a:solidFill>
                  <a:srgbClr val="122D5B"/>
                </a:solidFill>
                <a:latin typeface="Arial"/>
              </a:defRPr>
            </a:pPr>
            <a:r>
              <a:t>Isolation improves comparability and repeatability; robust statistical evaluation remains essential, including protection against repeated-search overfitting.</a:t>
            </a:r>
          </a:p>
        </p:txBody>
      </p:sp>
      <p:sp>
        <p:nvSpPr>
          <p:cNvPr id="22" name="TextBox 21"/>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AI CODING STAGES</a:t>
            </a:r>
          </a:p>
        </p:txBody>
      </p:sp>
      <p:sp>
        <p:nvSpPr>
          <p:cNvPr id="23" name="TextBox 22"/>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CONCLUSION</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45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Designing for change sustains research agility</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55648"/>
            <a:ext cx="2578608" cy="21031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01 · CHANGE</a:t>
            </a:r>
          </a:p>
          <a:p>
            <a:pPr algn="l">
              <a:spcBef>
                <a:spcPts val="0"/>
              </a:spcBef>
              <a:spcAft>
                <a:spcPts val="500"/>
              </a:spcAft>
            </a:pPr>
            <a:r>
              <a:rPr sz="1400" b="1">
                <a:solidFill>
                  <a:srgbClr val="091F4E"/>
                </a:solidFill>
                <a:latin typeface="Arial"/>
              </a:rPr>
              <a:t>Keep changes local</a:t>
            </a:r>
          </a:p>
          <a:p>
            <a:pPr algn="l">
              <a:spcBef>
                <a:spcPts val="0"/>
              </a:spcBef>
              <a:spcAft>
                <a:spcPts val="220"/>
              </a:spcAft>
            </a:pPr>
            <a:r>
              <a:rPr sz="1000" b="0">
                <a:solidFill>
                  <a:srgbClr val="233045"/>
                </a:solidFill>
                <a:latin typeface="Arial"/>
              </a:rPr>
              <a:t>Place likely-to-change technical components and business workflows behind dependable boundaries. Make state ownership and external effects explicit.</a:t>
            </a:r>
          </a:p>
        </p:txBody>
      </p:sp>
      <p:sp>
        <p:nvSpPr>
          <p:cNvPr id="7" name="Rectangle 6"/>
          <p:cNvSpPr/>
          <p:nvPr/>
        </p:nvSpPr>
        <p:spPr>
          <a:xfrm>
            <a:off x="3310128" y="1755648"/>
            <a:ext cx="2578608" cy="21031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02 · DEFINITIONS</a:t>
            </a:r>
          </a:p>
          <a:p>
            <a:pPr algn="l">
              <a:spcBef>
                <a:spcPts val="0"/>
              </a:spcBef>
              <a:spcAft>
                <a:spcPts val="500"/>
              </a:spcAft>
            </a:pPr>
            <a:r>
              <a:rPr sz="1400" b="1">
                <a:solidFill>
                  <a:srgbClr val="091F4E"/>
                </a:solidFill>
                <a:latin typeface="Arial"/>
              </a:rPr>
              <a:t>Represent the business accurately</a:t>
            </a:r>
          </a:p>
          <a:p>
            <a:pPr algn="l">
              <a:spcBef>
                <a:spcPts val="0"/>
              </a:spcBef>
              <a:spcAft>
                <a:spcPts val="220"/>
              </a:spcAft>
            </a:pPr>
            <a:r>
              <a:rPr sz="1000" b="0">
                <a:solidFill>
                  <a:srgbClr val="233045"/>
                </a:solidFill>
                <a:latin typeface="Arial"/>
              </a:rPr>
              <a:t>Classes, instances and operations should match the underlying business definitions, including when an operation applies and what it changes.</a:t>
            </a:r>
          </a:p>
        </p:txBody>
      </p:sp>
      <p:sp>
        <p:nvSpPr>
          <p:cNvPr id="8" name="Rectangle 7"/>
          <p:cNvSpPr/>
          <p:nvPr/>
        </p:nvSpPr>
        <p:spPr>
          <a:xfrm>
            <a:off x="6163056" y="1755648"/>
            <a:ext cx="2578608" cy="21031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03 · TESTING</a:t>
            </a:r>
          </a:p>
          <a:p>
            <a:pPr algn="l">
              <a:spcBef>
                <a:spcPts val="0"/>
              </a:spcBef>
              <a:spcAft>
                <a:spcPts val="500"/>
              </a:spcAft>
            </a:pPr>
            <a:r>
              <a:rPr sz="1400" b="1">
                <a:solidFill>
                  <a:srgbClr val="091F4E"/>
                </a:solidFill>
                <a:latin typeface="Arial"/>
              </a:rPr>
              <a:t>Design testing alongside development</a:t>
            </a:r>
          </a:p>
          <a:p>
            <a:pPr algn="l">
              <a:spcBef>
                <a:spcPts val="0"/>
              </a:spcBef>
              <a:spcAft>
                <a:spcPts val="220"/>
              </a:spcAft>
            </a:pPr>
            <a:r>
              <a:rPr sz="1000" b="0">
                <a:solidFill>
                  <a:srgbClr val="233045"/>
                </a:solidFill>
                <a:latin typeface="Arial"/>
              </a:rPr>
              <a:t>Use reusable boundary tests, tests for intended differences and production-faithful event replay to verify the assembled workflow.</a:t>
            </a:r>
          </a:p>
        </p:txBody>
      </p:sp>
      <p:sp>
        <p:nvSpPr>
          <p:cNvPr id="9" name="Rectangle 8"/>
          <p:cNvSpPr/>
          <p:nvPr/>
        </p:nvSpPr>
        <p:spPr>
          <a:xfrm>
            <a:off x="9015984" y="1755648"/>
            <a:ext cx="2578608" cy="210312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r">
              <a:spcBef>
                <a:spcPts val="0"/>
              </a:spcBef>
              <a:spcAft>
                <a:spcPts val="800"/>
              </a:spcAft>
              <a:defRPr sz="950" b="1">
                <a:solidFill>
                  <a:srgbClr val="2D63DA"/>
                </a:solidFill>
                <a:latin typeface="Arial"/>
              </a:defRPr>
            </a:pPr>
            <a:r>
              <a:rPr sz="750" b="1">
                <a:solidFill>
                  <a:srgbClr val="1857CA"/>
                </a:solidFill>
                <a:latin typeface="Arial"/>
              </a:rPr>
              <a:t>04 · JUDGEMENT</a:t>
            </a:r>
          </a:p>
          <a:p>
            <a:pPr algn="l">
              <a:spcBef>
                <a:spcPts val="0"/>
              </a:spcBef>
              <a:spcAft>
                <a:spcPts val="500"/>
              </a:spcAft>
            </a:pPr>
            <a:r>
              <a:rPr sz="1400" b="1">
                <a:solidFill>
                  <a:srgbClr val="091F4E"/>
                </a:solidFill>
                <a:latin typeface="Arial"/>
              </a:rPr>
              <a:t>Improve the design as we deliver</a:t>
            </a:r>
          </a:p>
          <a:p>
            <a:pPr algn="l">
              <a:spcBef>
                <a:spcPts val="0"/>
              </a:spcBef>
              <a:spcAft>
                <a:spcPts val="220"/>
              </a:spcAft>
            </a:pPr>
            <a:r>
              <a:rPr sz="1000" b="0">
                <a:solidFill>
                  <a:srgbClr val="233045"/>
                </a:solidFill>
                <a:latin typeface="Arial"/>
              </a:rPr>
              <a:t>Invest where changes recur. Resolve genuine ambiguity at its source, while keeping rare, manageable exceptions simple.</a:t>
            </a:r>
          </a:p>
        </p:txBody>
      </p:sp>
      <p:sp>
        <p:nvSpPr>
          <p:cNvPr id="10" name="Rectangle 9"/>
          <p:cNvSpPr/>
          <p:nvPr/>
        </p:nvSpPr>
        <p:spPr>
          <a:xfrm>
            <a:off x="457200" y="4233672"/>
            <a:ext cx="11137392" cy="987552"/>
          </a:xfrm>
          <a:prstGeom prst="rect">
            <a:avLst/>
          </a:prstGeom>
          <a:solidFill>
            <a:srgbClr val="122D5B"/>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defRPr sz="1700" b="1">
                <a:solidFill>
                  <a:srgbClr val="FFFFFF"/>
                </a:solidFill>
                <a:latin typeface="Arial"/>
              </a:defRPr>
            </a:pPr>
            <a:r>
              <a:t>Faster, risk-controlled experimentation, more dependable learning and a clearer route to production—whether people or AI implement the changes.</a:t>
            </a:r>
          </a:p>
        </p:txBody>
      </p:sp>
      <p:sp>
        <p:nvSpPr>
          <p:cNvPr id="11" name="TextBox 10"/>
          <p:cNvSpPr txBox="1"/>
          <p:nvPr/>
        </p:nvSpPr>
        <p:spPr>
          <a:xfrm>
            <a:off x="9326880" y="5312664"/>
            <a:ext cx="2286000" cy="201168"/>
          </a:xfrm>
          <a:prstGeom prst="rect">
            <a:avLst/>
          </a:prstGeom>
          <a:noFill/>
        </p:spPr>
        <p:txBody>
          <a:bodyPr wrap="square" anchor="t" lIns="27432" rIns="27432" tIns="27432" bIns="27432">
            <a:spAutoFit/>
          </a:bodyPr>
          <a:lstStyle/>
          <a:p>
            <a:pPr algn="r">
              <a:spcBef>
                <a:spcPts val="0"/>
              </a:spcBef>
              <a:spcAft>
                <a:spcPts val="0"/>
              </a:spcAft>
              <a:defRPr sz="900" b="1" i="0">
                <a:solidFill>
                  <a:srgbClr val="6F757C"/>
                </a:solidFill>
                <a:latin typeface="Arial"/>
              </a:defRPr>
            </a:pPr>
            <a:r>
              <a:t>The business value</a:t>
            </a:r>
          </a:p>
        </p:txBody>
      </p:sp>
      <p:sp>
        <p:nvSpPr>
          <p:cNvPr id="12" name="TextBox 11"/>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CONCLUSION</a:t>
            </a:r>
          </a:p>
        </p:txBody>
      </p:sp>
      <p:sp>
        <p:nvSpPr>
          <p:cNvPr id="13" name="TextBox 12"/>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9184" y="164592"/>
            <a:ext cx="9052560" cy="237744"/>
          </a:xfrm>
          <a:prstGeom prst="rect">
            <a:avLst/>
          </a:prstGeom>
          <a:noFill/>
        </p:spPr>
        <p:txBody>
          <a:bodyPr wrap="square" anchor="t" lIns="27432" rIns="27432" tIns="27432" bIns="27432">
            <a:spAutoFit/>
          </a:bodyPr>
          <a:lstStyle/>
          <a:p>
            <a:pPr algn="l">
              <a:spcBef>
                <a:spcPts val="0"/>
              </a:spcBef>
              <a:spcAft>
                <a:spcPts val="0"/>
              </a:spcAft>
              <a:defRPr sz="950" b="1" i="0">
                <a:solidFill>
                  <a:srgbClr val="122D5B"/>
                </a:solidFill>
                <a:latin typeface="Arial"/>
              </a:defRPr>
            </a:pPr>
            <a:r>
              <a:t>REFERENCES</a:t>
            </a:r>
          </a:p>
        </p:txBody>
      </p:sp>
      <p:sp>
        <p:nvSpPr>
          <p:cNvPr id="3" name="TextBox 2"/>
          <p:cNvSpPr txBox="1"/>
          <p:nvPr/>
        </p:nvSpPr>
        <p:spPr>
          <a:xfrm>
            <a:off x="10927080" y="164592"/>
            <a:ext cx="868680" cy="219456"/>
          </a:xfrm>
          <a:prstGeom prst="rect">
            <a:avLst/>
          </a:prstGeom>
          <a:noFill/>
        </p:spPr>
        <p:txBody>
          <a:bodyPr wrap="square" anchor="t" lIns="27432" rIns="27432" tIns="27432" bIns="27432">
            <a:spAutoFit/>
          </a:bodyPr>
          <a:lstStyle/>
          <a:p>
            <a:pPr algn="r">
              <a:spcBef>
                <a:spcPts val="0"/>
              </a:spcBef>
              <a:spcAft>
                <a:spcPts val="0"/>
              </a:spcAft>
              <a:defRPr sz="950" b="0" i="0">
                <a:solidFill>
                  <a:srgbClr val="6F757C"/>
                </a:solidFill>
                <a:latin typeface="Arial"/>
              </a:defRPr>
            </a:pPr>
            <a:r>
              <a:t>46 / 46</a:t>
            </a:r>
          </a:p>
        </p:txBody>
      </p:sp>
      <p:sp>
        <p:nvSpPr>
          <p:cNvPr id="4" name="TextBox 3"/>
          <p:cNvSpPr txBox="1"/>
          <p:nvPr/>
        </p:nvSpPr>
        <p:spPr>
          <a:xfrm>
            <a:off x="329184" y="512064"/>
            <a:ext cx="11201400" cy="621792"/>
          </a:xfrm>
          <a:prstGeom prst="rect">
            <a:avLst/>
          </a:prstGeom>
          <a:noFill/>
        </p:spPr>
        <p:txBody>
          <a:bodyPr wrap="square" anchor="t" lIns="27432" rIns="27432" tIns="27432" bIns="27432">
            <a:spAutoFit/>
          </a:bodyPr>
          <a:lstStyle/>
          <a:p>
            <a:pPr algn="l">
              <a:spcBef>
                <a:spcPts val="0"/>
              </a:spcBef>
              <a:spcAft>
                <a:spcPts val="0"/>
              </a:spcAft>
              <a:defRPr sz="2950" b="0" i="0">
                <a:solidFill>
                  <a:srgbClr val="2D63DA"/>
                </a:solidFill>
                <a:latin typeface="Arial"/>
              </a:defRPr>
            </a:pPr>
            <a:r>
              <a:t>Primary sources and further reading</a:t>
            </a:r>
          </a:p>
        </p:txBody>
      </p:sp>
      <p:sp>
        <p:nvSpPr>
          <p:cNvPr id="5" name="Rectangle 4"/>
          <p:cNvSpPr/>
          <p:nvPr/>
        </p:nvSpPr>
        <p:spPr>
          <a:xfrm>
            <a:off x="329184" y="1243584"/>
            <a:ext cx="11475720" cy="16459"/>
          </a:xfrm>
          <a:prstGeom prst="rect">
            <a:avLst/>
          </a:prstGeom>
          <a:solidFill>
            <a:srgbClr val="E2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764792"/>
            <a:ext cx="5257800" cy="91440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950" b="1">
                <a:solidFill>
                  <a:srgbClr val="2D63DA"/>
                </a:solidFill>
                <a:latin typeface="Arial"/>
              </a:defRPr>
            </a:pPr>
            <a:r>
              <a:rPr sz="1350" b="1">
                <a:solidFill>
                  <a:srgbClr val="091F4E"/>
                </a:solidFill>
                <a:latin typeface="Arial"/>
              </a:rPr>
              <a:t>Parnas · Information Hiding (1972)</a:t>
            </a:r>
          </a:p>
          <a:p>
            <a:pPr algn="l">
              <a:spcBef>
                <a:spcPts val="0"/>
              </a:spcBef>
              <a:spcAft>
                <a:spcPts val="200"/>
              </a:spcAft>
            </a:pPr>
            <a:r>
              <a:rPr sz="1000" b="0">
                <a:solidFill>
                  <a:srgbClr val="233045"/>
                </a:solidFill>
                <a:latin typeface="Arial"/>
              </a:rPr>
              <a:t>Modules organised around decisions likely to change</a:t>
            </a:r>
          </a:p>
        </p:txBody>
      </p:sp>
      <p:sp>
        <p:nvSpPr>
          <p:cNvPr id="7" name="Rectangle 6"/>
          <p:cNvSpPr/>
          <p:nvPr/>
        </p:nvSpPr>
        <p:spPr>
          <a:xfrm>
            <a:off x="502920" y="2862072"/>
            <a:ext cx="5257800" cy="91440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950" b="1">
                <a:solidFill>
                  <a:srgbClr val="2D63DA"/>
                </a:solidFill>
                <a:latin typeface="Arial"/>
              </a:defRPr>
            </a:pPr>
            <a:r>
              <a:rPr sz="1350" b="1">
                <a:solidFill>
                  <a:srgbClr val="091F4E"/>
                </a:solidFill>
                <a:latin typeface="Arial"/>
              </a:rPr>
              <a:t>Parnas · Program Families (1976)</a:t>
            </a:r>
          </a:p>
          <a:p>
            <a:pPr algn="l">
              <a:spcBef>
                <a:spcPts val="0"/>
              </a:spcBef>
              <a:spcAft>
                <a:spcPts val="200"/>
              </a:spcAft>
            </a:pPr>
            <a:r>
              <a:rPr sz="1000" b="0">
                <a:solidFill>
                  <a:srgbClr val="233045"/>
                </a:solidFill>
                <a:latin typeface="Arial"/>
              </a:rPr>
              <a:t>Shared structure across related program variants</a:t>
            </a:r>
          </a:p>
        </p:txBody>
      </p:sp>
      <p:sp>
        <p:nvSpPr>
          <p:cNvPr id="8" name="Rectangle 7"/>
          <p:cNvSpPr/>
          <p:nvPr/>
        </p:nvSpPr>
        <p:spPr>
          <a:xfrm>
            <a:off x="502920" y="3959352"/>
            <a:ext cx="5257800" cy="91440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950" b="1">
                <a:solidFill>
                  <a:srgbClr val="2D63DA"/>
                </a:solidFill>
                <a:latin typeface="Arial"/>
              </a:defRPr>
            </a:pPr>
            <a:r>
              <a:rPr sz="1350" b="1">
                <a:solidFill>
                  <a:srgbClr val="091F4E"/>
                </a:solidFill>
                <a:latin typeface="Arial"/>
              </a:rPr>
              <a:t>Fowler · Is Design Dead?</a:t>
            </a:r>
          </a:p>
          <a:p>
            <a:pPr algn="l">
              <a:spcBef>
                <a:spcPts val="0"/>
              </a:spcBef>
              <a:spcAft>
                <a:spcPts val="200"/>
              </a:spcAft>
            </a:pPr>
            <a:r>
              <a:rPr sz="1000" b="0">
                <a:solidFill>
                  <a:srgbClr val="233045"/>
                </a:solidFill>
                <a:latin typeface="Arial"/>
              </a:rPr>
              <a:t>Extreme Programming, refactoring and evolutionary design</a:t>
            </a:r>
          </a:p>
        </p:txBody>
      </p:sp>
      <p:sp>
        <p:nvSpPr>
          <p:cNvPr id="9" name="Rectangle 8"/>
          <p:cNvSpPr/>
          <p:nvPr/>
        </p:nvSpPr>
        <p:spPr>
          <a:xfrm>
            <a:off x="6172200" y="1764792"/>
            <a:ext cx="5257800" cy="91440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950" b="1">
                <a:solidFill>
                  <a:srgbClr val="2D63DA"/>
                </a:solidFill>
                <a:latin typeface="Arial"/>
              </a:defRPr>
            </a:pPr>
            <a:r>
              <a:rPr sz="1350" b="1">
                <a:solidFill>
                  <a:srgbClr val="091F4E"/>
                </a:solidFill>
                <a:latin typeface="Arial"/>
              </a:rPr>
              <a:t>NASA/JPL · Mars Climate Orbiter</a:t>
            </a:r>
          </a:p>
          <a:p>
            <a:pPr algn="l">
              <a:spcBef>
                <a:spcPts val="0"/>
              </a:spcBef>
              <a:spcAft>
                <a:spcPts val="200"/>
              </a:spcAft>
            </a:pPr>
            <a:r>
              <a:rPr sz="1000" b="0">
                <a:solidFill>
                  <a:srgbClr val="233045"/>
                </a:solidFill>
                <a:latin typeface="Arial"/>
              </a:rPr>
              <a:t>Incompatible unit expectations across an interface</a:t>
            </a:r>
          </a:p>
        </p:txBody>
      </p:sp>
      <p:sp>
        <p:nvSpPr>
          <p:cNvPr id="10" name="Rectangle 9"/>
          <p:cNvSpPr/>
          <p:nvPr/>
        </p:nvSpPr>
        <p:spPr>
          <a:xfrm>
            <a:off x="6172200" y="2862072"/>
            <a:ext cx="5257800" cy="91440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950" b="1">
                <a:solidFill>
                  <a:srgbClr val="2D63DA"/>
                </a:solidFill>
                <a:latin typeface="Arial"/>
              </a:defRPr>
            </a:pPr>
            <a:r>
              <a:rPr sz="1350" b="1">
                <a:solidFill>
                  <a:srgbClr val="091F4E"/>
                </a:solidFill>
                <a:latin typeface="Arial"/>
              </a:rPr>
              <a:t>ESA · Ariane 501 Inquiry</a:t>
            </a:r>
          </a:p>
          <a:p>
            <a:pPr algn="l">
              <a:spcBef>
                <a:spcPts val="0"/>
              </a:spcBef>
              <a:spcAft>
                <a:spcPts val="200"/>
              </a:spcAft>
            </a:pPr>
            <a:r>
              <a:rPr sz="1000" b="0">
                <a:solidFill>
                  <a:srgbClr val="233045"/>
                </a:solidFill>
                <a:latin typeface="Arial"/>
              </a:rPr>
              <a:t>Reuse assumptions and representative testing</a:t>
            </a:r>
          </a:p>
        </p:txBody>
      </p:sp>
      <p:sp>
        <p:nvSpPr>
          <p:cNvPr id="11" name="Rectangle 10"/>
          <p:cNvSpPr/>
          <p:nvPr/>
        </p:nvSpPr>
        <p:spPr>
          <a:xfrm>
            <a:off x="6172200" y="3959352"/>
            <a:ext cx="5257800" cy="914400"/>
          </a:xfrm>
          <a:prstGeom prst="rect">
            <a:avLst/>
          </a:prstGeom>
          <a:solidFill>
            <a:srgbClr val="F7F9FB"/>
          </a:solidFill>
          <a:ln w="10160">
            <a:solidFill>
              <a:srgbClr val="D3DDE6"/>
            </a:solidFill>
          </a:ln>
        </p:spPr>
        <p:style>
          <a:lnRef idx="1">
            <a:schemeClr val="accent1"/>
          </a:lnRef>
          <a:fillRef idx="3">
            <a:schemeClr val="accent1"/>
          </a:fillRef>
          <a:effectRef idx="2">
            <a:schemeClr val="accent1"/>
          </a:effectRef>
          <a:fontRef idx="minor">
            <a:schemeClr val="lt1"/>
          </a:fontRef>
        </p:style>
        <p:txBody>
          <a:bodyPr rtlCol="0" anchor="t" wrap="square" lIns="146304" rIns="146304" tIns="54864" bIns="73152"/>
          <a:lstStyle/>
          <a:p>
            <a:pPr algn="l">
              <a:spcBef>
                <a:spcPts val="0"/>
              </a:spcBef>
              <a:spcAft>
                <a:spcPts val="500"/>
              </a:spcAft>
              <a:defRPr sz="950" b="1">
                <a:solidFill>
                  <a:srgbClr val="2D63DA"/>
                </a:solidFill>
                <a:latin typeface="Arial"/>
              </a:defRPr>
            </a:pPr>
            <a:r>
              <a:rPr sz="1350" b="1">
                <a:solidFill>
                  <a:srgbClr val="091F4E"/>
                </a:solidFill>
                <a:latin typeface="Arial"/>
              </a:rPr>
              <a:t>SEC · Knight Capital findings</a:t>
            </a:r>
          </a:p>
          <a:p>
            <a:pPr algn="l">
              <a:spcBef>
                <a:spcPts val="0"/>
              </a:spcBef>
              <a:spcAft>
                <a:spcPts val="200"/>
              </a:spcAft>
            </a:pPr>
            <a:r>
              <a:rPr sz="1000" b="0">
                <a:solidFill>
                  <a:srgbClr val="233045"/>
                </a:solidFill>
                <a:latin typeface="Arial"/>
              </a:rPr>
              <a:t>Legacy behaviour, deployment and trading risk controls</a:t>
            </a:r>
          </a:p>
        </p:txBody>
      </p:sp>
      <p:sp>
        <p:nvSpPr>
          <p:cNvPr id="12" name="TextBox 11"/>
          <p:cNvSpPr txBox="1"/>
          <p:nvPr/>
        </p:nvSpPr>
        <p:spPr>
          <a:xfrm>
            <a:off x="329184" y="6537960"/>
            <a:ext cx="5303520" cy="182880"/>
          </a:xfrm>
          <a:prstGeom prst="rect">
            <a:avLst/>
          </a:prstGeom>
          <a:noFill/>
        </p:spPr>
        <p:txBody>
          <a:bodyPr wrap="square" anchor="t" lIns="27432" rIns="27432" tIns="27432" bIns="27432">
            <a:spAutoFit/>
          </a:bodyPr>
          <a:lstStyle/>
          <a:p>
            <a:pPr algn="l">
              <a:spcBef>
                <a:spcPts val="0"/>
              </a:spcBef>
              <a:spcAft>
                <a:spcPts val="0"/>
              </a:spcAft>
              <a:defRPr sz="869" b="1" i="0">
                <a:solidFill>
                  <a:srgbClr val="6F757C"/>
                </a:solidFill>
                <a:latin typeface="Arial"/>
              </a:defRPr>
            </a:pPr>
            <a:r>
              <a:t>REFERENCES</a:t>
            </a:r>
          </a:p>
        </p:txBody>
      </p:sp>
      <p:sp>
        <p:nvSpPr>
          <p:cNvPr id="13" name="TextBox 12"/>
          <p:cNvSpPr txBox="1"/>
          <p:nvPr/>
        </p:nvSpPr>
        <p:spPr>
          <a:xfrm>
            <a:off x="11384280" y="6537960"/>
            <a:ext cx="411480" cy="182880"/>
          </a:xfrm>
          <a:prstGeom prst="rect">
            <a:avLst/>
          </a:prstGeom>
          <a:noFill/>
        </p:spPr>
        <p:txBody>
          <a:bodyPr wrap="square" anchor="t" lIns="27432" rIns="27432" tIns="27432" bIns="27432">
            <a:spAutoFit/>
          </a:bodyPr>
          <a:lstStyle/>
          <a:p>
            <a:pPr algn="r">
              <a:spcBef>
                <a:spcPts val="0"/>
              </a:spcBef>
              <a:spcAft>
                <a:spcPts val="0"/>
              </a:spcAft>
              <a:defRPr sz="869" b="0" i="0">
                <a:solidFill>
                  <a:srgbClr val="6F757C"/>
                </a:solidFill>
                <a:latin typeface="Arial"/>
              </a:defRPr>
            </a:pPr>
            <a: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